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 rot="21240000">
            <a:off x="8165348" y="1524626"/>
            <a:ext cx="3073400" cy="3352800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sp>
        <p:nvSpPr>
          <p:cNvPr id="4" name="Rectangle 3"/>
          <p:cNvSpPr/>
          <p:nvPr/>
        </p:nvSpPr>
        <p:spPr>
          <a:xfrm rot="540000">
            <a:off x="6624220" y="4488741"/>
            <a:ext cx="1549400" cy="1447800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pic>
        <p:nvPicPr>
          <p:cNvPr id="5" name="Picture 4" descr="s01_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 rot="300000">
            <a:off x="7936005" y="1981635"/>
            <a:ext cx="2819400" cy="3009900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pic>
        <p:nvPicPr>
          <p:cNvPr id="4" name="Picture 3" descr="s02_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2800" y="2273300"/>
            <a:ext cx="5715000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200"/>
              </a:spcAft>
            </a:pPr>
            <a:r>
              <a:rPr sz="1300" b="0">
                <a:solidFill>
                  <a:srgbClr val="1C1430"/>
                </a:solidFill>
                <a:latin typeface="Verdana"/>
              </a:rPr>
              <a:t>I'm a creative and marketing enthusiast with experience in content creation, social media, graphic design, event management, and brand partnerships.</a:t>
            </a:r>
          </a:p>
          <a:p>
            <a:pPr algn="l">
              <a:lnSpc>
                <a:spcPct val="155000"/>
              </a:lnSpc>
              <a:spcAft>
                <a:spcPts val="1200"/>
              </a:spcAft>
            </a:pPr>
            <a:r>
              <a:rPr sz="1300" b="0">
                <a:solidFill>
                  <a:srgbClr val="1C1430"/>
                </a:solidFill>
                <a:latin typeface="Verdana"/>
              </a:rPr>
              <a:t>With a background in agricultural community development, I've had the opportunity to work across different environments—from student organizations and research projects to building a wellness community through Sawala Space.</a:t>
            </a:r>
          </a:p>
          <a:p>
            <a:pPr algn="l">
              <a:lnSpc>
                <a:spcPct val="155000"/>
              </a:lnSpc>
              <a:spcAft>
                <a:spcPts val="1200"/>
              </a:spcAft>
            </a:pPr>
            <a:r>
              <a:rPr sz="1300" b="0">
                <a:solidFill>
                  <a:srgbClr val="1C1430"/>
                </a:solidFill>
                <a:latin typeface="Verdana"/>
              </a:rPr>
              <a:t>I enjoy turning ideas into clear, engaging, and purposeful creative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03_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26300" y="749300"/>
            <a:ext cx="406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700" b="1">
                <a:solidFill>
                  <a:srgbClr val="1C1430"/>
                </a:solidFill>
                <a:latin typeface="Tahoma"/>
              </a:rPr>
              <a:t>Content &amp; Social Media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39000" y="1117600"/>
            <a:ext cx="4064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6B5A82"/>
                </a:solidFill>
                <a:latin typeface="Verdana"/>
              </a:rPr>
              <a:t>Content creation · social media · copywriting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54900" y="2222500"/>
            <a:ext cx="406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700" b="1">
                <a:solidFill>
                  <a:srgbClr val="1C1430"/>
                </a:solidFill>
                <a:latin typeface="Tahoma"/>
              </a:rPr>
              <a:t>Creative &amp; Visual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67600" y="2590800"/>
            <a:ext cx="4064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6B5A82"/>
                </a:solidFill>
                <a:latin typeface="Verdana"/>
              </a:rPr>
              <a:t>Graphic design · visual communication · campaign materials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6300" y="3695700"/>
            <a:ext cx="406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700" b="1">
                <a:solidFill>
                  <a:srgbClr val="1C1430"/>
                </a:solidFill>
                <a:latin typeface="Tahoma"/>
              </a:rPr>
              <a:t>Marketing &amp; Events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9000" y="4064000"/>
            <a:ext cx="4064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6B5A82"/>
                </a:solidFill>
                <a:latin typeface="Verdana"/>
              </a:rPr>
              <a:t>Campaign development · event management · brand partnerships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4900" y="5168900"/>
            <a:ext cx="406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700" b="1">
                <a:solidFill>
                  <a:srgbClr val="1C1430"/>
                </a:solidFill>
                <a:latin typeface="Tahoma"/>
              </a:rPr>
              <a:t>Communication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0" y="5537200"/>
            <a:ext cx="4064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6B5A82"/>
                </a:solidFill>
                <a:latin typeface="Verdana"/>
              </a:rPr>
              <a:t>Community engagement · collaboration · project coordination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04_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60333" y="1680633"/>
            <a:ext cx="635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800" b="1">
                <a:solidFill>
                  <a:srgbClr val="1C1430"/>
                </a:solidFill>
                <a:latin typeface="Tahoma"/>
              </a:rPr>
              <a:t>Sawala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73033" y="1947333"/>
            <a:ext cx="635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6B5A82"/>
                </a:solidFill>
                <a:latin typeface="Verdana"/>
              </a:rPr>
              <a:t>Co-Founder · Creative &amp; Marketing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60333" y="2468033"/>
            <a:ext cx="635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800" b="1">
                <a:solidFill>
                  <a:srgbClr val="1C1430"/>
                </a:solidFill>
                <a:latin typeface="Tahoma"/>
              </a:rPr>
              <a:t>Kementerian Pertanian 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73033" y="2734733"/>
            <a:ext cx="635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6B5A82"/>
                </a:solidFill>
                <a:latin typeface="Verdana"/>
              </a:rPr>
              <a:t>Intern · Administration &amp; Partnership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0333" y="3255433"/>
            <a:ext cx="635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800" b="1">
                <a:solidFill>
                  <a:srgbClr val="1C1430"/>
                </a:solidFill>
                <a:latin typeface="Tahoma"/>
              </a:rPr>
              <a:t>IPB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3033" y="3522133"/>
            <a:ext cx="635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6B5A82"/>
                </a:solidFill>
                <a:latin typeface="Verdana"/>
              </a:rPr>
              <a:t>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0333" y="4042833"/>
            <a:ext cx="635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800" b="1">
                <a:solidFill>
                  <a:srgbClr val="1C1430"/>
                </a:solidFill>
                <a:latin typeface="Tahoma"/>
              </a:rPr>
              <a:t>Nabila Farm Lembang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3033" y="4309533"/>
            <a:ext cx="635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6B5A82"/>
                </a:solidFill>
                <a:latin typeface="Verdana"/>
              </a:rPr>
              <a:t>Intern · Agriculture &amp; Content Creation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0333" y="4830233"/>
            <a:ext cx="6350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800" b="1">
                <a:solidFill>
                  <a:srgbClr val="1C1430"/>
                </a:solidFill>
                <a:latin typeface="Tahoma"/>
              </a:rPr>
              <a:t>Himpunan Mahasiswa PPP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3033" y="5096933"/>
            <a:ext cx="635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6B5A82"/>
                </a:solidFill>
                <a:latin typeface="Verdana"/>
              </a:rPr>
              <a:t>Head of Media &amp; Branding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 rot="180000">
            <a:off x="8000581" y="1765422"/>
            <a:ext cx="3124200" cy="1739900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sp>
        <p:nvSpPr>
          <p:cNvPr id="4" name="Rectangle 3"/>
          <p:cNvSpPr/>
          <p:nvPr/>
        </p:nvSpPr>
        <p:spPr>
          <a:xfrm rot="21360000">
            <a:off x="8002082" y="3979519"/>
            <a:ext cx="1435100" cy="1346200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sp>
        <p:nvSpPr>
          <p:cNvPr id="5" name="Rectangle 4"/>
          <p:cNvSpPr/>
          <p:nvPr/>
        </p:nvSpPr>
        <p:spPr>
          <a:xfrm rot="300000">
            <a:off x="9717325" y="3992323"/>
            <a:ext cx="1435100" cy="1346200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pic>
        <p:nvPicPr>
          <p:cNvPr id="6" name="Picture 5" descr="s05_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75000" y="2959100"/>
            <a:ext cx="44831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250" b="0">
                <a:solidFill>
                  <a:srgbClr val="1C1430"/>
                </a:solidFill>
                <a:latin typeface="Verdana"/>
              </a:rPr>
              <a:t>As a co-founder, I contribute to the creative and marketing side of Sawala Space, from developing event concepts and promotional content to managing brand partnerships and supporting event execution.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 rot="21240000">
            <a:off x="780202" y="2121410"/>
            <a:ext cx="2214033" cy="1532467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sp>
        <p:nvSpPr>
          <p:cNvPr id="4" name="Rectangle 3"/>
          <p:cNvSpPr/>
          <p:nvPr/>
        </p:nvSpPr>
        <p:spPr>
          <a:xfrm rot="240000">
            <a:off x="3710370" y="1879827"/>
            <a:ext cx="2214033" cy="1532467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sp>
        <p:nvSpPr>
          <p:cNvPr id="5" name="Rectangle 4"/>
          <p:cNvSpPr/>
          <p:nvPr/>
        </p:nvSpPr>
        <p:spPr>
          <a:xfrm rot="21420000">
            <a:off x="6676608" y="2074461"/>
            <a:ext cx="2214033" cy="1532467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sp>
        <p:nvSpPr>
          <p:cNvPr id="6" name="Rectangle 5"/>
          <p:cNvSpPr/>
          <p:nvPr/>
        </p:nvSpPr>
        <p:spPr>
          <a:xfrm rot="420000">
            <a:off x="9526350" y="1909928"/>
            <a:ext cx="2214033" cy="1532467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sp>
        <p:nvSpPr>
          <p:cNvPr id="7" name="Rectangle 6"/>
          <p:cNvSpPr/>
          <p:nvPr/>
        </p:nvSpPr>
        <p:spPr>
          <a:xfrm rot="300000">
            <a:off x="749650" y="4436888"/>
            <a:ext cx="2214033" cy="1532467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sp>
        <p:nvSpPr>
          <p:cNvPr id="8" name="Rectangle 7"/>
          <p:cNvSpPr/>
          <p:nvPr/>
        </p:nvSpPr>
        <p:spPr>
          <a:xfrm rot="21360000">
            <a:off x="3723363" y="4623027"/>
            <a:ext cx="2214033" cy="1532467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sp>
        <p:nvSpPr>
          <p:cNvPr id="9" name="Rectangle 8"/>
          <p:cNvSpPr/>
          <p:nvPr/>
        </p:nvSpPr>
        <p:spPr>
          <a:xfrm rot="180000">
            <a:off x="6666859" y="4373161"/>
            <a:ext cx="2214033" cy="1532467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sp>
        <p:nvSpPr>
          <p:cNvPr id="10" name="Rectangle 9"/>
          <p:cNvSpPr/>
          <p:nvPr/>
        </p:nvSpPr>
        <p:spPr>
          <a:xfrm rot="21300000">
            <a:off x="9516184" y="4589288"/>
            <a:ext cx="2214033" cy="1532467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pic>
        <p:nvPicPr>
          <p:cNvPr id="11" name="Picture 10" descr="s06_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37200" y="1181100"/>
            <a:ext cx="6223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6B5A82"/>
                </a:solidFill>
                <a:latin typeface="Verdana"/>
              </a:rPr>
              <a:t>A selection of social media content, event materials, promotional visuals, and other creative work I've developed across different projects.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 rot="21360000">
            <a:off x="808073" y="1465012"/>
            <a:ext cx="2908300" cy="3632200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sp>
        <p:nvSpPr>
          <p:cNvPr id="4" name="Rectangle 3"/>
          <p:cNvSpPr/>
          <p:nvPr/>
        </p:nvSpPr>
        <p:spPr>
          <a:xfrm rot="180000">
            <a:off x="9008336" y="2849149"/>
            <a:ext cx="2523067" cy="1032933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sp>
        <p:nvSpPr>
          <p:cNvPr id="5" name="Rectangle 4"/>
          <p:cNvSpPr/>
          <p:nvPr/>
        </p:nvSpPr>
        <p:spPr>
          <a:xfrm rot="21420000">
            <a:off x="9017198" y="4449349"/>
            <a:ext cx="2523067" cy="1032933"/>
          </a:xfrm>
          <a:prstGeom prst="rect">
            <a:avLst/>
          </a:prstGeom>
          <a:solidFill>
            <a:srgbClr val="EFF1FB"/>
          </a:solidFill>
          <a:ln w="19050">
            <a:solidFill>
              <a:srgbClr val="B27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9A86B5"/>
                </a:solidFill>
                <a:latin typeface="Tahoma"/>
              </a:rPr>
              <a:t>drop photo</a:t>
            </a:r>
          </a:p>
        </p:txBody>
      </p:sp>
      <p:pic>
        <p:nvPicPr>
          <p:cNvPr id="6" name="Picture 5" descr="s07_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962400" y="2717800"/>
            <a:ext cx="46355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1C1430"/>
                </a:solidFill>
                <a:latin typeface="Verdana"/>
              </a:rPr>
              <a:t>A wellness event combining movement, community, and support for animal welfare.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6600" y="4038600"/>
            <a:ext cx="3556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1C1430"/>
                </a:solidFill>
                <a:latin typeface="Tahoma"/>
              </a:rPr>
              <a:t>Campaign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600" y="4394200"/>
            <a:ext cx="3556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1C1430"/>
                </a:solidFill>
                <a:latin typeface="Tahoma"/>
              </a:rPr>
              <a:t>Event promotion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6600" y="4749800"/>
            <a:ext cx="3556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1C1430"/>
                </a:solidFill>
                <a:latin typeface="Tahoma"/>
              </a:rPr>
              <a:t>Social media content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6600" y="5105400"/>
            <a:ext cx="3556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1C1430"/>
                </a:solidFill>
                <a:latin typeface="Tahoma"/>
              </a:rPr>
              <a:t>Partnership communication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6600" y="5461000"/>
            <a:ext cx="3556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1C1430"/>
                </a:solidFill>
                <a:latin typeface="Tahoma"/>
              </a:rPr>
              <a:t>Event coordination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08_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06500"/>
            <a:ext cx="965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6B5A82"/>
                </a:solidFill>
                <a:latin typeface="Verdana"/>
              </a:rPr>
              <a:t>My creative experience also grew through student organizations, academic projects, and collaborative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7100" y="3606800"/>
            <a:ext cx="27432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C1430"/>
                </a:solidFill>
                <a:latin typeface="Tahoma"/>
              </a:rPr>
              <a:t>Himpunan Mahasiswa PPP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7100" y="4343400"/>
            <a:ext cx="2743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6B5A82"/>
                </a:solidFill>
                <a:latin typeface="Verdana"/>
              </a:rPr>
              <a:t>Head of Media &amp; Branding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3600" y="3441700"/>
            <a:ext cx="27432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C1430"/>
                </a:solidFill>
                <a:latin typeface="Tahoma"/>
              </a:rPr>
              <a:t>Pekan Seni Budaya IPB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3600" y="4178300"/>
            <a:ext cx="2743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6B5A82"/>
                </a:solidFill>
                <a:latin typeface="Verdana"/>
              </a:rPr>
              <a:t>Vice Head / Staff DKV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5500" y="3632200"/>
            <a:ext cx="27432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C1430"/>
                </a:solidFill>
                <a:latin typeface="Tahoma"/>
              </a:rPr>
              <a:t>Academic &amp; Research 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5500" y="4368800"/>
            <a:ext cx="2743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6B5A82"/>
                </a:solidFill>
                <a:latin typeface="Verdana"/>
              </a:rPr>
              <a:t>Visual communication · presentation · documentation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09_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68400" y="2095500"/>
            <a:ext cx="2667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1C1430"/>
                </a:solidFill>
                <a:latin typeface="Tahoma"/>
              </a:rPr>
              <a:t>Graphic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400" y="2565400"/>
            <a:ext cx="2667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1C1430"/>
                </a:solidFill>
                <a:latin typeface="Tahoma"/>
              </a:rPr>
              <a:t>Copywriting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8400" y="3035300"/>
            <a:ext cx="2667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1C1430"/>
                </a:solidFill>
                <a:latin typeface="Tahoma"/>
              </a:rPr>
              <a:t>Content Creation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400" y="3505200"/>
            <a:ext cx="2667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1C1430"/>
                </a:solidFill>
                <a:latin typeface="Tahoma"/>
              </a:rPr>
              <a:t>Visual 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0700" y="2095500"/>
            <a:ext cx="2667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1C1430"/>
                </a:solidFill>
                <a:latin typeface="Tahoma"/>
              </a:rPr>
              <a:t>Social Media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0700" y="2565400"/>
            <a:ext cx="2667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1C1430"/>
                </a:solidFill>
                <a:latin typeface="Tahoma"/>
              </a:rPr>
              <a:t>Campaign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0700" y="3035300"/>
            <a:ext cx="2667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1C1430"/>
                </a:solidFill>
                <a:latin typeface="Tahoma"/>
              </a:rPr>
              <a:t>Event 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0700" y="3505200"/>
            <a:ext cx="2667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1C1430"/>
                </a:solidFill>
                <a:latin typeface="Tahoma"/>
              </a:rPr>
              <a:t>Partnership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10_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29500" y="1498600"/>
            <a:ext cx="37846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50" b="0">
                <a:solidFill>
                  <a:srgbClr val="1C1430"/>
                </a:solidFill>
                <a:latin typeface="Tahoma"/>
              </a:rPr>
              <a:t>Thank you for taking the time to explore my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2933700"/>
            <a:ext cx="3784600" cy="107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50" b="0">
                <a:solidFill>
                  <a:srgbClr val="1C1430"/>
                </a:solidFill>
                <a:latin typeface="Tahoma"/>
              </a:rPr>
              <a:t>I'm always open to new creative opportunities, collaborations, and projects.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