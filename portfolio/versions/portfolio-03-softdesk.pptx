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70000" y="762000"/>
            <a:ext cx="9652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2700" y="774700"/>
            <a:ext cx="9626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35100" y="9144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12900" y="9144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90700" y="9144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095500" y="863600"/>
            <a:ext cx="8001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5500" y="863600"/>
            <a:ext cx="8001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16100" y="2120900"/>
            <a:ext cx="3365500" cy="5461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41500" y="1778000"/>
            <a:ext cx="571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200" b="0" i="0">
                <a:solidFill>
                  <a:srgbClr val="0D0D10"/>
                </a:solidFill>
                <a:latin typeface="Archivo Black"/>
              </a:rPr>
              <a:t>zahra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41500" y="2870200"/>
            <a:ext cx="5715000" cy="10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7200" b="0" i="0">
                <a:solidFill>
                  <a:srgbClr val="0D0D10"/>
                </a:solidFill>
                <a:latin typeface="Archivo Black"/>
              </a:rPr>
              <a:t>levina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66900" y="42545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>
                <a:solidFill>
                  <a:srgbClr val="8B93A1"/>
                </a:solidFill>
                <a:latin typeface="Space Mono"/>
              </a:rPr>
              <a:t>creative · content · marketing · visual communication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6900" y="46355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 i="0" spc="600">
                <a:solidFill>
                  <a:srgbClr val="0D0D10"/>
                </a:solidFill>
                <a:latin typeface="Space Mono"/>
              </a:rPr>
              <a:t>2026 PORTFOLIO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1612900"/>
            <a:ext cx="3048000" cy="35560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>drop portrait</a:t>
            </a:r>
          </a:p>
        </p:txBody>
      </p:sp>
      <p:sp>
        <p:nvSpPr>
          <p:cNvPr id="16" name="Rounded Rectangle 15"/>
          <p:cNvSpPr/>
          <p:nvPr/>
        </p:nvSpPr>
        <p:spPr>
          <a:xfrm rot="21120000">
            <a:off x="6096000" y="3835400"/>
            <a:ext cx="1397000" cy="1651000"/>
          </a:xfrm>
          <a:prstGeom prst="roundRect">
            <a:avLst>
              <a:gd name="adj" fmla="val 5000"/>
            </a:avLst>
          </a:prstGeom>
          <a:solidFill>
            <a:srgbClr val="FFD3E4"/>
          </a:solidFill>
          <a:ln w="15875">
            <a:solidFill>
              <a:srgbClr val="E7B9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A6478"/>
                </a:solidFill>
                <a:latin typeface="Poppins"/>
              </a:rPr>
              <a:t>outfit.jpg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9000" y="4445000"/>
            <a:ext cx="558800" cy="139700"/>
          </a:xfrm>
          <a:prstGeom prst="rect">
            <a:avLst/>
          </a:prstGeom>
          <a:solidFill>
            <a:srgbClr val="FF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89000" y="4572000"/>
            <a:ext cx="1270000" cy="762000"/>
          </a:xfrm>
          <a:prstGeom prst="rect">
            <a:avLst/>
          </a:prstGeom>
          <a:solidFill>
            <a:srgbClr val="FF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300" y="4572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0D0D10"/>
                </a:solidFill>
                <a:latin typeface="Space Mono"/>
              </a:rPr>
              <a:t>editing.jpg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795000" y="1651000"/>
            <a:ext cx="558800" cy="139700"/>
          </a:xfrm>
          <a:prstGeom prst="rect">
            <a:avLst/>
          </a:prstGeom>
          <a:solidFill>
            <a:srgbClr val="D7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795000" y="1778000"/>
            <a:ext cx="1270000" cy="762000"/>
          </a:xfrm>
          <a:prstGeom prst="rect">
            <a:avLst/>
          </a:prstGeom>
          <a:solidFill>
            <a:srgbClr val="D7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09300" y="1778000"/>
            <a:ext cx="10414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0D0D10"/>
                </a:solidFill>
                <a:latin typeface="Space Mono"/>
              </a:rPr>
              <a:t>slay.png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91000" y="6146800"/>
            <a:ext cx="3810000" cy="5588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24405E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815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657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5499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341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7183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025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8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www.zahralevina.com/about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" y="1676400"/>
            <a:ext cx="444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400" b="0" i="0">
                <a:solidFill>
                  <a:srgbClr val="8B93A1"/>
                </a:solidFill>
                <a:latin typeface="Archivo Black"/>
              </a:rPr>
              <a:t>hi! i'm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11300" y="2413000"/>
            <a:ext cx="2984500" cy="4445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24000" y="2159000"/>
            <a:ext cx="571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5800" b="0" i="0">
                <a:solidFill>
                  <a:srgbClr val="0D0D10"/>
                </a:solidFill>
                <a:latin typeface="Archivo Black"/>
              </a:rPr>
              <a:t>zahra.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700" y="3276600"/>
            <a:ext cx="4699000" cy="2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250" b="0" i="0">
                <a:solidFill>
                  <a:srgbClr val="2B3038"/>
                </a:solidFill>
                <a:latin typeface="Inter"/>
              </a:rPr>
              <a:t>I'm a creative and marketing enthusiast with experience in content creation, social media, graphic design, event management, and brand partnerships.</a:t>
            </a:r>
          </a:p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250" b="0" i="0">
                <a:solidFill>
                  <a:srgbClr val="2B3038"/>
                </a:solidFill>
                <a:latin typeface="Inter"/>
              </a:rPr>
              <a:t>With a background in agricultural community development, I've had the opportunity to work across different environments—from student organizations and research projects to building a wellness community through Sawala Space.</a:t>
            </a:r>
          </a:p>
          <a:p>
            <a:pPr algn="l">
              <a:lnSpc>
                <a:spcPct val="180000"/>
              </a:lnSpc>
              <a:spcAft>
                <a:spcPts val="1800"/>
              </a:spcAft>
            </a:pPr>
            <a:r>
              <a:rPr sz="1250" b="0" i="0">
                <a:solidFill>
                  <a:srgbClr val="2B3038"/>
                </a:solidFill>
                <a:latin typeface="Inter"/>
              </a:rPr>
              <a:t>I enjoy turning ideas into clear, engaging, and purposeful creative work.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31000" y="1612900"/>
            <a:ext cx="3556000" cy="393700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>drop photo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700" y="5295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>
                <a:solidFill>
                  <a:srgbClr val="8B93A1"/>
                </a:solidFill>
                <a:latin typeface="Space Mono"/>
              </a:rPr>
              <a:t>— based in indonesia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049000" y="3937000"/>
            <a:ext cx="474980" cy="139700"/>
          </a:xfrm>
          <a:prstGeom prst="rect">
            <a:avLst/>
          </a:prstGeom>
          <a:solidFill>
            <a:srgbClr val="FF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49000" y="4064000"/>
            <a:ext cx="1079500" cy="698500"/>
          </a:xfrm>
          <a:prstGeom prst="rect">
            <a:avLst/>
          </a:prstGeom>
          <a:solidFill>
            <a:srgbClr val="FF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63300" y="4064000"/>
            <a:ext cx="8509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0D0D10"/>
                </a:solidFill>
                <a:latin typeface="Space Mono"/>
              </a:rPr>
              <a:t>me.jpg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1300" y="1866900"/>
            <a:ext cx="2730500" cy="3810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4000" y="16510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800" b="0" i="0">
                <a:solidFill>
                  <a:srgbClr val="0D0D10"/>
                </a:solidFill>
                <a:latin typeface="Archivo Black"/>
              </a:rPr>
              <a:t>what i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2794000"/>
            <a:ext cx="63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8B93A1"/>
                </a:solidFill>
                <a:latin typeface="Space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24000" y="3048000"/>
            <a:ext cx="406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0D0D10"/>
                </a:solidFill>
                <a:latin typeface="Archivo Black"/>
              </a:rPr>
              <a:t>Content &amp; Social Media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700" y="34544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5B6472"/>
                </a:solidFill>
                <a:latin typeface="Inter"/>
              </a:rPr>
              <a:t>Content creation · social media · copywriting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24000" y="4064000"/>
            <a:ext cx="4064000" cy="889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000" y="2794000"/>
            <a:ext cx="63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8B93A1"/>
                </a:solidFill>
                <a:latin typeface="Space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0000" y="3048000"/>
            <a:ext cx="406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0D0D10"/>
                </a:solidFill>
                <a:latin typeface="Archivo Black"/>
              </a:rPr>
              <a:t>Creative &amp; Visual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2700" y="34544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5B6472"/>
                </a:solidFill>
                <a:latin typeface="Inter"/>
              </a:rPr>
              <a:t>Graphic design · visual communication · campaign materials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0000" y="4064000"/>
            <a:ext cx="4064000" cy="889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4000" y="4318000"/>
            <a:ext cx="63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8B93A1"/>
                </a:solidFill>
                <a:latin typeface="Space Mon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24000" y="4572000"/>
            <a:ext cx="406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0D0D10"/>
                </a:solidFill>
                <a:latin typeface="Archivo Black"/>
              </a:rPr>
              <a:t>Marketing &amp; 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6700" y="49784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5B6472"/>
                </a:solidFill>
                <a:latin typeface="Inter"/>
              </a:rPr>
              <a:t>Campaign development · event management · brand partnerships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24000" y="5588000"/>
            <a:ext cx="4064000" cy="889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000" y="4318000"/>
            <a:ext cx="63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 spc="400">
                <a:solidFill>
                  <a:srgbClr val="8B93A1"/>
                </a:solidFill>
                <a:latin typeface="Space Mon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0" y="4572000"/>
            <a:ext cx="4064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2400" b="0" i="0">
                <a:solidFill>
                  <a:srgbClr val="0D0D10"/>
                </a:solidFill>
                <a:latin typeface="Archivo Black"/>
              </a:rPr>
              <a:t>Communication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2700" y="4978400"/>
            <a:ext cx="4064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250" b="0" i="0">
                <a:solidFill>
                  <a:srgbClr val="5B6472"/>
                </a:solidFill>
                <a:latin typeface="Inter"/>
              </a:rPr>
              <a:t>Community engagement · collaboration · project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0000" y="5588000"/>
            <a:ext cx="4064000" cy="889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www.zahralevina.com/experience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1300" y="1816100"/>
            <a:ext cx="3556000" cy="3810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4000" y="15875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400" b="0" i="0">
                <a:solidFill>
                  <a:srgbClr val="0D0D10"/>
                </a:solidFill>
                <a:latin typeface="Archivo Black"/>
              </a:rPr>
              <a:t>where i've been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26289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9000" y="25527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0D0D10"/>
                </a:solidFill>
                <a:latin typeface="Archivo Black"/>
              </a:rPr>
              <a:t>Sawala 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1700" y="2882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Co-Founder · Creative &amp; Marketing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24000" y="3136900"/>
            <a:ext cx="9144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24000" y="32639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9000" y="31877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0D0D10"/>
                </a:solidFill>
                <a:latin typeface="Archivo Black"/>
              </a:rPr>
              <a:t>Kementerian Pertanian 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71700" y="3517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Intern · Administration &amp; Partnership Support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524000" y="3771900"/>
            <a:ext cx="9144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4000" y="38989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9000" y="38227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0D0D10"/>
                </a:solidFill>
                <a:latin typeface="Archivo Black"/>
              </a:rPr>
              <a:t>IPB University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71700" y="4152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Research Assistant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24000" y="4406900"/>
            <a:ext cx="9144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524000" y="45339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9000" y="44577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0D0D10"/>
                </a:solidFill>
                <a:latin typeface="Archivo Black"/>
              </a:rPr>
              <a:t>Nabila Farm Lembang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71700" y="4787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Intern · Agriculture &amp; Content Creation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24000" y="5041900"/>
            <a:ext cx="9144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24000" y="5168900"/>
            <a:ext cx="5715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0" y="5092700"/>
            <a:ext cx="5080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900" b="0" i="0">
                <a:solidFill>
                  <a:srgbClr val="0D0D10"/>
                </a:solidFill>
                <a:latin typeface="Archivo Black"/>
              </a:rPr>
              <a:t>Himpunan Mahasiswa PPP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1700" y="5422900"/>
            <a:ext cx="5715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Head of Media &amp; Branding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24000" y="5676900"/>
            <a:ext cx="9144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www.sawalaspace.com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97000" y="1587500"/>
            <a:ext cx="4064000" cy="368300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>drop photo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42000" y="16129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500">
                <a:solidFill>
                  <a:srgbClr val="8B93A1"/>
                </a:solidFill>
                <a:latin typeface="Space Mono"/>
              </a:rPr>
              <a:t>featured project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29300" y="2108200"/>
            <a:ext cx="3302000" cy="3810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42000" y="1892300"/>
            <a:ext cx="5715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200" b="0" i="0">
                <a:solidFill>
                  <a:srgbClr val="0D0D10"/>
                </a:solidFill>
                <a:latin typeface="Archivo Black"/>
              </a:rPr>
              <a:t>sawala 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4700" y="27813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2B3038"/>
                </a:solidFill>
                <a:latin typeface="Inter"/>
              </a:rPr>
              <a:t>Wellness Community &amp; Event Organizer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4700" y="3149600"/>
            <a:ext cx="4445000" cy="127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80000"/>
              </a:lnSpc>
              <a:spcAft>
                <a:spcPts val="0"/>
              </a:spcAft>
            </a:pPr>
            <a:r>
              <a:rPr sz="1250" b="0" i="0">
                <a:solidFill>
                  <a:srgbClr val="5B6472"/>
                </a:solidFill>
                <a:latin typeface="Inter"/>
              </a:rPr>
              <a:t>As a co-founder, I contribute to the creative and marketing side of Sawala Space, from developing event concepts and promotional content to managing brand partnerships and supporting event execution.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4700" y="43815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spc="500">
                <a:solidFill>
                  <a:srgbClr val="8B93A1"/>
                </a:solidFill>
                <a:latin typeface="Space Mono"/>
              </a:rPr>
              <a:t>role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4700" y="4635500"/>
            <a:ext cx="962025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80225" y="4635500"/>
            <a:ext cx="1485900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Social Media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29625" y="4635500"/>
            <a:ext cx="1066800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Campaign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4700" y="5003800"/>
            <a:ext cx="752475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Event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0675" y="5003800"/>
            <a:ext cx="1381125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Partnership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15300" y="5003800"/>
            <a:ext cx="1066800" cy="2921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 spc="100">
                <a:solidFill>
                  <a:srgbClr val="0D0D10"/>
                </a:solidFill>
                <a:latin typeface="Inter"/>
              </a:rPr>
              <a:t>Branding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2000" y="762000"/>
            <a:ext cx="10668000" cy="52705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4700" y="774700"/>
            <a:ext cx="10642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7100" y="9144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4900" y="9144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2700" y="9144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87500" y="863600"/>
            <a:ext cx="9017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87500" y="863600"/>
            <a:ext cx="9017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30300" y="1663700"/>
            <a:ext cx="2667000" cy="3556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4732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0" i="0">
                <a:solidFill>
                  <a:srgbClr val="0D0D10"/>
                </a:solidFill>
                <a:latin typeface="Archivo Black"/>
              </a:rPr>
              <a:t>my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700" y="2235200"/>
            <a:ext cx="698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150" b="0" i="0">
                <a:solidFill>
                  <a:srgbClr val="5B6472"/>
                </a:solidFill>
                <a:latin typeface="Inter"/>
              </a:rPr>
              <a:t>A selection of social media content, event materials, promotional visuals, and other creative work I've developed across different projects.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2806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8400" y="4038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ig carousel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83000" y="2806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8400" y="4038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event poster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000" y="2806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4038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reels cover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3000" y="2806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88400" y="4038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brand kit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330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400" y="556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feed layout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3000" y="4330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8400" y="556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promo flyer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23000" y="4330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8400" y="556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campaign visual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63000" y="4330700"/>
            <a:ext cx="2336800" cy="1181100"/>
          </a:xfrm>
          <a:prstGeom prst="roundRect">
            <a:avLst>
              <a:gd name="adj" fmla="val 4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88400" y="55626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00" b="0" i="0">
                <a:solidFill>
                  <a:srgbClr val="8B93A1"/>
                </a:solidFill>
                <a:latin typeface="Space Mono"/>
              </a:rPr>
              <a:t>merch design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www.zahralevina.com/stretch-for-stray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97000" y="1587500"/>
            <a:ext cx="3302000" cy="3683000"/>
          </a:xfrm>
          <a:prstGeom prst="roundRect">
            <a:avLst>
              <a:gd name="adj" fmla="val 3000"/>
            </a:avLst>
          </a:prstGeom>
          <a:solidFill>
            <a:srgbClr val="F3F5F9"/>
          </a:solidFill>
          <a:ln w="15875">
            <a:solidFill>
              <a:srgbClr val="C8D2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B93A1"/>
                </a:solidFill>
                <a:latin typeface="Poppins"/>
              </a:rPr>
              <a:t>drop poster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0000" y="1612900"/>
            <a:ext cx="4445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500">
                <a:solidFill>
                  <a:srgbClr val="8B93A1"/>
                </a:solidFill>
                <a:latin typeface="Space Mono"/>
              </a:rPr>
              <a:t>wellness × social impact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67300" y="2108200"/>
            <a:ext cx="4064000" cy="3810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0000" y="18923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4000" b="0" i="0">
                <a:solidFill>
                  <a:srgbClr val="0D0D10"/>
                </a:solidFill>
                <a:latin typeface="Archivo Black"/>
              </a:rPr>
              <a:t>stretch for stray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2700" y="2794000"/>
            <a:ext cx="482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  <a:spcAft>
                <a:spcPts val="0"/>
              </a:spcAft>
            </a:pPr>
            <a:r>
              <a:rPr sz="1350" b="0" i="0">
                <a:solidFill>
                  <a:srgbClr val="2B3038"/>
                </a:solidFill>
                <a:latin typeface="Inter"/>
              </a:rPr>
              <a:t>A wellness event combining movement, community, and support for animal welfare.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92700" y="3517900"/>
            <a:ext cx="317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spc="500">
                <a:solidFill>
                  <a:srgbClr val="8B93A1"/>
                </a:solidFill>
                <a:latin typeface="Space Mono"/>
              </a:rPr>
              <a:t>my contribution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92700" y="3898900"/>
            <a:ext cx="114300" cy="114300"/>
          </a:xfrm>
          <a:prstGeom prst="roundRect">
            <a:avLst>
              <a:gd name="adj" fmla="val 40000"/>
            </a:avLst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72100" y="38100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B3038"/>
                </a:solidFill>
                <a:latin typeface="Inter"/>
              </a:rPr>
              <a:t>Campaign concept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92700" y="4241800"/>
            <a:ext cx="114300" cy="114300"/>
          </a:xfrm>
          <a:prstGeom prst="roundRect">
            <a:avLst>
              <a:gd name="adj" fmla="val 40000"/>
            </a:avLst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72100" y="41529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B3038"/>
                </a:solidFill>
                <a:latin typeface="Inter"/>
              </a:rPr>
              <a:t>Event promotion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2700" y="4584700"/>
            <a:ext cx="114300" cy="114300"/>
          </a:xfrm>
          <a:prstGeom prst="roundRect">
            <a:avLst>
              <a:gd name="adj" fmla="val 40000"/>
            </a:avLst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72100" y="44958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B3038"/>
                </a:solidFill>
                <a:latin typeface="Inter"/>
              </a:rPr>
              <a:t>Social media content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92700" y="4927600"/>
            <a:ext cx="114300" cy="114300"/>
          </a:xfrm>
          <a:prstGeom prst="roundRect">
            <a:avLst>
              <a:gd name="adj" fmla="val 40000"/>
            </a:avLst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2100" y="48387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B3038"/>
                </a:solidFill>
                <a:latin typeface="Inter"/>
              </a:rPr>
              <a:t>Partnership communication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92700" y="5270500"/>
            <a:ext cx="114300" cy="114300"/>
          </a:xfrm>
          <a:prstGeom prst="roundRect">
            <a:avLst>
              <a:gd name="adj" fmla="val 40000"/>
            </a:avLst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72100" y="5181600"/>
            <a:ext cx="4064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0" i="0">
                <a:solidFill>
                  <a:srgbClr val="2B3038"/>
                </a:solidFill>
                <a:latin typeface="Inter"/>
              </a:rPr>
              <a:t>Event coordination</a:t>
            </a:r>
          </a:p>
        </p:txBody>
      </p:sp>
      <p:sp>
        <p:nvSpPr>
          <p:cNvPr id="26" name="Rounded Rectangle 25"/>
          <p:cNvSpPr/>
          <p:nvPr/>
        </p:nvSpPr>
        <p:spPr>
          <a:xfrm rot="360000">
            <a:off x="8509000" y="3644900"/>
            <a:ext cx="1524000" cy="1524000"/>
          </a:xfrm>
          <a:prstGeom prst="roundRect">
            <a:avLst>
              <a:gd name="adj" fmla="val 5000"/>
            </a:avLst>
          </a:prstGeom>
          <a:solidFill>
            <a:srgbClr val="FFD3E4"/>
          </a:solidFill>
          <a:ln w="15875">
            <a:solidFill>
              <a:srgbClr val="E7B9C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8A6478"/>
                </a:solidFill>
                <a:latin typeface="Poppins"/>
              </a:rPr>
              <a:t>documentation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www.zahralevina.com/more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1300" y="1714500"/>
            <a:ext cx="3937000" cy="3556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4000" y="1536700"/>
            <a:ext cx="635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600" b="0" i="0">
                <a:solidFill>
                  <a:srgbClr val="0D0D10"/>
                </a:solidFill>
                <a:latin typeface="Archivo Black"/>
              </a:rPr>
              <a:t>beyond creative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700" y="2247900"/>
            <a:ext cx="762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0"/>
              </a:spcAft>
            </a:pPr>
            <a:r>
              <a:rPr sz="1200" b="0" i="0">
                <a:solidFill>
                  <a:srgbClr val="5B6472"/>
                </a:solidFill>
                <a:latin typeface="Inter"/>
              </a:rPr>
              <a:t>My creative experience also grew through student organizations, academic projects, and collaborative work.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4000" y="2819400"/>
            <a:ext cx="2794000" cy="241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24000" y="2819400"/>
            <a:ext cx="2794000" cy="635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14500" y="30861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14500" y="3390900"/>
            <a:ext cx="2413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0D0D10"/>
                </a:solidFill>
                <a:latin typeface="Archivo Black"/>
              </a:rPr>
              <a:t>Himpunan Mahasiswa PPP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27200" y="4279900"/>
            <a:ext cx="241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 i="0">
                <a:solidFill>
                  <a:srgbClr val="5B6472"/>
                </a:solidFill>
                <a:latin typeface="Inter"/>
              </a:rPr>
              <a:t>Head of Media &amp; Branding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35500" y="2819400"/>
            <a:ext cx="2794000" cy="241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635500" y="2819400"/>
            <a:ext cx="2794000" cy="63500"/>
          </a:xfrm>
          <a:prstGeom prst="rect">
            <a:avLst/>
          </a:prstGeom>
          <a:solidFill>
            <a:srgbClr val="FFD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6000" y="30861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3390900"/>
            <a:ext cx="2413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0D0D10"/>
                </a:solidFill>
                <a:latin typeface="Archivo Black"/>
              </a:rPr>
              <a:t>Pekan Seni Budaya IPB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8700" y="4279900"/>
            <a:ext cx="241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 i="0">
                <a:solidFill>
                  <a:srgbClr val="5B6472"/>
                </a:solidFill>
                <a:latin typeface="Inter"/>
              </a:rPr>
              <a:t>Vice Head / Staff DKV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7000" y="2819400"/>
            <a:ext cx="2794000" cy="24130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747000" y="2819400"/>
            <a:ext cx="2794000" cy="63500"/>
          </a:xfrm>
          <a:prstGeom prst="rect">
            <a:avLst/>
          </a:prstGeom>
          <a:solidFill>
            <a:srgbClr val="D7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7500" y="30861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>
                <a:solidFill>
                  <a:srgbClr val="8B93A1"/>
                </a:solidFill>
                <a:latin typeface="Space Mono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7500" y="3390900"/>
            <a:ext cx="2413000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800" b="0" i="0">
                <a:solidFill>
                  <a:srgbClr val="0D0D10"/>
                </a:solidFill>
                <a:latin typeface="Archivo Black"/>
              </a:rPr>
              <a:t>Academic &amp; Research Projects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0200" y="4279900"/>
            <a:ext cx="241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0"/>
              </a:spcAft>
            </a:pPr>
            <a:r>
              <a:rPr sz="1150" b="0" i="0">
                <a:solidFill>
                  <a:srgbClr val="5B6472"/>
                </a:solidFill>
                <a:latin typeface="Inter"/>
              </a:rPr>
              <a:t>Visual communication · presentation · documentation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16000" y="825500"/>
            <a:ext cx="10160000" cy="508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28700" y="838200"/>
            <a:ext cx="10134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181100" y="9779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58900" y="9779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536700" y="9779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841500" y="927100"/>
            <a:ext cx="850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41500" y="927100"/>
            <a:ext cx="8509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www.zahralevina.com/skills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1300" y="1714500"/>
            <a:ext cx="2921000" cy="3556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24000" y="1536700"/>
            <a:ext cx="5715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3800" b="0" i="0">
                <a:solidFill>
                  <a:srgbClr val="0D0D10"/>
                </a:solidFill>
                <a:latin typeface="Archivo Black"/>
              </a:rPr>
              <a:t>skills &amp;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2286000"/>
            <a:ext cx="254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500">
                <a:solidFill>
                  <a:srgbClr val="8B93A1"/>
                </a:solidFill>
                <a:latin typeface="Space Mono"/>
              </a:rPr>
              <a:t>creative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24000" y="2578100"/>
            <a:ext cx="3937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27432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Graphic Design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5000" y="28575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45000" y="28575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24000" y="32131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Copywriting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5000" y="33274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445000" y="3327400"/>
            <a:ext cx="9271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24000" y="36830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Content Creation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5000" y="37973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45000" y="3797300"/>
            <a:ext cx="8382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24000" y="41529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Visual Communication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5000" y="42672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445000" y="4267200"/>
            <a:ext cx="7493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23000" y="2286000"/>
            <a:ext cx="254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500">
                <a:solidFill>
                  <a:srgbClr val="8B93A1"/>
                </a:solidFill>
                <a:latin typeface="Space Mono"/>
              </a:rPr>
              <a:t>marketing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23000" y="2578100"/>
            <a:ext cx="3937000" cy="762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23000" y="27432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Social Media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0" y="28575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144000" y="28575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23000" y="32131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Campaign Development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0" y="33274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144000" y="3327400"/>
            <a:ext cx="9271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23000" y="36830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Event Management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37973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144000" y="3797300"/>
            <a:ext cx="8382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23000" y="4152900"/>
            <a:ext cx="3175000" cy="292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 i="0">
                <a:solidFill>
                  <a:srgbClr val="2B3038"/>
                </a:solidFill>
                <a:latin typeface="Inter"/>
              </a:rPr>
              <a:t>Partnership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0" y="4267200"/>
            <a:ext cx="1016000" cy="63500"/>
          </a:xfrm>
          <a:prstGeom prst="roundRect">
            <a:avLst>
              <a:gd name="adj" fmla="val 50000"/>
            </a:avLst>
          </a:prstGeom>
          <a:solidFill>
            <a:srgbClr val="E9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144000" y="4267200"/>
            <a:ext cx="749300" cy="63500"/>
          </a:xfrm>
          <a:prstGeom prst="roundRect">
            <a:avLst>
              <a:gd name="adj" fmla="val 50000"/>
            </a:avLst>
          </a:prstGeom>
          <a:solidFill>
            <a:srgbClr val="0D0D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524000" y="49149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500">
                <a:solidFill>
                  <a:srgbClr val="8B93A1"/>
                </a:solidFill>
                <a:latin typeface="Space Mono"/>
              </a:rPr>
              <a:t>tools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524000" y="5181600"/>
            <a:ext cx="823912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Canva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436812" y="5181600"/>
            <a:ext cx="2130742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Adobe Illustrator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56455" y="5181600"/>
            <a:ext cx="1912938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Adobe Photoshop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658292" y="5181600"/>
            <a:ext cx="932815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CapCut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524000" y="5588000"/>
            <a:ext cx="2021840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Microsoft Office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34740" y="5588000"/>
            <a:ext cx="2021840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Google Workspace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45480" y="5588000"/>
            <a:ext cx="1041718" cy="304800"/>
          </a:xfrm>
          <a:prstGeom prst="roundRect">
            <a:avLst>
              <a:gd name="adj" fmla="val 50000"/>
            </a:avLst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 spc="100">
                <a:solidFill>
                  <a:srgbClr val="0D0D10"/>
                </a:solidFill>
                <a:latin typeface="Inter"/>
              </a:rPr>
              <a:t>Minitab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BBD7F0"/>
              </a:gs>
              <a:gs pos="100000">
                <a:srgbClr val="DCEBF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905000" y="889000"/>
            <a:ext cx="8382000" cy="4572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584200" dist="203200" dir="5400000" rotWithShape="0">
              <a:srgbClr val="24405E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917700" y="901700"/>
            <a:ext cx="8356600" cy="393700"/>
          </a:xfrm>
          <a:prstGeom prst="rect">
            <a:avLst/>
          </a:prstGeom>
          <a:solidFill>
            <a:srgbClr val="F3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70100" y="1041400"/>
            <a:ext cx="114300" cy="114300"/>
          </a:xfrm>
          <a:prstGeom prst="ellipse">
            <a:avLst/>
          </a:prstGeom>
          <a:solidFill>
            <a:srgbClr val="FF60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247900" y="1041400"/>
            <a:ext cx="114300" cy="114300"/>
          </a:xfrm>
          <a:prstGeom prst="ellipse">
            <a:avLst/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425700" y="1041400"/>
            <a:ext cx="114300" cy="114300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30500" y="990600"/>
            <a:ext cx="6731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30500" y="990600"/>
            <a:ext cx="6731000" cy="215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050" b="0" i="0">
                <a:solidFill>
                  <a:srgbClr val="8B93A1"/>
                </a:solidFill>
                <a:latin typeface="Space Mono"/>
              </a:rPr>
              <a:t>mail — new message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3000" y="18034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 i="0" spc="600">
                <a:solidFill>
                  <a:srgbClr val="8B93A1"/>
                </a:solidFill>
                <a:latin typeface="Space Mono"/>
              </a:rPr>
              <a:t>say 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0300" y="2362200"/>
            <a:ext cx="4445000" cy="457200"/>
          </a:xfrm>
          <a:prstGeom prst="rect">
            <a:avLst/>
          </a:prstGeom>
          <a:solidFill>
            <a:srgbClr val="FFE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3000" y="2082800"/>
            <a:ext cx="698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5000" b="0" i="0">
                <a:solidFill>
                  <a:srgbClr val="0D0D10"/>
                </a:solidFill>
                <a:latin typeface="Archivo Black"/>
              </a:rPr>
              <a:t>let's work together.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25700" y="3124200"/>
            <a:ext cx="5715000" cy="698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5000"/>
              </a:lnSpc>
              <a:spcAft>
                <a:spcPts val="0"/>
              </a:spcAft>
            </a:pPr>
            <a:r>
              <a:rPr sz="1300" b="0" i="0">
                <a:solidFill>
                  <a:srgbClr val="5B6472"/>
                </a:solidFill>
                <a:latin typeface="Inter"/>
              </a:rPr>
              <a:t>Thank you for taking the time to explore my work. I'm always open to new creative opportunities, collaborations, and projects.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5700" y="39116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spc="400">
                <a:solidFill>
                  <a:srgbClr val="8B93A1"/>
                </a:solidFill>
                <a:latin typeface="Space Mono"/>
              </a:rPr>
              <a:t>whatsapp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7000" y="39116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0D0D10"/>
                </a:solidFill>
                <a:latin typeface="Inter"/>
              </a:rPr>
              <a:t>+62 8xx-xxxx-xxxx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5700" y="4267200"/>
            <a:ext cx="7239000" cy="635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25700" y="43688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spc="400">
                <a:solidFill>
                  <a:srgbClr val="8B93A1"/>
                </a:solidFill>
                <a:latin typeface="Space Mono"/>
              </a:rPr>
              <a:t>email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7000" y="43688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0D0D10"/>
                </a:solidFill>
                <a:latin typeface="Inter"/>
              </a:rPr>
              <a:t>hello@email.com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25700" y="4724400"/>
            <a:ext cx="7239000" cy="635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5700" y="4826000"/>
            <a:ext cx="1397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 i="0" spc="400">
                <a:solidFill>
                  <a:srgbClr val="8B93A1"/>
                </a:solidFill>
                <a:latin typeface="Space Mono"/>
              </a:rPr>
              <a:t>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7000" y="4826000"/>
            <a:ext cx="5080000" cy="317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0" i="0">
                <a:solidFill>
                  <a:srgbClr val="0D0D10"/>
                </a:solidFill>
                <a:latin typeface="Inter"/>
              </a:rPr>
              <a:t>linkedin.com/in/username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25700" y="5181600"/>
            <a:ext cx="7239000" cy="6350"/>
          </a:xfrm>
          <a:prstGeom prst="rect">
            <a:avLst/>
          </a:prstGeom>
          <a:solidFill>
            <a:srgbClr val="E3E8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25700" y="53340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 i="0">
                <a:solidFill>
                  <a:srgbClr val="0D0D10"/>
                </a:solidFill>
                <a:latin typeface="Archivo Black"/>
              </a:rPr>
              <a:t>zahra levina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91000" y="6146800"/>
            <a:ext cx="3810000" cy="5588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24405E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815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6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657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BE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5499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1341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7183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C9B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02500" y="6235700"/>
            <a:ext cx="381000" cy="381000"/>
          </a:xfrm>
          <a:prstGeom prst="roundRect">
            <a:avLst>
              <a:gd name="adj" fmla="val 26000"/>
            </a:avLst>
          </a:prstGeom>
          <a:solidFill>
            <a:srgbClr val="FF8A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