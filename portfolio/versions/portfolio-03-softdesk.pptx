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BBD7F0"/>
              </a:gs>
              <a:gs pos="100000">
                <a:srgbClr val="DCEBF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270000" y="762000"/>
            <a:ext cx="9652000" cy="508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584200" dist="203200" dir="5400000" rotWithShape="0">
              <a:srgbClr val="24405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2700" y="774700"/>
            <a:ext cx="9626600" cy="3937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35100" y="914400"/>
            <a:ext cx="114300" cy="114300"/>
          </a:xfrm>
          <a:prstGeom prst="ellipse">
            <a:avLst/>
          </a:prstGeom>
          <a:solidFill>
            <a:srgbClr val="FF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12900" y="914400"/>
            <a:ext cx="114300" cy="114300"/>
          </a:xfrm>
          <a:prstGeom prst="ellipse">
            <a:avLst/>
          </a:prstGeom>
          <a:solidFill>
            <a:srgbClr val="FFB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90700" y="914400"/>
            <a:ext cx="114300" cy="11430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95500" y="863600"/>
            <a:ext cx="8001000" cy="215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95500" y="863600"/>
            <a:ext cx="8001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050" b="0" i="0">
                <a:solidFill>
                  <a:srgbClr val="8B93A1"/>
                </a:solidFill>
                <a:latin typeface="Space Mono"/>
              </a:rPr>
              <a:t>www.zahralevina.com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16100" y="2120900"/>
            <a:ext cx="3365500" cy="546100"/>
          </a:xfrm>
          <a:prstGeom prst="rect">
            <a:avLst/>
          </a:prstGeom>
          <a:solidFill>
            <a:srgbClr val="FFE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41500" y="1778000"/>
            <a:ext cx="57150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7200" b="0" i="0">
                <a:solidFill>
                  <a:srgbClr val="0D0D10"/>
                </a:solidFill>
                <a:latin typeface="Archivo Black"/>
              </a:rPr>
              <a:t>zahra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1500" y="2870200"/>
            <a:ext cx="57150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7200" b="0" i="0">
                <a:solidFill>
                  <a:srgbClr val="0D0D10"/>
                </a:solidFill>
                <a:latin typeface="Archivo Black"/>
              </a:rPr>
              <a:t>levina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66900" y="4254500"/>
            <a:ext cx="4445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8B93A1"/>
                </a:solidFill>
                <a:latin typeface="Space Mono"/>
              </a:rPr>
              <a:t>creative · content · marketing · visual communication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66900" y="4635500"/>
            <a:ext cx="444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 spc="600">
                <a:solidFill>
                  <a:srgbClr val="0D0D10"/>
                </a:solidFill>
                <a:latin typeface="Space Mono"/>
              </a:rPr>
              <a:t>2026 PORTFOLIO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1612900"/>
            <a:ext cx="3048000" cy="3556000"/>
          </a:xfrm>
          <a:prstGeom prst="roundRect">
            <a:avLst>
              <a:gd name="adj" fmla="val 4000"/>
            </a:avLst>
          </a:prstGeom>
          <a:solidFill>
            <a:srgbClr val="F3F5F9"/>
          </a:solidFill>
          <a:ln w="15875">
            <a:solidFill>
              <a:srgbClr val="C8D2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8B93A1"/>
                </a:solidFill>
                <a:latin typeface="Poppins"/>
              </a:rPr>
              <a:t>drop portrait</a:t>
            </a:r>
          </a:p>
        </p:txBody>
      </p:sp>
      <p:sp>
        <p:nvSpPr>
          <p:cNvPr id="16" name="Rounded Rectangle 15"/>
          <p:cNvSpPr/>
          <p:nvPr/>
        </p:nvSpPr>
        <p:spPr>
          <a:xfrm rot="21120000">
            <a:off x="6096000" y="3835400"/>
            <a:ext cx="1397000" cy="1651000"/>
          </a:xfrm>
          <a:prstGeom prst="roundRect">
            <a:avLst>
              <a:gd name="adj" fmla="val 5000"/>
            </a:avLst>
          </a:prstGeom>
          <a:solidFill>
            <a:srgbClr val="FFD3E4"/>
          </a:solidFill>
          <a:ln w="15875">
            <a:solidFill>
              <a:srgbClr val="E7B9C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8A6478"/>
                </a:solidFill>
                <a:latin typeface="Poppins"/>
              </a:rPr>
              <a:t>outfit.jpg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9000" y="4445000"/>
            <a:ext cx="558800" cy="139700"/>
          </a:xfrm>
          <a:prstGeom prst="rect">
            <a:avLst/>
          </a:prstGeom>
          <a:solidFill>
            <a:srgbClr val="FFD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9000" y="4572000"/>
            <a:ext cx="1270000" cy="762000"/>
          </a:xfrm>
          <a:prstGeom prst="rect">
            <a:avLst/>
          </a:prstGeom>
          <a:solidFill>
            <a:srgbClr val="FFD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3300" y="4572000"/>
            <a:ext cx="10414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00" b="0" i="0">
                <a:solidFill>
                  <a:srgbClr val="0D0D10"/>
                </a:solidFill>
                <a:latin typeface="Space Mono"/>
              </a:rPr>
              <a:t>editing.jpg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795000" y="1651000"/>
            <a:ext cx="558800" cy="139700"/>
          </a:xfrm>
          <a:prstGeom prst="rect">
            <a:avLst/>
          </a:prstGeom>
          <a:solidFill>
            <a:srgbClr val="D7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795000" y="1778000"/>
            <a:ext cx="1270000" cy="762000"/>
          </a:xfrm>
          <a:prstGeom prst="rect">
            <a:avLst/>
          </a:prstGeom>
          <a:solidFill>
            <a:srgbClr val="D7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09300" y="1778000"/>
            <a:ext cx="10414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00" b="0" i="0">
                <a:solidFill>
                  <a:srgbClr val="0D0D10"/>
                </a:solidFill>
                <a:latin typeface="Space Mono"/>
              </a:rPr>
              <a:t>slay.png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91000" y="6146800"/>
            <a:ext cx="3810000" cy="5588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>
            <a:outerShdw blurRad="381000" dist="127000" dir="5400000" rotWithShape="0">
              <a:srgbClr val="24405E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81500" y="6235700"/>
            <a:ext cx="381000" cy="381000"/>
          </a:xfrm>
          <a:prstGeom prst="roundRect">
            <a:avLst>
              <a:gd name="adj" fmla="val 26000"/>
            </a:avLst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965700" y="6235700"/>
            <a:ext cx="381000" cy="381000"/>
          </a:xfrm>
          <a:prstGeom prst="roundRect">
            <a:avLst>
              <a:gd name="adj" fmla="val 26000"/>
            </a:avLst>
          </a:prstGeom>
          <a:solidFill>
            <a:srgbClr val="FFB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549900" y="6235700"/>
            <a:ext cx="381000" cy="381000"/>
          </a:xfrm>
          <a:prstGeom prst="roundRect">
            <a:avLst>
              <a:gd name="adj" fmla="val 26000"/>
            </a:avLst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134100" y="6235700"/>
            <a:ext cx="381000" cy="381000"/>
          </a:xfrm>
          <a:prstGeom prst="roundRect">
            <a:avLst>
              <a:gd name="adj" fmla="val 26000"/>
            </a:avLst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718300" y="6235700"/>
            <a:ext cx="381000" cy="381000"/>
          </a:xfrm>
          <a:prstGeom prst="roundRect">
            <a:avLst>
              <a:gd name="adj" fmla="val 26000"/>
            </a:avLst>
          </a:prstGeom>
          <a:solidFill>
            <a:srgbClr val="C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02500" y="6235700"/>
            <a:ext cx="381000" cy="381000"/>
          </a:xfrm>
          <a:prstGeom prst="roundRect">
            <a:avLst>
              <a:gd name="adj" fmla="val 26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BBD7F0"/>
              </a:gs>
              <a:gs pos="100000">
                <a:srgbClr val="DCEBF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16000" y="825500"/>
            <a:ext cx="10160000" cy="508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584200" dist="203200" dir="5400000" rotWithShape="0">
              <a:srgbClr val="24405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" y="838200"/>
            <a:ext cx="10134600" cy="3937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1100" y="977900"/>
            <a:ext cx="114300" cy="114300"/>
          </a:xfrm>
          <a:prstGeom prst="ellipse">
            <a:avLst/>
          </a:prstGeom>
          <a:solidFill>
            <a:srgbClr val="FF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8900" y="977900"/>
            <a:ext cx="114300" cy="114300"/>
          </a:xfrm>
          <a:prstGeom prst="ellipse">
            <a:avLst/>
          </a:prstGeom>
          <a:solidFill>
            <a:srgbClr val="FFB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36700" y="977900"/>
            <a:ext cx="114300" cy="11430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41500" y="927100"/>
            <a:ext cx="8509000" cy="215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41500" y="927100"/>
            <a:ext cx="8509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050" b="0" i="0">
                <a:solidFill>
                  <a:srgbClr val="8B93A1"/>
                </a:solidFill>
                <a:latin typeface="Space Mono"/>
              </a:rPr>
              <a:t>www.zahralevina.com/about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" y="1676400"/>
            <a:ext cx="4445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4400" b="0" i="0">
                <a:solidFill>
                  <a:srgbClr val="8B93A1"/>
                </a:solidFill>
                <a:latin typeface="Archivo Black"/>
              </a:rPr>
              <a:t>hi! i'm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11300" y="2413000"/>
            <a:ext cx="2984500" cy="444500"/>
          </a:xfrm>
          <a:prstGeom prst="rect">
            <a:avLst/>
          </a:prstGeom>
          <a:solidFill>
            <a:srgbClr val="FFE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24000" y="2159000"/>
            <a:ext cx="5715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5800" b="0" i="0">
                <a:solidFill>
                  <a:srgbClr val="0D0D10"/>
                </a:solidFill>
                <a:latin typeface="Archivo Black"/>
              </a:rPr>
              <a:t>zahra.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700" y="3276600"/>
            <a:ext cx="4699000" cy="2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80000"/>
              </a:lnSpc>
              <a:spcAft>
                <a:spcPts val="1800"/>
              </a:spcAft>
            </a:pPr>
            <a:r>
              <a:rPr sz="1250" b="0" i="0">
                <a:solidFill>
                  <a:srgbClr val="2B3038"/>
                </a:solidFill>
                <a:latin typeface="Inter"/>
              </a:rPr>
              <a:t>I'm a creative and marketing enthusiast with experience in content creation, social media, graphic design, event management, and brand partnerships.</a:t>
            </a:r>
          </a:p>
          <a:p>
            <a:pPr algn="l">
              <a:lnSpc>
                <a:spcPct val="180000"/>
              </a:lnSpc>
              <a:spcAft>
                <a:spcPts val="1800"/>
              </a:spcAft>
            </a:pPr>
            <a:r>
              <a:rPr sz="1250" b="0" i="0">
                <a:solidFill>
                  <a:srgbClr val="2B3038"/>
                </a:solidFill>
                <a:latin typeface="Inter"/>
              </a:rPr>
              <a:t>With a background in agricultural community development, I've had the opportunity to work across different environments—from student organizations and research projects to building a wellness community through Sawala Space.</a:t>
            </a:r>
          </a:p>
          <a:p>
            <a:pPr algn="l">
              <a:lnSpc>
                <a:spcPct val="180000"/>
              </a:lnSpc>
              <a:spcAft>
                <a:spcPts val="1800"/>
              </a:spcAft>
            </a:pPr>
            <a:r>
              <a:rPr sz="1250" b="0" i="0">
                <a:solidFill>
                  <a:srgbClr val="2B3038"/>
                </a:solidFill>
                <a:latin typeface="Inter"/>
              </a:rPr>
              <a:t>I enjoy turning ideas into clear, engaging, and purposeful creative work.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31000" y="1612900"/>
            <a:ext cx="3556000" cy="3937000"/>
          </a:xfrm>
          <a:prstGeom prst="roundRect">
            <a:avLst>
              <a:gd name="adj" fmla="val 3000"/>
            </a:avLst>
          </a:prstGeom>
          <a:solidFill>
            <a:srgbClr val="F3F5F9"/>
          </a:solidFill>
          <a:ln w="15875">
            <a:solidFill>
              <a:srgbClr val="C8D2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8B93A1"/>
                </a:solidFill>
                <a:latin typeface="Poppins"/>
              </a:rPr>
              <a:t>drop photo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700" y="5295900"/>
            <a:ext cx="444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8B93A1"/>
                </a:solidFill>
                <a:latin typeface="Space Mono"/>
              </a:rPr>
              <a:t>— based in indonesia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049000" y="3937000"/>
            <a:ext cx="474980" cy="139700"/>
          </a:xfrm>
          <a:prstGeom prst="rect">
            <a:avLst/>
          </a:prstGeom>
          <a:solidFill>
            <a:srgbClr val="FFD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049000" y="4064000"/>
            <a:ext cx="1079500" cy="698500"/>
          </a:xfrm>
          <a:prstGeom prst="rect">
            <a:avLst/>
          </a:prstGeom>
          <a:solidFill>
            <a:srgbClr val="FFD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63300" y="4064000"/>
            <a:ext cx="8509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00" b="0" i="0">
                <a:solidFill>
                  <a:srgbClr val="0D0D10"/>
                </a:solidFill>
                <a:latin typeface="Space Mono"/>
              </a:rPr>
              <a:t>me.jpg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BBD7F0"/>
              </a:gs>
              <a:gs pos="100000">
                <a:srgbClr val="DCEBF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16000" y="825500"/>
            <a:ext cx="10160000" cy="508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584200" dist="203200" dir="5400000" rotWithShape="0">
              <a:srgbClr val="24405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" y="838200"/>
            <a:ext cx="10134600" cy="3937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1100" y="977900"/>
            <a:ext cx="114300" cy="114300"/>
          </a:xfrm>
          <a:prstGeom prst="ellipse">
            <a:avLst/>
          </a:prstGeom>
          <a:solidFill>
            <a:srgbClr val="FF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8900" y="977900"/>
            <a:ext cx="114300" cy="114300"/>
          </a:xfrm>
          <a:prstGeom prst="ellipse">
            <a:avLst/>
          </a:prstGeom>
          <a:solidFill>
            <a:srgbClr val="FFB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36700" y="977900"/>
            <a:ext cx="114300" cy="11430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41500" y="927100"/>
            <a:ext cx="8509000" cy="215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41500" y="927100"/>
            <a:ext cx="8509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050" b="0" i="0">
                <a:solidFill>
                  <a:srgbClr val="8B93A1"/>
                </a:solidFill>
                <a:latin typeface="Space Mono"/>
              </a:rPr>
              <a:t>www.zahralevina.com/services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11300" y="1866900"/>
            <a:ext cx="2730500" cy="381000"/>
          </a:xfrm>
          <a:prstGeom prst="rect">
            <a:avLst/>
          </a:prstGeom>
          <a:solidFill>
            <a:srgbClr val="FFE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24000" y="1651000"/>
            <a:ext cx="5715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4800" b="0" i="0">
                <a:solidFill>
                  <a:srgbClr val="0D0D10"/>
                </a:solidFill>
                <a:latin typeface="Archivo Black"/>
              </a:rPr>
              <a:t>what i 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" y="2794000"/>
            <a:ext cx="635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 spc="400">
                <a:solidFill>
                  <a:srgbClr val="8B93A1"/>
                </a:solidFill>
                <a:latin typeface="Space Mono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4000" y="3048000"/>
            <a:ext cx="406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400" b="0" i="0">
                <a:solidFill>
                  <a:srgbClr val="0D0D10"/>
                </a:solidFill>
                <a:latin typeface="Archivo Black"/>
              </a:rPr>
              <a:t>Content &amp; Social Media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700" y="3454400"/>
            <a:ext cx="4064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250" b="0" i="0">
                <a:solidFill>
                  <a:srgbClr val="5B6472"/>
                </a:solidFill>
                <a:latin typeface="Inter"/>
              </a:rPr>
              <a:t>Content creation · social media · copywriting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24000" y="4064000"/>
            <a:ext cx="4064000" cy="8890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0" y="2794000"/>
            <a:ext cx="635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 spc="400">
                <a:solidFill>
                  <a:srgbClr val="8B93A1"/>
                </a:solidFill>
                <a:latin typeface="Space Mono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0000" y="3048000"/>
            <a:ext cx="406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400" b="0" i="0">
                <a:solidFill>
                  <a:srgbClr val="0D0D10"/>
                </a:solidFill>
                <a:latin typeface="Archivo Black"/>
              </a:rPr>
              <a:t>Creative &amp; Visual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2700" y="3454400"/>
            <a:ext cx="4064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250" b="0" i="0">
                <a:solidFill>
                  <a:srgbClr val="5B6472"/>
                </a:solidFill>
                <a:latin typeface="Inter"/>
              </a:rPr>
              <a:t>Graphic design · visual communication · campaign materials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4064000"/>
            <a:ext cx="4064000" cy="8890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24000" y="4318000"/>
            <a:ext cx="635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 spc="400">
                <a:solidFill>
                  <a:srgbClr val="8B93A1"/>
                </a:solidFill>
                <a:latin typeface="Space Mono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" y="4572000"/>
            <a:ext cx="406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400" b="0" i="0">
                <a:solidFill>
                  <a:srgbClr val="0D0D10"/>
                </a:solidFill>
                <a:latin typeface="Archivo Black"/>
              </a:rPr>
              <a:t>Marketing &amp; Events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36700" y="4978400"/>
            <a:ext cx="4064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250" b="0" i="0">
                <a:solidFill>
                  <a:srgbClr val="5B6472"/>
                </a:solidFill>
                <a:latin typeface="Inter"/>
              </a:rPr>
              <a:t>Campaign development · event management · brand partnerships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24000" y="5588000"/>
            <a:ext cx="4064000" cy="8890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0000" y="4318000"/>
            <a:ext cx="635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 spc="400">
                <a:solidFill>
                  <a:srgbClr val="8B93A1"/>
                </a:solidFill>
                <a:latin typeface="Space Mono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0" y="4572000"/>
            <a:ext cx="406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400" b="0" i="0">
                <a:solidFill>
                  <a:srgbClr val="0D0D10"/>
                </a:solidFill>
                <a:latin typeface="Archivo Black"/>
              </a:rPr>
              <a:t>Communication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2700" y="4978400"/>
            <a:ext cx="4064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250" b="0" i="0">
                <a:solidFill>
                  <a:srgbClr val="5B6472"/>
                </a:solidFill>
                <a:latin typeface="Inter"/>
              </a:rPr>
              <a:t>Community engagement · collaboration · project coordination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5588000"/>
            <a:ext cx="4064000" cy="8890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BBD7F0"/>
              </a:gs>
              <a:gs pos="100000">
                <a:srgbClr val="DCEBF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16000" y="825500"/>
            <a:ext cx="10160000" cy="508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584200" dist="203200" dir="5400000" rotWithShape="0">
              <a:srgbClr val="24405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" y="838200"/>
            <a:ext cx="10134600" cy="3937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1100" y="977900"/>
            <a:ext cx="114300" cy="114300"/>
          </a:xfrm>
          <a:prstGeom prst="ellipse">
            <a:avLst/>
          </a:prstGeom>
          <a:solidFill>
            <a:srgbClr val="FF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8900" y="977900"/>
            <a:ext cx="114300" cy="114300"/>
          </a:xfrm>
          <a:prstGeom prst="ellipse">
            <a:avLst/>
          </a:prstGeom>
          <a:solidFill>
            <a:srgbClr val="FFB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36700" y="977900"/>
            <a:ext cx="114300" cy="11430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41500" y="927100"/>
            <a:ext cx="8509000" cy="215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41500" y="927100"/>
            <a:ext cx="8509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050" b="0" i="0">
                <a:solidFill>
                  <a:srgbClr val="8B93A1"/>
                </a:solidFill>
                <a:latin typeface="Space Mono"/>
              </a:rPr>
              <a:t>www.zahralevina.com/experience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11300" y="1816100"/>
            <a:ext cx="3556000" cy="381000"/>
          </a:xfrm>
          <a:prstGeom prst="rect">
            <a:avLst/>
          </a:prstGeom>
          <a:solidFill>
            <a:srgbClr val="FFE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24000" y="1587500"/>
            <a:ext cx="6350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4400" b="0" i="0">
                <a:solidFill>
                  <a:srgbClr val="0D0D10"/>
                </a:solidFill>
                <a:latin typeface="Archivo Black"/>
              </a:rPr>
              <a:t>where i've been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" y="2628900"/>
            <a:ext cx="5715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8B93A1"/>
                </a:solidFill>
                <a:latin typeface="Space Mono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59000" y="2552700"/>
            <a:ext cx="5080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900" b="0" i="0">
                <a:solidFill>
                  <a:srgbClr val="0D0D10"/>
                </a:solidFill>
                <a:latin typeface="Archivo Black"/>
              </a:rPr>
              <a:t>Sawala 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71700" y="288290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5B6472"/>
                </a:solidFill>
                <a:latin typeface="Inter"/>
              </a:rPr>
              <a:t>Co-Founder · Creative &amp; Marketing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24000" y="3136900"/>
            <a:ext cx="9144000" cy="7620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24000" y="3263900"/>
            <a:ext cx="5715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8B93A1"/>
                </a:solidFill>
                <a:latin typeface="Space Mono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59000" y="3187700"/>
            <a:ext cx="5080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900" b="0" i="0">
                <a:solidFill>
                  <a:srgbClr val="0D0D10"/>
                </a:solidFill>
                <a:latin typeface="Archivo Black"/>
              </a:rPr>
              <a:t>Kementerian Pertanian 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71700" y="351790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5B6472"/>
                </a:solidFill>
                <a:latin typeface="Inter"/>
              </a:rPr>
              <a:t>Intern · Administration &amp; Partnership Support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24000" y="3771900"/>
            <a:ext cx="9144000" cy="7620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24000" y="3898900"/>
            <a:ext cx="5715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8B93A1"/>
                </a:solidFill>
                <a:latin typeface="Space Mono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59000" y="3822700"/>
            <a:ext cx="5080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900" b="0" i="0">
                <a:solidFill>
                  <a:srgbClr val="0D0D10"/>
                </a:solidFill>
                <a:latin typeface="Archivo Black"/>
              </a:rPr>
              <a:t>IPB University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71700" y="415290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5B6472"/>
                </a:solidFill>
                <a:latin typeface="Inter"/>
              </a:rPr>
              <a:t>Research Assistant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24000" y="4406900"/>
            <a:ext cx="9144000" cy="7620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24000" y="4533900"/>
            <a:ext cx="5715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8B93A1"/>
                </a:solidFill>
                <a:latin typeface="Space Mono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59000" y="4457700"/>
            <a:ext cx="5080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900" b="0" i="0">
                <a:solidFill>
                  <a:srgbClr val="0D0D10"/>
                </a:solidFill>
                <a:latin typeface="Archivo Black"/>
              </a:rPr>
              <a:t>Nabila Farm Lembang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71700" y="478790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5B6472"/>
                </a:solidFill>
                <a:latin typeface="Inter"/>
              </a:rPr>
              <a:t>Intern · Agriculture &amp; Content Creation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24000" y="5041900"/>
            <a:ext cx="9144000" cy="7620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24000" y="5168900"/>
            <a:ext cx="5715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8B93A1"/>
                </a:solidFill>
                <a:latin typeface="Space Mono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59000" y="5092700"/>
            <a:ext cx="5080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900" b="0" i="0">
                <a:solidFill>
                  <a:srgbClr val="0D0D10"/>
                </a:solidFill>
                <a:latin typeface="Archivo Black"/>
              </a:rPr>
              <a:t>Himpunan Mahasiswa PPP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71700" y="542290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5B6472"/>
                </a:solidFill>
                <a:latin typeface="Inter"/>
              </a:rPr>
              <a:t>Head of Media &amp; Branding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24000" y="5676900"/>
            <a:ext cx="9144000" cy="7620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BBD7F0"/>
              </a:gs>
              <a:gs pos="100000">
                <a:srgbClr val="DCEBF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16000" y="825500"/>
            <a:ext cx="10160000" cy="508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584200" dist="203200" dir="5400000" rotWithShape="0">
              <a:srgbClr val="24405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" y="838200"/>
            <a:ext cx="10134600" cy="3937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1100" y="977900"/>
            <a:ext cx="114300" cy="114300"/>
          </a:xfrm>
          <a:prstGeom prst="ellipse">
            <a:avLst/>
          </a:prstGeom>
          <a:solidFill>
            <a:srgbClr val="FF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8900" y="977900"/>
            <a:ext cx="114300" cy="114300"/>
          </a:xfrm>
          <a:prstGeom prst="ellipse">
            <a:avLst/>
          </a:prstGeom>
          <a:solidFill>
            <a:srgbClr val="FFB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36700" y="977900"/>
            <a:ext cx="114300" cy="11430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41500" y="927100"/>
            <a:ext cx="8509000" cy="215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41500" y="927100"/>
            <a:ext cx="8509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050" b="0" i="0">
                <a:solidFill>
                  <a:srgbClr val="8B93A1"/>
                </a:solidFill>
                <a:latin typeface="Space Mono"/>
              </a:rPr>
              <a:t>www.sawalaspace.com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97000" y="1587500"/>
            <a:ext cx="4064000" cy="3683000"/>
          </a:xfrm>
          <a:prstGeom prst="roundRect">
            <a:avLst>
              <a:gd name="adj" fmla="val 3000"/>
            </a:avLst>
          </a:prstGeom>
          <a:solidFill>
            <a:srgbClr val="F3F5F9"/>
          </a:solidFill>
          <a:ln w="15875">
            <a:solidFill>
              <a:srgbClr val="C8D2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8B93A1"/>
                </a:solidFill>
                <a:latin typeface="Poppins"/>
              </a:rPr>
              <a:t>drop photo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2000" y="1612900"/>
            <a:ext cx="4445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 spc="500">
                <a:solidFill>
                  <a:srgbClr val="8B93A1"/>
                </a:solidFill>
                <a:latin typeface="Space Mono"/>
              </a:rPr>
              <a:t>featured project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29300" y="2108200"/>
            <a:ext cx="3302000" cy="381000"/>
          </a:xfrm>
          <a:prstGeom prst="rect">
            <a:avLst/>
          </a:prstGeom>
          <a:solidFill>
            <a:srgbClr val="FFE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42000" y="1892300"/>
            <a:ext cx="5715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4200" b="0" i="0">
                <a:solidFill>
                  <a:srgbClr val="0D0D10"/>
                </a:solidFill>
                <a:latin typeface="Archivo Black"/>
              </a:rPr>
              <a:t>sawala 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4700" y="2781300"/>
            <a:ext cx="444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 i="0">
                <a:solidFill>
                  <a:srgbClr val="2B3038"/>
                </a:solidFill>
                <a:latin typeface="Inter"/>
              </a:rPr>
              <a:t>Wellness Community &amp; Event Organizer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4700" y="3149600"/>
            <a:ext cx="444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80000"/>
              </a:lnSpc>
              <a:spcAft>
                <a:spcPts val="0"/>
              </a:spcAft>
            </a:pPr>
            <a:r>
              <a:rPr sz="1250" b="0" i="0">
                <a:solidFill>
                  <a:srgbClr val="5B6472"/>
                </a:solidFill>
                <a:latin typeface="Inter"/>
              </a:rPr>
              <a:t>As a co-founder, I contribute to the creative and marketing side of Sawala Space, from developing event concepts and promotional content to managing brand partnerships and supporting event execution.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4700" y="4381500"/>
            <a:ext cx="254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 i="0" spc="500">
                <a:solidFill>
                  <a:srgbClr val="8B93A1"/>
                </a:solidFill>
                <a:latin typeface="Space Mono"/>
              </a:rPr>
              <a:t>role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4700" y="4635500"/>
            <a:ext cx="962025" cy="292100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spc="100">
                <a:solidFill>
                  <a:srgbClr val="0D0D10"/>
                </a:solidFill>
                <a:latin typeface="Inter"/>
              </a:rPr>
              <a:t>Content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80225" y="4635500"/>
            <a:ext cx="1485900" cy="292100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spc="100">
                <a:solidFill>
                  <a:srgbClr val="0D0D10"/>
                </a:solidFill>
                <a:latin typeface="Inter"/>
              </a:rPr>
              <a:t>Social Media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29625" y="4635500"/>
            <a:ext cx="1066800" cy="292100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spc="100">
                <a:solidFill>
                  <a:srgbClr val="0D0D10"/>
                </a:solidFill>
                <a:latin typeface="Inter"/>
              </a:rPr>
              <a:t>Campaign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4700" y="5003800"/>
            <a:ext cx="752475" cy="292100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spc="100">
                <a:solidFill>
                  <a:srgbClr val="0D0D10"/>
                </a:solidFill>
                <a:latin typeface="Inter"/>
              </a:rPr>
              <a:t>Event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0675" y="5003800"/>
            <a:ext cx="1381125" cy="292100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spc="100">
                <a:solidFill>
                  <a:srgbClr val="0D0D10"/>
                </a:solidFill>
                <a:latin typeface="Inter"/>
              </a:rPr>
              <a:t>Partnership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5300" y="5003800"/>
            <a:ext cx="1066800" cy="292100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spc="100">
                <a:solidFill>
                  <a:srgbClr val="0D0D10"/>
                </a:solidFill>
                <a:latin typeface="Inter"/>
              </a:rPr>
              <a:t>Branding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BBD7F0"/>
              </a:gs>
              <a:gs pos="100000">
                <a:srgbClr val="DCEBF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762000"/>
            <a:ext cx="10668000" cy="52705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584200" dist="203200" dir="5400000" rotWithShape="0">
              <a:srgbClr val="24405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4700" y="774700"/>
            <a:ext cx="10642600" cy="3937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27100" y="914400"/>
            <a:ext cx="114300" cy="114300"/>
          </a:xfrm>
          <a:prstGeom prst="ellipse">
            <a:avLst/>
          </a:prstGeom>
          <a:solidFill>
            <a:srgbClr val="FF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4900" y="914400"/>
            <a:ext cx="114300" cy="114300"/>
          </a:xfrm>
          <a:prstGeom prst="ellipse">
            <a:avLst/>
          </a:prstGeom>
          <a:solidFill>
            <a:srgbClr val="FFB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82700" y="914400"/>
            <a:ext cx="114300" cy="11430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587500" y="863600"/>
            <a:ext cx="9017000" cy="215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87500" y="863600"/>
            <a:ext cx="9017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050" b="0" i="0">
                <a:solidFill>
                  <a:srgbClr val="8B93A1"/>
                </a:solidFill>
                <a:latin typeface="Space Mono"/>
              </a:rPr>
              <a:t>www.zahralevina.com/work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30300" y="1663700"/>
            <a:ext cx="2667000" cy="355600"/>
          </a:xfrm>
          <a:prstGeom prst="rect">
            <a:avLst/>
          </a:prstGeom>
          <a:solidFill>
            <a:srgbClr val="FFE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1473200"/>
            <a:ext cx="5715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4000" b="0" i="0">
                <a:solidFill>
                  <a:srgbClr val="0D0D10"/>
                </a:solidFill>
                <a:latin typeface="Archivo Black"/>
              </a:rPr>
              <a:t>my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5700" y="2235200"/>
            <a:ext cx="698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150" b="0" i="0">
                <a:solidFill>
                  <a:srgbClr val="5B6472"/>
                </a:solidFill>
                <a:latin typeface="Inter"/>
              </a:rPr>
              <a:t>A selection of social media content, event materials, promotional visuals, and other creative work I've developed across different projects.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2806700"/>
            <a:ext cx="2336800" cy="1181100"/>
          </a:xfrm>
          <a:prstGeom prst="roundRect">
            <a:avLst>
              <a:gd name="adj" fmla="val 4000"/>
            </a:avLst>
          </a:prstGeom>
          <a:solidFill>
            <a:srgbClr val="F3F5F9"/>
          </a:solidFill>
          <a:ln w="15875">
            <a:solidFill>
              <a:srgbClr val="C8D2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8B93A1"/>
                </a:solidFill>
                <a:latin typeface="Poppins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8400" y="40386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00" b="0" i="0">
                <a:solidFill>
                  <a:srgbClr val="8B93A1"/>
                </a:solidFill>
                <a:latin typeface="Space Mono"/>
              </a:rPr>
              <a:t>ig carousel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83000" y="2806700"/>
            <a:ext cx="2336800" cy="1181100"/>
          </a:xfrm>
          <a:prstGeom prst="roundRect">
            <a:avLst>
              <a:gd name="adj" fmla="val 4000"/>
            </a:avLst>
          </a:prstGeom>
          <a:solidFill>
            <a:srgbClr val="F3F5F9"/>
          </a:solidFill>
          <a:ln w="15875">
            <a:solidFill>
              <a:srgbClr val="C8D2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8B93A1"/>
                </a:solidFill>
                <a:latin typeface="Poppins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8400" y="40386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00" b="0" i="0">
                <a:solidFill>
                  <a:srgbClr val="8B93A1"/>
                </a:solidFill>
                <a:latin typeface="Space Mono"/>
              </a:rPr>
              <a:t>event poster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3000" y="2806700"/>
            <a:ext cx="2336800" cy="1181100"/>
          </a:xfrm>
          <a:prstGeom prst="roundRect">
            <a:avLst>
              <a:gd name="adj" fmla="val 4000"/>
            </a:avLst>
          </a:prstGeom>
          <a:solidFill>
            <a:srgbClr val="F3F5F9"/>
          </a:solidFill>
          <a:ln w="15875">
            <a:solidFill>
              <a:srgbClr val="C8D2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8B93A1"/>
                </a:solidFill>
                <a:latin typeface="Poppins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40386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00" b="0" i="0">
                <a:solidFill>
                  <a:srgbClr val="8B93A1"/>
                </a:solidFill>
                <a:latin typeface="Space Mono"/>
              </a:rPr>
              <a:t>reels cover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63000" y="2806700"/>
            <a:ext cx="2336800" cy="1181100"/>
          </a:xfrm>
          <a:prstGeom prst="roundRect">
            <a:avLst>
              <a:gd name="adj" fmla="val 4000"/>
            </a:avLst>
          </a:prstGeom>
          <a:solidFill>
            <a:srgbClr val="F3F5F9"/>
          </a:solidFill>
          <a:ln w="15875">
            <a:solidFill>
              <a:srgbClr val="C8D2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8B93A1"/>
                </a:solidFill>
                <a:latin typeface="Poppin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88400" y="40386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00" b="0" i="0">
                <a:solidFill>
                  <a:srgbClr val="8B93A1"/>
                </a:solidFill>
                <a:latin typeface="Space Mono"/>
              </a:rPr>
              <a:t>brand kit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4330700"/>
            <a:ext cx="2336800" cy="1181100"/>
          </a:xfrm>
          <a:prstGeom prst="roundRect">
            <a:avLst>
              <a:gd name="adj" fmla="val 4000"/>
            </a:avLst>
          </a:prstGeom>
          <a:solidFill>
            <a:srgbClr val="F3F5F9"/>
          </a:solidFill>
          <a:ln w="15875">
            <a:solidFill>
              <a:srgbClr val="C8D2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8B93A1"/>
                </a:solidFill>
                <a:latin typeface="Poppins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8400" y="55626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00" b="0" i="0">
                <a:solidFill>
                  <a:srgbClr val="8B93A1"/>
                </a:solidFill>
                <a:latin typeface="Space Mono"/>
              </a:rPr>
              <a:t>feed layout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83000" y="4330700"/>
            <a:ext cx="2336800" cy="1181100"/>
          </a:xfrm>
          <a:prstGeom prst="roundRect">
            <a:avLst>
              <a:gd name="adj" fmla="val 4000"/>
            </a:avLst>
          </a:prstGeom>
          <a:solidFill>
            <a:srgbClr val="F3F5F9"/>
          </a:solidFill>
          <a:ln w="15875">
            <a:solidFill>
              <a:srgbClr val="C8D2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8B93A1"/>
                </a:solidFill>
                <a:latin typeface="Poppins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8400" y="55626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00" b="0" i="0">
                <a:solidFill>
                  <a:srgbClr val="8B93A1"/>
                </a:solidFill>
                <a:latin typeface="Space Mono"/>
              </a:rPr>
              <a:t>promo flyer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23000" y="4330700"/>
            <a:ext cx="2336800" cy="1181100"/>
          </a:xfrm>
          <a:prstGeom prst="roundRect">
            <a:avLst>
              <a:gd name="adj" fmla="val 4000"/>
            </a:avLst>
          </a:prstGeom>
          <a:solidFill>
            <a:srgbClr val="F3F5F9"/>
          </a:solidFill>
          <a:ln w="15875">
            <a:solidFill>
              <a:srgbClr val="C8D2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8B93A1"/>
                </a:solidFill>
                <a:latin typeface="Poppin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8400" y="55626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00" b="0" i="0">
                <a:solidFill>
                  <a:srgbClr val="8B93A1"/>
                </a:solidFill>
                <a:latin typeface="Space Mono"/>
              </a:rPr>
              <a:t>campaign visual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63000" y="4330700"/>
            <a:ext cx="2336800" cy="1181100"/>
          </a:xfrm>
          <a:prstGeom prst="roundRect">
            <a:avLst>
              <a:gd name="adj" fmla="val 4000"/>
            </a:avLst>
          </a:prstGeom>
          <a:solidFill>
            <a:srgbClr val="F3F5F9"/>
          </a:solidFill>
          <a:ln w="15875">
            <a:solidFill>
              <a:srgbClr val="C8D2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8B93A1"/>
                </a:solidFill>
                <a:latin typeface="Poppins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88400" y="55626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00" b="0" i="0">
                <a:solidFill>
                  <a:srgbClr val="8B93A1"/>
                </a:solidFill>
                <a:latin typeface="Space Mono"/>
              </a:rPr>
              <a:t>merch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BBD7F0"/>
              </a:gs>
              <a:gs pos="100000">
                <a:srgbClr val="DCEBF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16000" y="825500"/>
            <a:ext cx="10160000" cy="508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584200" dist="203200" dir="5400000" rotWithShape="0">
              <a:srgbClr val="24405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" y="838200"/>
            <a:ext cx="10134600" cy="3937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1100" y="977900"/>
            <a:ext cx="114300" cy="114300"/>
          </a:xfrm>
          <a:prstGeom prst="ellipse">
            <a:avLst/>
          </a:prstGeom>
          <a:solidFill>
            <a:srgbClr val="FF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8900" y="977900"/>
            <a:ext cx="114300" cy="114300"/>
          </a:xfrm>
          <a:prstGeom prst="ellipse">
            <a:avLst/>
          </a:prstGeom>
          <a:solidFill>
            <a:srgbClr val="FFB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36700" y="977900"/>
            <a:ext cx="114300" cy="11430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41500" y="927100"/>
            <a:ext cx="8509000" cy="215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41500" y="927100"/>
            <a:ext cx="8509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050" b="0" i="0">
                <a:solidFill>
                  <a:srgbClr val="8B93A1"/>
                </a:solidFill>
                <a:latin typeface="Space Mono"/>
              </a:rPr>
              <a:t>www.zahralevina.com/stretch-for-stray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97000" y="1587500"/>
            <a:ext cx="3302000" cy="3683000"/>
          </a:xfrm>
          <a:prstGeom prst="roundRect">
            <a:avLst>
              <a:gd name="adj" fmla="val 3000"/>
            </a:avLst>
          </a:prstGeom>
          <a:solidFill>
            <a:srgbClr val="F3F5F9"/>
          </a:solidFill>
          <a:ln w="15875">
            <a:solidFill>
              <a:srgbClr val="C8D2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8B93A1"/>
                </a:solidFill>
                <a:latin typeface="Poppins"/>
              </a:rPr>
              <a:t>drop poster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0" y="1612900"/>
            <a:ext cx="444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 spc="500">
                <a:solidFill>
                  <a:srgbClr val="8B93A1"/>
                </a:solidFill>
                <a:latin typeface="Space Mono"/>
              </a:rPr>
              <a:t>wellness × social impact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67300" y="2108200"/>
            <a:ext cx="4064000" cy="381000"/>
          </a:xfrm>
          <a:prstGeom prst="rect">
            <a:avLst/>
          </a:prstGeom>
          <a:solidFill>
            <a:srgbClr val="FFE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80000" y="1892300"/>
            <a:ext cx="6350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4000" b="0" i="0">
                <a:solidFill>
                  <a:srgbClr val="0D0D10"/>
                </a:solidFill>
                <a:latin typeface="Archivo Black"/>
              </a:rPr>
              <a:t>stretch for stray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2700" y="2794000"/>
            <a:ext cx="4826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350" b="0" i="0">
                <a:solidFill>
                  <a:srgbClr val="2B3038"/>
                </a:solidFill>
                <a:latin typeface="Inter"/>
              </a:rPr>
              <a:t>A wellness event combining movement, community, and support for animal welfare.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92700" y="3517900"/>
            <a:ext cx="317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 i="0" spc="500">
                <a:solidFill>
                  <a:srgbClr val="8B93A1"/>
                </a:solidFill>
                <a:latin typeface="Space Mono"/>
              </a:rPr>
              <a:t>my contribution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92700" y="3898900"/>
            <a:ext cx="114300" cy="114300"/>
          </a:xfrm>
          <a:prstGeom prst="roundRect">
            <a:avLst>
              <a:gd name="adj" fmla="val 40000"/>
            </a:avLst>
          </a:prstGeom>
          <a:solidFill>
            <a:srgbClr val="FFE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72100" y="3810000"/>
            <a:ext cx="4064000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2B3038"/>
                </a:solidFill>
                <a:latin typeface="Inter"/>
              </a:rPr>
              <a:t>Campaign concept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92700" y="4241800"/>
            <a:ext cx="114300" cy="114300"/>
          </a:xfrm>
          <a:prstGeom prst="roundRect">
            <a:avLst>
              <a:gd name="adj" fmla="val 40000"/>
            </a:avLst>
          </a:prstGeom>
          <a:solidFill>
            <a:srgbClr val="FFE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72100" y="4152900"/>
            <a:ext cx="4064000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2B3038"/>
                </a:solidFill>
                <a:latin typeface="Inter"/>
              </a:rPr>
              <a:t>Event promotion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92700" y="4584700"/>
            <a:ext cx="114300" cy="114300"/>
          </a:xfrm>
          <a:prstGeom prst="roundRect">
            <a:avLst>
              <a:gd name="adj" fmla="val 40000"/>
            </a:avLst>
          </a:prstGeom>
          <a:solidFill>
            <a:srgbClr val="FFE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72100" y="4495800"/>
            <a:ext cx="4064000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2B3038"/>
                </a:solidFill>
                <a:latin typeface="Inter"/>
              </a:rPr>
              <a:t>Social media content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92700" y="4927600"/>
            <a:ext cx="114300" cy="114300"/>
          </a:xfrm>
          <a:prstGeom prst="roundRect">
            <a:avLst>
              <a:gd name="adj" fmla="val 40000"/>
            </a:avLst>
          </a:prstGeom>
          <a:solidFill>
            <a:srgbClr val="FFE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72100" y="4838700"/>
            <a:ext cx="4064000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2B3038"/>
                </a:solidFill>
                <a:latin typeface="Inter"/>
              </a:rPr>
              <a:t>Partnership communication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92700" y="5270500"/>
            <a:ext cx="114300" cy="114300"/>
          </a:xfrm>
          <a:prstGeom prst="roundRect">
            <a:avLst>
              <a:gd name="adj" fmla="val 40000"/>
            </a:avLst>
          </a:prstGeom>
          <a:solidFill>
            <a:srgbClr val="FFE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72100" y="5181600"/>
            <a:ext cx="4064000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2B3038"/>
                </a:solidFill>
                <a:latin typeface="Inter"/>
              </a:rPr>
              <a:t>Event coordination</a:t>
            </a:r>
          </a:p>
        </p:txBody>
      </p:sp>
      <p:sp>
        <p:nvSpPr>
          <p:cNvPr id="26" name="Rounded Rectangle 25"/>
          <p:cNvSpPr/>
          <p:nvPr/>
        </p:nvSpPr>
        <p:spPr>
          <a:xfrm rot="360000">
            <a:off x="8509000" y="3644900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FFD3E4"/>
          </a:solidFill>
          <a:ln w="15875">
            <a:solidFill>
              <a:srgbClr val="E7B9C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8A6478"/>
                </a:solidFill>
                <a:latin typeface="Poppins"/>
              </a:rPr>
              <a:t>documentation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BBD7F0"/>
              </a:gs>
              <a:gs pos="100000">
                <a:srgbClr val="DCEBF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16000" y="825500"/>
            <a:ext cx="10160000" cy="508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584200" dist="203200" dir="5400000" rotWithShape="0">
              <a:srgbClr val="24405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" y="838200"/>
            <a:ext cx="10134600" cy="3937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1100" y="977900"/>
            <a:ext cx="114300" cy="114300"/>
          </a:xfrm>
          <a:prstGeom prst="ellipse">
            <a:avLst/>
          </a:prstGeom>
          <a:solidFill>
            <a:srgbClr val="FF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8900" y="977900"/>
            <a:ext cx="114300" cy="114300"/>
          </a:xfrm>
          <a:prstGeom prst="ellipse">
            <a:avLst/>
          </a:prstGeom>
          <a:solidFill>
            <a:srgbClr val="FFB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36700" y="977900"/>
            <a:ext cx="114300" cy="11430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41500" y="927100"/>
            <a:ext cx="8509000" cy="215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41500" y="927100"/>
            <a:ext cx="8509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050" b="0" i="0">
                <a:solidFill>
                  <a:srgbClr val="8B93A1"/>
                </a:solidFill>
                <a:latin typeface="Space Mono"/>
              </a:rPr>
              <a:t>www.zahralevina.com/more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11300" y="1714500"/>
            <a:ext cx="3937000" cy="355600"/>
          </a:xfrm>
          <a:prstGeom prst="rect">
            <a:avLst/>
          </a:prstGeom>
          <a:solidFill>
            <a:srgbClr val="FFE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24000" y="1536700"/>
            <a:ext cx="6350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3600" b="0" i="0">
                <a:solidFill>
                  <a:srgbClr val="0D0D10"/>
                </a:solidFill>
                <a:latin typeface="Archivo Black"/>
              </a:rPr>
              <a:t>beyond creative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700" y="2247900"/>
            <a:ext cx="762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00" b="0" i="0">
                <a:solidFill>
                  <a:srgbClr val="5B6472"/>
                </a:solidFill>
                <a:latin typeface="Inter"/>
              </a:rPr>
              <a:t>My creative experience also grew through student organizations, academic projects, and collaborative work.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24000" y="2819400"/>
            <a:ext cx="2794000" cy="24130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24000" y="2819400"/>
            <a:ext cx="2794000" cy="63500"/>
          </a:xfrm>
          <a:prstGeom prst="rect">
            <a:avLst/>
          </a:prstGeom>
          <a:solidFill>
            <a:srgbClr val="FFE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14500" y="3086100"/>
            <a:ext cx="63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8B93A1"/>
                </a:solidFill>
                <a:latin typeface="Space Mono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14500" y="3390900"/>
            <a:ext cx="24130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 i="0">
                <a:solidFill>
                  <a:srgbClr val="0D0D10"/>
                </a:solidFill>
                <a:latin typeface="Archivo Black"/>
              </a:rPr>
              <a:t>Himpunan Mahasiswa PPP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27200" y="4279900"/>
            <a:ext cx="2413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150" b="0" i="0">
                <a:solidFill>
                  <a:srgbClr val="5B6472"/>
                </a:solidFill>
                <a:latin typeface="Inter"/>
              </a:rPr>
              <a:t>Head of Media &amp; Branding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35500" y="2819400"/>
            <a:ext cx="2794000" cy="24130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35500" y="2819400"/>
            <a:ext cx="2794000" cy="63500"/>
          </a:xfrm>
          <a:prstGeom prst="rect">
            <a:avLst/>
          </a:prstGeom>
          <a:solidFill>
            <a:srgbClr val="FFD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26000" y="3086100"/>
            <a:ext cx="63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8B93A1"/>
                </a:solidFill>
                <a:latin typeface="Space Mono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6000" y="3390900"/>
            <a:ext cx="24130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 i="0">
                <a:solidFill>
                  <a:srgbClr val="0D0D10"/>
                </a:solidFill>
                <a:latin typeface="Archivo Black"/>
              </a:rPr>
              <a:t>Pekan Seni Budaya IPB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38700" y="4279900"/>
            <a:ext cx="2413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150" b="0" i="0">
                <a:solidFill>
                  <a:srgbClr val="5B6472"/>
                </a:solidFill>
                <a:latin typeface="Inter"/>
              </a:rPr>
              <a:t>Vice Head / Staff DKV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47000" y="2819400"/>
            <a:ext cx="2794000" cy="24130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47000" y="2819400"/>
            <a:ext cx="2794000" cy="63500"/>
          </a:xfrm>
          <a:prstGeom prst="rect">
            <a:avLst/>
          </a:prstGeom>
          <a:solidFill>
            <a:srgbClr val="D7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37500" y="3086100"/>
            <a:ext cx="63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8B93A1"/>
                </a:solidFill>
                <a:latin typeface="Space Mono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37500" y="3390900"/>
            <a:ext cx="24130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 i="0">
                <a:solidFill>
                  <a:srgbClr val="0D0D10"/>
                </a:solidFill>
                <a:latin typeface="Archivo Black"/>
              </a:rPr>
              <a:t>Academic &amp; Research Projects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0200" y="4279900"/>
            <a:ext cx="2413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150" b="0" i="0">
                <a:solidFill>
                  <a:srgbClr val="5B6472"/>
                </a:solidFill>
                <a:latin typeface="Inter"/>
              </a:rPr>
              <a:t>Visual communication · presentation · documentation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BBD7F0"/>
              </a:gs>
              <a:gs pos="100000">
                <a:srgbClr val="DCEBF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16000" y="825500"/>
            <a:ext cx="10160000" cy="508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584200" dist="203200" dir="5400000" rotWithShape="0">
              <a:srgbClr val="24405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8700" y="838200"/>
            <a:ext cx="10134600" cy="3937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1100" y="977900"/>
            <a:ext cx="114300" cy="114300"/>
          </a:xfrm>
          <a:prstGeom prst="ellipse">
            <a:avLst/>
          </a:prstGeom>
          <a:solidFill>
            <a:srgbClr val="FF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8900" y="977900"/>
            <a:ext cx="114300" cy="114300"/>
          </a:xfrm>
          <a:prstGeom prst="ellipse">
            <a:avLst/>
          </a:prstGeom>
          <a:solidFill>
            <a:srgbClr val="FFB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36700" y="977900"/>
            <a:ext cx="114300" cy="11430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41500" y="927100"/>
            <a:ext cx="8509000" cy="215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41500" y="927100"/>
            <a:ext cx="8509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050" b="0" i="0">
                <a:solidFill>
                  <a:srgbClr val="8B93A1"/>
                </a:solidFill>
                <a:latin typeface="Space Mono"/>
              </a:rPr>
              <a:t>www.zahralevina.com/skills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11300" y="1714500"/>
            <a:ext cx="2921000" cy="355600"/>
          </a:xfrm>
          <a:prstGeom prst="rect">
            <a:avLst/>
          </a:prstGeom>
          <a:solidFill>
            <a:srgbClr val="FFE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24000" y="1536700"/>
            <a:ext cx="5715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3800" b="0" i="0">
                <a:solidFill>
                  <a:srgbClr val="0D0D10"/>
                </a:solidFill>
                <a:latin typeface="Archivo Black"/>
              </a:rPr>
              <a:t>skills &amp;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" y="2286000"/>
            <a:ext cx="254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 spc="500">
                <a:solidFill>
                  <a:srgbClr val="8B93A1"/>
                </a:solidFill>
                <a:latin typeface="Space Mono"/>
              </a:rPr>
              <a:t>creative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24000" y="2578100"/>
            <a:ext cx="3937000" cy="7620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24000" y="2743200"/>
            <a:ext cx="3175000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2B3038"/>
                </a:solidFill>
                <a:latin typeface="Inter"/>
              </a:rPr>
              <a:t>Graphic Design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45000" y="2857500"/>
            <a:ext cx="1016000" cy="63500"/>
          </a:xfrm>
          <a:prstGeom prst="roundRect">
            <a:avLst>
              <a:gd name="adj" fmla="val 50000"/>
            </a:avLst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45000" y="2857500"/>
            <a:ext cx="1016000" cy="63500"/>
          </a:xfrm>
          <a:prstGeom prst="roundRect">
            <a:avLst>
              <a:gd name="adj" fmla="val 50000"/>
            </a:avLst>
          </a:prstGeom>
          <a:solidFill>
            <a:srgbClr val="0D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24000" y="3213100"/>
            <a:ext cx="3175000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2B3038"/>
                </a:solidFill>
                <a:latin typeface="Inter"/>
              </a:rPr>
              <a:t>Copywriting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5000" y="3327400"/>
            <a:ext cx="1016000" cy="63500"/>
          </a:xfrm>
          <a:prstGeom prst="roundRect">
            <a:avLst>
              <a:gd name="adj" fmla="val 50000"/>
            </a:avLst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45000" y="3327400"/>
            <a:ext cx="927100" cy="63500"/>
          </a:xfrm>
          <a:prstGeom prst="roundRect">
            <a:avLst>
              <a:gd name="adj" fmla="val 50000"/>
            </a:avLst>
          </a:prstGeom>
          <a:solidFill>
            <a:srgbClr val="0D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24000" y="3683000"/>
            <a:ext cx="3175000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2B3038"/>
                </a:solidFill>
                <a:latin typeface="Inter"/>
              </a:rPr>
              <a:t>Content Creation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45000" y="3797300"/>
            <a:ext cx="1016000" cy="63500"/>
          </a:xfrm>
          <a:prstGeom prst="roundRect">
            <a:avLst>
              <a:gd name="adj" fmla="val 50000"/>
            </a:avLst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45000" y="3797300"/>
            <a:ext cx="838200" cy="63500"/>
          </a:xfrm>
          <a:prstGeom prst="roundRect">
            <a:avLst>
              <a:gd name="adj" fmla="val 50000"/>
            </a:avLst>
          </a:prstGeom>
          <a:solidFill>
            <a:srgbClr val="0D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24000" y="4152900"/>
            <a:ext cx="3175000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2B3038"/>
                </a:solidFill>
                <a:latin typeface="Inter"/>
              </a:rPr>
              <a:t>Visual Communication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5000" y="4267200"/>
            <a:ext cx="1016000" cy="63500"/>
          </a:xfrm>
          <a:prstGeom prst="roundRect">
            <a:avLst>
              <a:gd name="adj" fmla="val 50000"/>
            </a:avLst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445000" y="4267200"/>
            <a:ext cx="749300" cy="63500"/>
          </a:xfrm>
          <a:prstGeom prst="roundRect">
            <a:avLst>
              <a:gd name="adj" fmla="val 50000"/>
            </a:avLst>
          </a:prstGeom>
          <a:solidFill>
            <a:srgbClr val="0D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23000" y="2286000"/>
            <a:ext cx="254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 spc="500">
                <a:solidFill>
                  <a:srgbClr val="8B93A1"/>
                </a:solidFill>
                <a:latin typeface="Space Mono"/>
              </a:rPr>
              <a:t>marketing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23000" y="2578100"/>
            <a:ext cx="3937000" cy="7620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23000" y="2743200"/>
            <a:ext cx="3175000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2B3038"/>
                </a:solidFill>
                <a:latin typeface="Inter"/>
              </a:rPr>
              <a:t>Social Media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0" y="2857500"/>
            <a:ext cx="1016000" cy="63500"/>
          </a:xfrm>
          <a:prstGeom prst="roundRect">
            <a:avLst>
              <a:gd name="adj" fmla="val 50000"/>
            </a:avLst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144000" y="2857500"/>
            <a:ext cx="1016000" cy="63500"/>
          </a:xfrm>
          <a:prstGeom prst="roundRect">
            <a:avLst>
              <a:gd name="adj" fmla="val 50000"/>
            </a:avLst>
          </a:prstGeom>
          <a:solidFill>
            <a:srgbClr val="0D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23000" y="3213100"/>
            <a:ext cx="3175000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2B3038"/>
                </a:solidFill>
                <a:latin typeface="Inter"/>
              </a:rPr>
              <a:t>Campaign Development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0" y="3327400"/>
            <a:ext cx="1016000" cy="63500"/>
          </a:xfrm>
          <a:prstGeom prst="roundRect">
            <a:avLst>
              <a:gd name="adj" fmla="val 50000"/>
            </a:avLst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44000" y="3327400"/>
            <a:ext cx="927100" cy="63500"/>
          </a:xfrm>
          <a:prstGeom prst="roundRect">
            <a:avLst>
              <a:gd name="adj" fmla="val 50000"/>
            </a:avLst>
          </a:prstGeom>
          <a:solidFill>
            <a:srgbClr val="0D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23000" y="3683000"/>
            <a:ext cx="3175000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2B3038"/>
                </a:solidFill>
                <a:latin typeface="Inter"/>
              </a:rPr>
              <a:t>Event Management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3797300"/>
            <a:ext cx="1016000" cy="63500"/>
          </a:xfrm>
          <a:prstGeom prst="roundRect">
            <a:avLst>
              <a:gd name="adj" fmla="val 50000"/>
            </a:avLst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44000" y="3797300"/>
            <a:ext cx="838200" cy="63500"/>
          </a:xfrm>
          <a:prstGeom prst="roundRect">
            <a:avLst>
              <a:gd name="adj" fmla="val 50000"/>
            </a:avLst>
          </a:prstGeom>
          <a:solidFill>
            <a:srgbClr val="0D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4152900"/>
            <a:ext cx="3175000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2B3038"/>
                </a:solidFill>
                <a:latin typeface="Inter"/>
              </a:rPr>
              <a:t>Partnership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0" y="4267200"/>
            <a:ext cx="1016000" cy="63500"/>
          </a:xfrm>
          <a:prstGeom prst="roundRect">
            <a:avLst>
              <a:gd name="adj" fmla="val 50000"/>
            </a:avLst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144000" y="4267200"/>
            <a:ext cx="749300" cy="63500"/>
          </a:xfrm>
          <a:prstGeom prst="roundRect">
            <a:avLst>
              <a:gd name="adj" fmla="val 50000"/>
            </a:avLst>
          </a:prstGeom>
          <a:solidFill>
            <a:srgbClr val="0D0D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524000" y="4914900"/>
            <a:ext cx="254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 spc="500">
                <a:solidFill>
                  <a:srgbClr val="8B93A1"/>
                </a:solidFill>
                <a:latin typeface="Space Mono"/>
              </a:rPr>
              <a:t>tools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524000" y="5181600"/>
            <a:ext cx="823912" cy="304800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100">
                <a:solidFill>
                  <a:srgbClr val="0D0D10"/>
                </a:solidFill>
                <a:latin typeface="Inter"/>
              </a:rPr>
              <a:t>Canva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436812" y="5181600"/>
            <a:ext cx="2130742" cy="304800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100">
                <a:solidFill>
                  <a:srgbClr val="0D0D10"/>
                </a:solidFill>
                <a:latin typeface="Inter"/>
              </a:rPr>
              <a:t>Adobe Illustrator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656455" y="5181600"/>
            <a:ext cx="1912938" cy="304800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100">
                <a:solidFill>
                  <a:srgbClr val="0D0D10"/>
                </a:solidFill>
                <a:latin typeface="Inter"/>
              </a:rPr>
              <a:t>Adobe Photoshop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658292" y="5181600"/>
            <a:ext cx="932815" cy="304800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100">
                <a:solidFill>
                  <a:srgbClr val="0D0D10"/>
                </a:solidFill>
                <a:latin typeface="Inter"/>
              </a:rPr>
              <a:t>CapCut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524000" y="5588000"/>
            <a:ext cx="2021840" cy="304800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100">
                <a:solidFill>
                  <a:srgbClr val="0D0D10"/>
                </a:solidFill>
                <a:latin typeface="Inter"/>
              </a:rPr>
              <a:t>Microsoft Office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634740" y="5588000"/>
            <a:ext cx="2021840" cy="304800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100">
                <a:solidFill>
                  <a:srgbClr val="0D0D10"/>
                </a:solidFill>
                <a:latin typeface="Inter"/>
              </a:rPr>
              <a:t>Google Workspace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745480" y="5588000"/>
            <a:ext cx="1041718" cy="304800"/>
          </a:xfrm>
          <a:prstGeom prst="roundRect">
            <a:avLst>
              <a:gd name="adj" fmla="val 5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 spc="100">
                <a:solidFill>
                  <a:srgbClr val="0D0D10"/>
                </a:solidFill>
                <a:latin typeface="Inter"/>
              </a:rPr>
              <a:t>Minitab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BBD7F0"/>
              </a:gs>
              <a:gs pos="100000">
                <a:srgbClr val="DCEBF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905000" y="889000"/>
            <a:ext cx="838200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584200" dist="203200" dir="5400000" rotWithShape="0">
              <a:srgbClr val="24405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17700" y="901700"/>
            <a:ext cx="8356600" cy="393700"/>
          </a:xfrm>
          <a:prstGeom prst="rect">
            <a:avLst/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070100" y="1041400"/>
            <a:ext cx="114300" cy="114300"/>
          </a:xfrm>
          <a:prstGeom prst="ellipse">
            <a:avLst/>
          </a:prstGeom>
          <a:solidFill>
            <a:srgbClr val="FF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47900" y="1041400"/>
            <a:ext cx="114300" cy="114300"/>
          </a:xfrm>
          <a:prstGeom prst="ellipse">
            <a:avLst/>
          </a:prstGeom>
          <a:solidFill>
            <a:srgbClr val="FFB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425700" y="1041400"/>
            <a:ext cx="114300" cy="114300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30500" y="990600"/>
            <a:ext cx="6731000" cy="215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30500" y="990600"/>
            <a:ext cx="6731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050" b="0" i="0">
                <a:solidFill>
                  <a:srgbClr val="8B93A1"/>
                </a:solidFill>
                <a:latin typeface="Space Mono"/>
              </a:rPr>
              <a:t>mail — new message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13000" y="1803400"/>
            <a:ext cx="4445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 spc="600">
                <a:solidFill>
                  <a:srgbClr val="8B93A1"/>
                </a:solidFill>
                <a:latin typeface="Space Mono"/>
              </a:rPr>
              <a:t>say hi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00300" y="2362200"/>
            <a:ext cx="4445000" cy="457200"/>
          </a:xfrm>
          <a:prstGeom prst="rect">
            <a:avLst/>
          </a:prstGeom>
          <a:solidFill>
            <a:srgbClr val="FFE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13000" y="2082800"/>
            <a:ext cx="6985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5000" b="0" i="0">
                <a:solidFill>
                  <a:srgbClr val="0D0D10"/>
                </a:solidFill>
                <a:latin typeface="Archivo Black"/>
              </a:rPr>
              <a:t>let's work together.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5700" y="3124200"/>
            <a:ext cx="5715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5000"/>
              </a:lnSpc>
              <a:spcAft>
                <a:spcPts val="0"/>
              </a:spcAft>
            </a:pPr>
            <a:r>
              <a:rPr sz="1300" b="0" i="0">
                <a:solidFill>
                  <a:srgbClr val="5B6472"/>
                </a:solidFill>
                <a:latin typeface="Inter"/>
              </a:rPr>
              <a:t>Thank you for taking the time to explore my work. I'm always open to new creative opportunities, collaborations, and projects.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5700" y="3911600"/>
            <a:ext cx="13970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 i="0" spc="400">
                <a:solidFill>
                  <a:srgbClr val="8B93A1"/>
                </a:solidFill>
                <a:latin typeface="Space Mono"/>
              </a:rPr>
              <a:t>whatsapp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7000" y="3911600"/>
            <a:ext cx="50800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 i="0">
                <a:solidFill>
                  <a:srgbClr val="0D0D10"/>
                </a:solidFill>
                <a:latin typeface="Inter"/>
              </a:rPr>
              <a:t>+62 8xx-xxxx-xxxx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25700" y="4267200"/>
            <a:ext cx="7239000" cy="6350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25700" y="4368800"/>
            <a:ext cx="13970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 i="0" spc="400">
                <a:solidFill>
                  <a:srgbClr val="8B93A1"/>
                </a:solidFill>
                <a:latin typeface="Space Mono"/>
              </a:rPr>
              <a:t>email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7000" y="4368800"/>
            <a:ext cx="50800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 i="0">
                <a:solidFill>
                  <a:srgbClr val="0D0D10"/>
                </a:solidFill>
                <a:latin typeface="Inter"/>
              </a:rPr>
              <a:t>hello@email.com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5700" y="4724400"/>
            <a:ext cx="7239000" cy="6350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25700" y="4826000"/>
            <a:ext cx="13970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 i="0" spc="400">
                <a:solidFill>
                  <a:srgbClr val="8B93A1"/>
                </a:solidFill>
                <a:latin typeface="Space Mono"/>
              </a:rPr>
              <a:t>linkedin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7000" y="4826000"/>
            <a:ext cx="50800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 i="0">
                <a:solidFill>
                  <a:srgbClr val="0D0D10"/>
                </a:solidFill>
                <a:latin typeface="Inter"/>
              </a:rPr>
              <a:t>linkedin.com/in/username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25700" y="5181600"/>
            <a:ext cx="7239000" cy="6350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25700" y="5334000"/>
            <a:ext cx="381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0" i="0">
                <a:solidFill>
                  <a:srgbClr val="0D0D10"/>
                </a:solidFill>
                <a:latin typeface="Archivo Black"/>
              </a:rPr>
              <a:t>zahra levina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91000" y="6146800"/>
            <a:ext cx="3810000" cy="5588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>
            <a:outerShdw blurRad="381000" dist="127000" dir="5400000" rotWithShape="0">
              <a:srgbClr val="24405E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81500" y="6235700"/>
            <a:ext cx="381000" cy="381000"/>
          </a:xfrm>
          <a:prstGeom prst="roundRect">
            <a:avLst>
              <a:gd name="adj" fmla="val 26000"/>
            </a:avLst>
          </a:prstGeom>
          <a:solidFill>
            <a:srgbClr val="F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965700" y="6235700"/>
            <a:ext cx="381000" cy="381000"/>
          </a:xfrm>
          <a:prstGeom prst="roundRect">
            <a:avLst>
              <a:gd name="adj" fmla="val 26000"/>
            </a:avLst>
          </a:prstGeom>
          <a:solidFill>
            <a:srgbClr val="FFBE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549900" y="6235700"/>
            <a:ext cx="381000" cy="381000"/>
          </a:xfrm>
          <a:prstGeom prst="roundRect">
            <a:avLst>
              <a:gd name="adj" fmla="val 26000"/>
            </a:avLst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34100" y="6235700"/>
            <a:ext cx="381000" cy="381000"/>
          </a:xfrm>
          <a:prstGeom prst="roundRect">
            <a:avLst>
              <a:gd name="adj" fmla="val 26000"/>
            </a:avLst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718300" y="6235700"/>
            <a:ext cx="381000" cy="381000"/>
          </a:xfrm>
          <a:prstGeom prst="roundRect">
            <a:avLst>
              <a:gd name="adj" fmla="val 26000"/>
            </a:avLst>
          </a:prstGeom>
          <a:solidFill>
            <a:srgbClr val="C9B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02500" y="6235700"/>
            <a:ext cx="381000" cy="381000"/>
          </a:xfrm>
          <a:prstGeom prst="roundRect">
            <a:avLst>
              <a:gd name="adj" fmla="val 26000"/>
            </a:avLst>
          </a:prstGeom>
          <a:solidFill>
            <a:srgbClr val="FF8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