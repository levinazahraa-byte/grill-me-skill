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15900"/>
          </a:xfrm>
          <a:prstGeom prst="rect">
            <a:avLst/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8255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 spc="200">
                <a:solidFill>
                  <a:srgbClr val="FFFFFF"/>
                </a:solidFill>
                <a:latin typeface="VT323"/>
              </a:rPr>
              <a:t>NEW  ·  CONTENT PRODUCTION PORTFOLIO 2026  ·  SCROLL 4 MORE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0" y="0"/>
            <a:ext cx="24384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VT323"/>
              </a:rPr>
              <a:t>sign in     say hi     [ x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9400" y="279400"/>
            <a:ext cx="2921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300" b="1" i="0">
                <a:solidFill>
                  <a:srgbClr val="FF6FB5"/>
                </a:solidFill>
                <a:latin typeface="Fredoka"/>
              </a:rPr>
              <a:t>zahra.house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305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C9B6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FFFFFF"/>
                </a:solidFill>
                <a:latin typeface="Poppins"/>
              </a:rPr>
              <a:t>home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989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about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673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process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57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41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contact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6500" y="304800"/>
            <a:ext cx="30480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4300" y="304800"/>
            <a:ext cx="2667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A796BC"/>
                </a:solidFill>
                <a:latin typeface="Poppins"/>
              </a:rPr>
              <a:t>search the site...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2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1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28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57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71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485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00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14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28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943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57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171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86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400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514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28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857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971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086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14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429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543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657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771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886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000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114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29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343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457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686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00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14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29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43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57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72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86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600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15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829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43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57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172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286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15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29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43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58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72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200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15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29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43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658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772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886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001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115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229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343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458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572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686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801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915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029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144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258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372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486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601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715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829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944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058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172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287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401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515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629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744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858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0972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1087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1201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1315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1430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1544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1658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1772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1887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2001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0" y="6451600"/>
            <a:ext cx="12192000" cy="406400"/>
          </a:xfrm>
          <a:prstGeom prst="rect">
            <a:avLst/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114300" y="6515100"/>
            <a:ext cx="787400" cy="279400"/>
          </a:xfrm>
          <a:prstGeom prst="roundRect">
            <a:avLst>
              <a:gd name="adj" fmla="val 30000"/>
            </a:avLst>
          </a:prstGeom>
          <a:solidFill>
            <a:srgbClr val="B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0" spc="100">
                <a:solidFill>
                  <a:srgbClr val="4A2E6B"/>
                </a:solidFill>
                <a:latin typeface="Poppins"/>
              </a:rPr>
              <a:t>start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003300" y="6515100"/>
            <a:ext cx="2159000" cy="279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143000" y="65151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4A2E6B"/>
                </a:solidFill>
                <a:latin typeface="VT323"/>
              </a:rPr>
              <a:t>portfolio_2026.html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0833100" y="6515100"/>
            <a:ext cx="1244600" cy="279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833100" y="6515100"/>
            <a:ext cx="12446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4A2E6B"/>
                </a:solidFill>
                <a:latin typeface="VT323"/>
              </a:rPr>
              <a:t>10:30 PM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279400" y="1028700"/>
            <a:ext cx="7366000" cy="444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292100" y="1041400"/>
            <a:ext cx="7340600" cy="241300"/>
          </a:xfrm>
          <a:prstGeom prst="rect">
            <a:avLst/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368300" y="1041400"/>
            <a:ext cx="6756400" cy="241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VT323"/>
              </a:rPr>
              <a:t>welcome_2_my_world.html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480300" y="1111250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7327900" y="1111250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7175500" y="1111250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71500" y="1473200"/>
            <a:ext cx="10795000" cy="6754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 i="0">
                <a:solidFill>
                  <a:srgbClr val="C9B6FF"/>
                </a:solidFill>
                <a:latin typeface="Fredoka"/>
              </a:rPr>
              <a:t>hi! i'm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58800" y="2186781"/>
            <a:ext cx="10795000" cy="1688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600" b="1" i="0">
                <a:solidFill>
                  <a:srgbClr val="FF6FB5"/>
                </a:solidFill>
                <a:latin typeface="Fredoka"/>
              </a:rPr>
              <a:t>zahra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71500" y="3900884"/>
            <a:ext cx="10795000" cy="848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 i="0">
                <a:solidFill>
                  <a:srgbClr val="4A2E6B"/>
                </a:solidFill>
                <a:latin typeface="Fredoka"/>
              </a:rPr>
              <a:t>levina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71500" y="4864100"/>
            <a:ext cx="3302000" cy="772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250" b="0" i="0">
                <a:solidFill>
                  <a:srgbClr val="4A2E6B"/>
                </a:solidFill>
                <a:latin typeface="Poppins"/>
              </a:rPr>
              <a:t>content production · social media · visual storytelling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71500" y="5712460"/>
            <a:ext cx="10795000" cy="3724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8A76A8"/>
                </a:solidFill>
                <a:latin typeface="VT323"/>
              </a:rPr>
              <a:t>2026  ·  CONTENT PRODUCTION  ·  PORTFOLIO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571500" y="6211888"/>
            <a:ext cx="1841500" cy="368300"/>
          </a:xfrm>
          <a:prstGeom prst="roundRect">
            <a:avLst>
              <a:gd name="adj" fmla="val 30000"/>
            </a:avLst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0" spc="100">
                <a:solidFill>
                  <a:srgbClr val="FFFFFF"/>
                </a:solidFill>
                <a:latin typeface="Poppins"/>
              </a:rPr>
              <a:t>see my work →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2514600" y="6211888"/>
            <a:ext cx="1333500" cy="3683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0" spc="100">
                <a:solidFill>
                  <a:srgbClr val="4A2E6B"/>
                </a:solidFill>
                <a:latin typeface="Poppins"/>
              </a:rPr>
              <a:t>about me</a:t>
            </a:r>
          </a:p>
        </p:txBody>
      </p:sp>
      <p:sp>
        <p:nvSpPr>
          <p:cNvPr id="139" name="Round Same Side Corner Rectangle 138"/>
          <p:cNvSpPr/>
          <p:nvPr/>
        </p:nvSpPr>
        <p:spPr>
          <a:xfrm>
            <a:off x="4724400" y="1498600"/>
            <a:ext cx="2540000" cy="31750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DCEEFF"/>
          </a:solidFill>
          <a:ln w="254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6E86A8"/>
                </a:solidFill>
                <a:latin typeface="Poppins"/>
              </a:rPr>
              <a:t>drop portrait</a:t>
            </a:r>
          </a:p>
        </p:txBody>
      </p:sp>
      <p:sp>
        <p:nvSpPr>
          <p:cNvPr id="140" name="Oval 139"/>
          <p:cNvSpPr/>
          <p:nvPr/>
        </p:nvSpPr>
        <p:spPr>
          <a:xfrm>
            <a:off x="4216400" y="4013200"/>
            <a:ext cx="1079500" cy="1079500"/>
          </a:xfrm>
          <a:prstGeom prst="ellipse">
            <a:avLst/>
          </a:prstGeom>
          <a:solidFill>
            <a:srgbClr val="DCEEFF"/>
          </a:solidFill>
          <a:ln w="254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6E86A8"/>
                </a:solidFill>
                <a:latin typeface="Poppins"/>
              </a:rPr>
              <a:t>photo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7835900" y="1028700"/>
            <a:ext cx="4076700" cy="2095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7848600" y="1041400"/>
            <a:ext cx="4051300" cy="241300"/>
          </a:xfrm>
          <a:prstGeom prst="rect">
            <a:avLst/>
          </a:prstGeom>
          <a:solidFill>
            <a:srgbClr val="B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7924800" y="1041400"/>
            <a:ext cx="3467100" cy="241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VT323"/>
              </a:rPr>
              <a:t>quick links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11747500" y="1111250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1595100" y="1111250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1442700" y="1111250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7950200" y="1397000"/>
            <a:ext cx="3848100" cy="317500"/>
          </a:xfrm>
          <a:prstGeom prst="rect">
            <a:avLst/>
          </a:prstGeom>
          <a:solidFill>
            <a:srgbClr val="FFF7FC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089900" y="1397000"/>
            <a:ext cx="26670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4A2E6B"/>
                </a:solidFill>
                <a:latin typeface="Poppins"/>
              </a:rPr>
              <a:t>what i do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1430000" y="1397000"/>
            <a:ext cx="2540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 i="0">
                <a:solidFill>
                  <a:srgbClr val="FF6FB5"/>
                </a:solidFill>
                <a:latin typeface="Poppins"/>
              </a:rPr>
              <a:t>›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7950200" y="1790700"/>
            <a:ext cx="3848100" cy="317500"/>
          </a:xfrm>
          <a:prstGeom prst="rect">
            <a:avLst/>
          </a:prstGeom>
          <a:solidFill>
            <a:srgbClr val="FFF7FC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8089900" y="1790700"/>
            <a:ext cx="26670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4A2E6B"/>
                </a:solidFill>
                <a:latin typeface="Poppins"/>
              </a:rPr>
              <a:t>selected work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1430000" y="1790700"/>
            <a:ext cx="2540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 i="0">
                <a:solidFill>
                  <a:srgbClr val="FF6FB5"/>
                </a:solidFill>
                <a:latin typeface="Poppins"/>
              </a:rPr>
              <a:t>›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7950200" y="2184400"/>
            <a:ext cx="3848100" cy="317500"/>
          </a:xfrm>
          <a:prstGeom prst="rect">
            <a:avLst/>
          </a:prstGeom>
          <a:solidFill>
            <a:srgbClr val="FFF7FC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089900" y="2184400"/>
            <a:ext cx="26670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4A2E6B"/>
                </a:solidFill>
                <a:latin typeface="Poppins"/>
              </a:rPr>
              <a:t>how i work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1430000" y="2184400"/>
            <a:ext cx="2540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 i="0">
                <a:solidFill>
                  <a:srgbClr val="FF6FB5"/>
                </a:solidFill>
                <a:latin typeface="Poppins"/>
              </a:rPr>
              <a:t>›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7950200" y="2578100"/>
            <a:ext cx="3848100" cy="317500"/>
          </a:xfrm>
          <a:prstGeom prst="rect">
            <a:avLst/>
          </a:prstGeom>
          <a:solidFill>
            <a:srgbClr val="FFF7FC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8089900" y="2578100"/>
            <a:ext cx="26670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4A2E6B"/>
                </a:solidFill>
                <a:latin typeface="Poppins"/>
              </a:rPr>
              <a:t>say hi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1430000" y="2578100"/>
            <a:ext cx="2540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 i="0">
                <a:solidFill>
                  <a:srgbClr val="FF6FB5"/>
                </a:solidFill>
                <a:latin typeface="Poppins"/>
              </a:rPr>
              <a:t>›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7835900" y="3251200"/>
            <a:ext cx="4076700" cy="2222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7848600" y="3263900"/>
            <a:ext cx="4051300" cy="241300"/>
          </a:xfrm>
          <a:prstGeom prst="rect">
            <a:avLst/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7924800" y="3263900"/>
            <a:ext cx="3467100" cy="241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VT323"/>
              </a:rPr>
              <a:t>new message!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11747500" y="3333750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11595100" y="3333750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11442700" y="3333750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5" name="Heart 164"/>
          <p:cNvSpPr/>
          <p:nvPr/>
        </p:nvSpPr>
        <p:spPr>
          <a:xfrm>
            <a:off x="8026400" y="3695700"/>
            <a:ext cx="342900" cy="315468"/>
          </a:xfrm>
          <a:prstGeom prst="heart">
            <a:avLst/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8496300" y="3721100"/>
            <a:ext cx="3048000" cy="78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 i="0">
                <a:solidFill>
                  <a:srgbClr val="4A2E6B"/>
                </a:solidFill>
                <a:latin typeface="Poppins"/>
              </a:rPr>
              <a:t>you have (1) new message — open to see what i make.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026400" y="43434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 i="0">
                <a:solidFill>
                  <a:srgbClr val="FF6FB5"/>
                </a:solidFill>
                <a:latin typeface="VT323"/>
              </a:rPr>
              <a:t>whatsapp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169400" y="43434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4A2E6B"/>
                </a:solidFill>
                <a:latin typeface="Poppins"/>
              </a:rPr>
              <a:t>+62 8xx-xxxx-xxxx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8026400" y="46863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 i="0">
                <a:solidFill>
                  <a:srgbClr val="FF6FB5"/>
                </a:solidFill>
                <a:latin typeface="VT323"/>
              </a:rPr>
              <a:t>email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9169400" y="46863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4A2E6B"/>
                </a:solidFill>
                <a:latin typeface="Poppins"/>
              </a:rPr>
              <a:t>hello@email.com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8026400" y="50292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 i="0">
                <a:solidFill>
                  <a:srgbClr val="FF6FB5"/>
                </a:solidFill>
                <a:latin typeface="VT323"/>
              </a:rPr>
              <a:t>linkedin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169400" y="50292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4A2E6B"/>
                </a:solidFill>
                <a:latin typeface="Poppins"/>
              </a:rPr>
              <a:t>linkedin.com/in/username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15900"/>
          </a:xfrm>
          <a:prstGeom prst="rect">
            <a:avLst/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8255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 spc="200">
                <a:solidFill>
                  <a:srgbClr val="FFFFFF"/>
                </a:solidFill>
                <a:latin typeface="VT323"/>
              </a:rPr>
              <a:t>NEW  ·  CONTENT PRODUCTION PORTFOLIO 2026  ·  SCROLL 4 MORE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0" y="0"/>
            <a:ext cx="24384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VT323"/>
              </a:rPr>
              <a:t>sign in     say hi     [ x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9400" y="279400"/>
            <a:ext cx="2921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300" b="1" i="0">
                <a:solidFill>
                  <a:srgbClr val="FF6FB5"/>
                </a:solidFill>
                <a:latin typeface="Fredoka"/>
              </a:rPr>
              <a:t>zahra.house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305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home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989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C9B6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FFFFFF"/>
                </a:solidFill>
                <a:latin typeface="Poppins"/>
              </a:rPr>
              <a:t>about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673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process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57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41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contact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6500" y="304800"/>
            <a:ext cx="30480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4300" y="304800"/>
            <a:ext cx="2667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A796BC"/>
                </a:solidFill>
                <a:latin typeface="Poppins"/>
              </a:rPr>
              <a:t>search the site...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2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1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28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57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71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485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00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14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28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943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57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171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86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400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514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28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857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971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086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14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429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543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657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771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886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000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114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29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343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457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686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00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14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29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43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57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72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86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600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15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829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43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57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172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286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15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29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43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58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72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200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15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29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43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658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772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886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001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115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229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343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458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572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686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801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915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029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144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258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372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486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601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715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829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944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058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172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287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401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515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629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744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858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0972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1087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1201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1315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1430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1544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1658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1772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1887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2001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0" y="6451600"/>
            <a:ext cx="12192000" cy="406400"/>
          </a:xfrm>
          <a:prstGeom prst="rect">
            <a:avLst/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114300" y="6515100"/>
            <a:ext cx="787400" cy="279400"/>
          </a:xfrm>
          <a:prstGeom prst="roundRect">
            <a:avLst>
              <a:gd name="adj" fmla="val 30000"/>
            </a:avLst>
          </a:prstGeom>
          <a:solidFill>
            <a:srgbClr val="B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0" spc="100">
                <a:solidFill>
                  <a:srgbClr val="4A2E6B"/>
                </a:solidFill>
                <a:latin typeface="Poppins"/>
              </a:rPr>
              <a:t>start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003300" y="6515100"/>
            <a:ext cx="2159000" cy="279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143000" y="65151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4A2E6B"/>
                </a:solidFill>
                <a:latin typeface="VT323"/>
              </a:rPr>
              <a:t>portfolio_2026.html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0833100" y="6515100"/>
            <a:ext cx="1244600" cy="279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833100" y="6515100"/>
            <a:ext cx="12446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4A2E6B"/>
                </a:solidFill>
                <a:latin typeface="VT323"/>
              </a:rPr>
              <a:t>10:30 PM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279400" y="1028700"/>
            <a:ext cx="7366000" cy="444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292100" y="1041400"/>
            <a:ext cx="7340600" cy="241300"/>
          </a:xfrm>
          <a:prstGeom prst="rect">
            <a:avLst/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368300" y="1041400"/>
            <a:ext cx="6756400" cy="241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VT323"/>
              </a:rPr>
              <a:t>about_zahra.txt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480300" y="1111250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7327900" y="1111250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7175500" y="1111250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71500" y="1447800"/>
            <a:ext cx="5715000" cy="9767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1" i="0">
                <a:solidFill>
                  <a:srgbClr val="FF6FB5"/>
                </a:solidFill>
                <a:latin typeface="Fredoka"/>
              </a:rPr>
              <a:t>hi, i'm zahra.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84200" y="2513409"/>
            <a:ext cx="1397000" cy="50800"/>
          </a:xfrm>
          <a:prstGeom prst="rect">
            <a:avLst/>
          </a:prstGeom>
          <a:solidFill>
            <a:srgbClr val="B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71500" y="2691209"/>
            <a:ext cx="6604000" cy="2463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0000"/>
              </a:lnSpc>
              <a:spcAft>
                <a:spcPts val="1800"/>
              </a:spcAft>
            </a:pPr>
            <a:r>
              <a:rPr sz="1300" b="0" i="0">
                <a:solidFill>
                  <a:srgbClr val="4A2E6B"/>
                </a:solidFill>
                <a:latin typeface="Poppins"/>
              </a:rPr>
              <a:t>I work across content, creative, and communication — from developing visual ideas and social media content to supporting events, campaigns, and brand collaborations.</a:t>
            </a:r>
          </a:p>
          <a:p>
            <a:pPr algn="l">
              <a:lnSpc>
                <a:spcPct val="180000"/>
              </a:lnSpc>
              <a:spcAft>
                <a:spcPts val="1800"/>
              </a:spcAft>
            </a:pPr>
            <a:r>
              <a:rPr sz="1300" b="0" i="0">
                <a:solidFill>
                  <a:srgbClr val="4A2E6B"/>
                </a:solidFill>
                <a:latin typeface="Poppins"/>
              </a:rPr>
              <a:t>I enjoy the hands-on side of creative work: preparing, creating, editing, organizing, and turning an idea into something ready to share.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7835900" y="1028700"/>
            <a:ext cx="4076700" cy="2730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7848600" y="1041400"/>
            <a:ext cx="4051300" cy="241300"/>
          </a:xfrm>
          <a:prstGeom prst="rect">
            <a:avLst/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924800" y="1041400"/>
            <a:ext cx="3467100" cy="241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VT323"/>
              </a:rPr>
              <a:t>me.jpg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1747500" y="1111250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1595100" y="1111250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1442700" y="1111250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1" name="Round Same Side Corner Rectangle 140"/>
          <p:cNvSpPr/>
          <p:nvPr/>
        </p:nvSpPr>
        <p:spPr>
          <a:xfrm>
            <a:off x="7988300" y="1422400"/>
            <a:ext cx="3771900" cy="21844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DCEEFF"/>
          </a:solidFill>
          <a:ln w="254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6E86A8"/>
                </a:solidFill>
                <a:latin typeface="Poppins"/>
              </a:rPr>
              <a:t>drop photo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7835900" y="3886200"/>
            <a:ext cx="4076700" cy="158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7848600" y="3898900"/>
            <a:ext cx="4051300" cy="241300"/>
          </a:xfrm>
          <a:prstGeom prst="rect">
            <a:avLst/>
          </a:prstGeom>
          <a:solidFill>
            <a:srgbClr val="B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7924800" y="3898900"/>
            <a:ext cx="3467100" cy="241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VT323"/>
              </a:rPr>
              <a:t>what i do all day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1747500" y="3968750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1595100" y="3968750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1442700" y="3968750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001000" y="4241800"/>
            <a:ext cx="35560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4A2E6B"/>
                </a:solidFill>
                <a:latin typeface="Poppins"/>
              </a:rPr>
              <a:t>☆ create + edit content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001000" y="4572000"/>
            <a:ext cx="35560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4A2E6B"/>
                </a:solidFill>
                <a:latin typeface="Poppins"/>
              </a:rPr>
              <a:t>☆ design visual materials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8001000" y="4902200"/>
            <a:ext cx="35560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4A2E6B"/>
                </a:solidFill>
                <a:latin typeface="Poppins"/>
              </a:rPr>
              <a:t>☆ prepare + publish posts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15900"/>
          </a:xfrm>
          <a:prstGeom prst="rect">
            <a:avLst/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8255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 spc="200">
                <a:solidFill>
                  <a:srgbClr val="FFFFFF"/>
                </a:solidFill>
                <a:latin typeface="VT323"/>
              </a:rPr>
              <a:t>NEW  ·  CONTENT PRODUCTION PORTFOLIO 2026  ·  SCROLL 4 MORE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0" y="0"/>
            <a:ext cx="24384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VT323"/>
              </a:rPr>
              <a:t>sign in     say hi     [ x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9400" y="279400"/>
            <a:ext cx="2921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300" b="1" i="0">
                <a:solidFill>
                  <a:srgbClr val="FF6FB5"/>
                </a:solidFill>
                <a:latin typeface="Fredoka"/>
              </a:rPr>
              <a:t>zahra.house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305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home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989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about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673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C9B6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FFFFFF"/>
                </a:solidFill>
                <a:latin typeface="Poppins"/>
              </a:rPr>
              <a:t>process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57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41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contact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6500" y="304800"/>
            <a:ext cx="30480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4300" y="304800"/>
            <a:ext cx="2667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A796BC"/>
                </a:solidFill>
                <a:latin typeface="Poppins"/>
              </a:rPr>
              <a:t>search the site...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2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1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28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57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71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485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00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14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28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943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57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171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86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400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514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28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857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971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086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14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429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543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657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771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886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000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114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29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343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457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686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00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14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29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43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57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72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86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600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15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829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43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57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172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286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15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29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43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58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72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200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15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29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43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658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772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886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001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115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229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343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458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572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686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801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915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029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144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258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372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486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601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715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829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944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058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172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287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401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515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629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744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858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0972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1087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1201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1315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1430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1544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1658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1772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1887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2001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0" y="6451600"/>
            <a:ext cx="12192000" cy="406400"/>
          </a:xfrm>
          <a:prstGeom prst="rect">
            <a:avLst/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114300" y="6515100"/>
            <a:ext cx="787400" cy="279400"/>
          </a:xfrm>
          <a:prstGeom prst="roundRect">
            <a:avLst>
              <a:gd name="adj" fmla="val 30000"/>
            </a:avLst>
          </a:prstGeom>
          <a:solidFill>
            <a:srgbClr val="B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0" spc="100">
                <a:solidFill>
                  <a:srgbClr val="4A2E6B"/>
                </a:solidFill>
                <a:latin typeface="Poppins"/>
              </a:rPr>
              <a:t>start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003300" y="6515100"/>
            <a:ext cx="2159000" cy="279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143000" y="65151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4A2E6B"/>
                </a:solidFill>
                <a:latin typeface="VT323"/>
              </a:rPr>
              <a:t>portfolio_2026.html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0833100" y="6515100"/>
            <a:ext cx="1244600" cy="279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833100" y="6515100"/>
            <a:ext cx="12446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4A2E6B"/>
                </a:solidFill>
                <a:latin typeface="VT323"/>
              </a:rPr>
              <a:t>10:30 PM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79400" y="1003300"/>
            <a:ext cx="5715000" cy="9310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200" b="1" i="0">
                <a:solidFill>
                  <a:srgbClr val="FF6FB5"/>
                </a:solidFill>
                <a:latin typeface="Fredoka"/>
              </a:rPr>
              <a:t>from idea to publish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92100" y="1985169"/>
            <a:ext cx="6985000" cy="473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300" b="0" i="0">
                <a:solidFill>
                  <a:srgbClr val="4A2E6B"/>
                </a:solidFill>
                <a:latin typeface="Poppins"/>
              </a:rPr>
              <a:t>Good content is not only about the final visual.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279400" y="2509679"/>
            <a:ext cx="1562100" cy="12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292100" y="2522379"/>
            <a:ext cx="1536700" cy="241300"/>
          </a:xfrm>
          <a:prstGeom prst="rect">
            <a:avLst/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68300" y="2522379"/>
            <a:ext cx="952500" cy="241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VT323"/>
              </a:rPr>
              <a:t>01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676400" y="2592229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524000" y="2592229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371600" y="2592229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393700" y="2865279"/>
            <a:ext cx="1333500" cy="469900"/>
          </a:xfrm>
          <a:prstGeom prst="rect">
            <a:avLst/>
          </a:prstGeom>
          <a:solidFill>
            <a:srgbClr val="FFE6F3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279400" y="3398679"/>
            <a:ext cx="15621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900" b="0" i="0">
                <a:solidFill>
                  <a:srgbClr val="4A2E6B"/>
                </a:solidFill>
                <a:latin typeface="Fredoka"/>
              </a:rPr>
              <a:t>IDEA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841500" y="3144679"/>
            <a:ext cx="1397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800" b="0" i="0">
                <a:solidFill>
                  <a:srgbClr val="FF6FB5"/>
                </a:solidFill>
                <a:latin typeface="Poppins"/>
              </a:rPr>
              <a:t>›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968500" y="2509679"/>
            <a:ext cx="1562100" cy="12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1981200" y="2522379"/>
            <a:ext cx="1536700" cy="241300"/>
          </a:xfrm>
          <a:prstGeom prst="rect">
            <a:avLst/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2057400" y="2522379"/>
            <a:ext cx="952500" cy="241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VT323"/>
              </a:rPr>
              <a:t>02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3365500" y="2592229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3213100" y="2592229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3060700" y="2592229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2082800" y="2865279"/>
            <a:ext cx="1333500" cy="469900"/>
          </a:xfrm>
          <a:prstGeom prst="rect">
            <a:avLst/>
          </a:prstGeom>
          <a:solidFill>
            <a:srgbClr val="F0EAFF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968500" y="3398679"/>
            <a:ext cx="15621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900" b="0" i="0">
                <a:solidFill>
                  <a:srgbClr val="4A2E6B"/>
                </a:solidFill>
                <a:latin typeface="Fredoka"/>
              </a:rPr>
              <a:t>PLAN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530600" y="3144679"/>
            <a:ext cx="1397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800" b="0" i="0">
                <a:solidFill>
                  <a:srgbClr val="FF6FB5"/>
                </a:solidFill>
                <a:latin typeface="Poppins"/>
              </a:rPr>
              <a:t>›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3657600" y="2509679"/>
            <a:ext cx="1562100" cy="12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3670300" y="2522379"/>
            <a:ext cx="1536700" cy="241300"/>
          </a:xfrm>
          <a:prstGeom prst="rect">
            <a:avLst/>
          </a:prstGeom>
          <a:solidFill>
            <a:srgbClr val="B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3746500" y="2522379"/>
            <a:ext cx="952500" cy="241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VT323"/>
              </a:rPr>
              <a:t>03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054600" y="2592229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4902200" y="2592229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4749800" y="2592229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3771900" y="2865279"/>
            <a:ext cx="1333500" cy="469900"/>
          </a:xfrm>
          <a:prstGeom prst="rect">
            <a:avLst/>
          </a:prstGeom>
          <a:solidFill>
            <a:srgbClr val="E6FBF6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3657600" y="3398679"/>
            <a:ext cx="15621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900" b="0" i="0">
                <a:solidFill>
                  <a:srgbClr val="4A2E6B"/>
                </a:solidFill>
                <a:latin typeface="Fredoka"/>
              </a:rPr>
              <a:t>PREPARE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5219700" y="3144679"/>
            <a:ext cx="1397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800" b="0" i="0">
                <a:solidFill>
                  <a:srgbClr val="FF6FB5"/>
                </a:solidFill>
                <a:latin typeface="Poppins"/>
              </a:rPr>
              <a:t>›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5346700" y="2509679"/>
            <a:ext cx="1562100" cy="12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5359400" y="2522379"/>
            <a:ext cx="1536700" cy="241300"/>
          </a:xfrm>
          <a:prstGeom prst="rect">
            <a:avLst/>
          </a:prstGeom>
          <a:solidFill>
            <a:srgbClr val="DC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435600" y="2522379"/>
            <a:ext cx="952500" cy="241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VT323"/>
              </a:rPr>
              <a:t>04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743700" y="2592229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591300" y="2592229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438900" y="2592229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5461000" y="2865279"/>
            <a:ext cx="1333500" cy="469900"/>
          </a:xfrm>
          <a:prstGeom prst="rect">
            <a:avLst/>
          </a:prstGeom>
          <a:solidFill>
            <a:srgbClr val="E8F5FF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346700" y="3398679"/>
            <a:ext cx="15621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900" b="0" i="0">
                <a:solidFill>
                  <a:srgbClr val="4A2E6B"/>
                </a:solidFill>
                <a:latin typeface="Fredoka"/>
              </a:rPr>
              <a:t>PRODUCE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908800" y="3144679"/>
            <a:ext cx="1397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800" b="0" i="0">
                <a:solidFill>
                  <a:srgbClr val="FF6FB5"/>
                </a:solidFill>
                <a:latin typeface="Poppins"/>
              </a:rPr>
              <a:t>›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7035800" y="2509679"/>
            <a:ext cx="1562100" cy="12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048500" y="2522379"/>
            <a:ext cx="1536700" cy="241300"/>
          </a:xfrm>
          <a:prstGeom prst="rect">
            <a:avLst/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7124700" y="2522379"/>
            <a:ext cx="952500" cy="241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VT323"/>
              </a:rPr>
              <a:t>05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8432800" y="2592229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8280400" y="2592229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8128000" y="2592229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150100" y="2865279"/>
            <a:ext cx="1333500" cy="469900"/>
          </a:xfrm>
          <a:prstGeom prst="rect">
            <a:avLst/>
          </a:prstGeom>
          <a:solidFill>
            <a:srgbClr val="FFE6F3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035800" y="3398679"/>
            <a:ext cx="15621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900" b="0" i="0">
                <a:solidFill>
                  <a:srgbClr val="4A2E6B"/>
                </a:solidFill>
                <a:latin typeface="Fredoka"/>
              </a:rPr>
              <a:t>EDIT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8597900" y="3144679"/>
            <a:ext cx="1397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800" b="0" i="0">
                <a:solidFill>
                  <a:srgbClr val="FF6FB5"/>
                </a:solidFill>
                <a:latin typeface="Poppins"/>
              </a:rPr>
              <a:t>›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8724900" y="2509679"/>
            <a:ext cx="1562100" cy="12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8737600" y="2522379"/>
            <a:ext cx="1536700" cy="241300"/>
          </a:xfrm>
          <a:prstGeom prst="rect">
            <a:avLst/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8813800" y="2522379"/>
            <a:ext cx="952500" cy="241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VT323"/>
              </a:rPr>
              <a:t>06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10121900" y="2592229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9969500" y="2592229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9817100" y="2592229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839200" y="2865279"/>
            <a:ext cx="1333500" cy="469900"/>
          </a:xfrm>
          <a:prstGeom prst="rect">
            <a:avLst/>
          </a:prstGeom>
          <a:solidFill>
            <a:srgbClr val="F0EAFF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8724900" y="3398679"/>
            <a:ext cx="15621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900" b="0" i="0">
                <a:solidFill>
                  <a:srgbClr val="4A2E6B"/>
                </a:solidFill>
                <a:latin typeface="Fredoka"/>
              </a:rPr>
              <a:t>CHECK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0287000" y="3144679"/>
            <a:ext cx="1397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800" b="0" i="0">
                <a:solidFill>
                  <a:srgbClr val="FF6FB5"/>
                </a:solidFill>
                <a:latin typeface="Poppins"/>
              </a:rPr>
              <a:t>›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10414000" y="2509679"/>
            <a:ext cx="1562100" cy="12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10426700" y="2522379"/>
            <a:ext cx="1536700" cy="241300"/>
          </a:xfrm>
          <a:prstGeom prst="rect">
            <a:avLst/>
          </a:prstGeom>
          <a:solidFill>
            <a:srgbClr val="B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0502900" y="2522379"/>
            <a:ext cx="952500" cy="241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VT323"/>
              </a:rPr>
              <a:t>07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1811000" y="2592229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11658600" y="2592229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11506200" y="2592229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10528300" y="2865279"/>
            <a:ext cx="1333500" cy="469900"/>
          </a:xfrm>
          <a:prstGeom prst="rect">
            <a:avLst/>
          </a:prstGeom>
          <a:solidFill>
            <a:srgbClr val="E6FBF6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10414000" y="3398679"/>
            <a:ext cx="15621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900" b="0" i="0">
                <a:solidFill>
                  <a:srgbClr val="4A2E6B"/>
                </a:solidFill>
                <a:latin typeface="Fredoka"/>
              </a:rPr>
              <a:t>PUBLISH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279400" y="3970179"/>
            <a:ext cx="6985000" cy="1333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292100" y="3982879"/>
            <a:ext cx="6959600" cy="241300"/>
          </a:xfrm>
          <a:prstGeom prst="rect">
            <a:avLst/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368300" y="3982879"/>
            <a:ext cx="6375400" cy="241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VT323"/>
              </a:rPr>
              <a:t>note.txt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099300" y="4052729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6946900" y="4052729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6794500" y="4052729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444500" y="4351179"/>
            <a:ext cx="6604000" cy="9055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350" b="0" i="0">
                <a:solidFill>
                  <a:srgbClr val="4A2E6B"/>
                </a:solidFill>
                <a:latin typeface="Poppins"/>
              </a:rPr>
              <a:t>It is also about the details behind it — preparation, consistency, timing, and making sure everything is ready before it goes live.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7493000" y="3970179"/>
            <a:ext cx="2159000" cy="1333500"/>
          </a:xfrm>
          <a:prstGeom prst="roundRect">
            <a:avLst>
              <a:gd name="adj" fmla="val 12000"/>
            </a:avLst>
          </a:prstGeom>
          <a:solidFill>
            <a:srgbClr val="DCEEFF"/>
          </a:solidFill>
          <a:ln w="254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6E86A8"/>
                </a:solidFill>
                <a:latin typeface="Poppins"/>
              </a:rPr>
              <a:t>content prep</a:t>
            </a:r>
          </a:p>
        </p:txBody>
      </p:sp>
      <p:sp>
        <p:nvSpPr>
          <p:cNvPr id="198" name="Oval 197"/>
          <p:cNvSpPr/>
          <p:nvPr/>
        </p:nvSpPr>
        <p:spPr>
          <a:xfrm>
            <a:off x="9842500" y="3970179"/>
            <a:ext cx="1270000" cy="1270000"/>
          </a:xfrm>
          <a:prstGeom prst="ellipse">
            <a:avLst/>
          </a:prstGeom>
          <a:solidFill>
            <a:srgbClr val="DCEEFF"/>
          </a:solidFill>
          <a:ln w="254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6E86A8"/>
                </a:solidFill>
                <a:latin typeface="Poppins"/>
              </a:rPr>
              <a:t>photo</a:t>
            </a:r>
          </a:p>
        </p:txBody>
      </p:sp>
      <p:sp>
        <p:nvSpPr>
          <p:cNvPr id="199" name="Snip Diagonal Corner Rectangle 198"/>
          <p:cNvSpPr/>
          <p:nvPr/>
        </p:nvSpPr>
        <p:spPr>
          <a:xfrm rot="300000">
            <a:off x="11239500" y="4097179"/>
            <a:ext cx="673100" cy="1079500"/>
          </a:xfrm>
          <a:prstGeom prst="snip2DiagRect">
            <a:avLst/>
          </a:prstGeom>
          <a:solidFill>
            <a:srgbClr val="DCEEFF"/>
          </a:solidFill>
          <a:ln w="254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6E86A8"/>
                </a:solidFill>
                <a:latin typeface="Poppins"/>
              </a:rPr>
              <a:t>photo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15900"/>
          </a:xfrm>
          <a:prstGeom prst="rect">
            <a:avLst/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8255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 spc="200">
                <a:solidFill>
                  <a:srgbClr val="FFFFFF"/>
                </a:solidFill>
                <a:latin typeface="VT323"/>
              </a:rPr>
              <a:t>NEW  ·  CONTENT PRODUCTION PORTFOLIO 2026  ·  SCROLL 4 MORE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0" y="0"/>
            <a:ext cx="24384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VT323"/>
              </a:rPr>
              <a:t>sign in     say hi     [ x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9400" y="279400"/>
            <a:ext cx="2921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300" b="1" i="0">
                <a:solidFill>
                  <a:srgbClr val="FF6FB5"/>
                </a:solidFill>
                <a:latin typeface="Fredoka"/>
              </a:rPr>
              <a:t>zahra.house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305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home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989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about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673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process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57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C9B6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FFFFFF"/>
                </a:solidFill>
                <a:latin typeface="Poppins"/>
              </a:rPr>
              <a:t>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41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contact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6500" y="304800"/>
            <a:ext cx="30480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4300" y="304800"/>
            <a:ext cx="2667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A796BC"/>
                </a:solidFill>
                <a:latin typeface="Poppins"/>
              </a:rPr>
              <a:t>search the site...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2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1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28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57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71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485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00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14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28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943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57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171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86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400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514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28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857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971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086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14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429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543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657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771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886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000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114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29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343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457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686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00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14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29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43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57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72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86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600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15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829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43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57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172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286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15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29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43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58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72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200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15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29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43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658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772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886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001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115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229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343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458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572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686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801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915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029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144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258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372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486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601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715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829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944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058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172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287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401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515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629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744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858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0972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1087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1201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1315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1430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1544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1658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1772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1887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2001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0" y="6451600"/>
            <a:ext cx="12192000" cy="406400"/>
          </a:xfrm>
          <a:prstGeom prst="rect">
            <a:avLst/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114300" y="6515100"/>
            <a:ext cx="787400" cy="279400"/>
          </a:xfrm>
          <a:prstGeom prst="roundRect">
            <a:avLst>
              <a:gd name="adj" fmla="val 30000"/>
            </a:avLst>
          </a:prstGeom>
          <a:solidFill>
            <a:srgbClr val="B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0" spc="100">
                <a:solidFill>
                  <a:srgbClr val="4A2E6B"/>
                </a:solidFill>
                <a:latin typeface="Poppins"/>
              </a:rPr>
              <a:t>start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003300" y="6515100"/>
            <a:ext cx="2159000" cy="279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143000" y="65151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4A2E6B"/>
                </a:solidFill>
                <a:latin typeface="VT323"/>
              </a:rPr>
              <a:t>portfolio_2026.html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0833100" y="6515100"/>
            <a:ext cx="1244600" cy="279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833100" y="6515100"/>
            <a:ext cx="12446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4A2E6B"/>
                </a:solidFill>
                <a:latin typeface="VT323"/>
              </a:rPr>
              <a:t>10:30 PM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79400" y="1003300"/>
            <a:ext cx="8255000" cy="8854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 i="0">
                <a:solidFill>
                  <a:srgbClr val="FF6FB5"/>
                </a:solidFill>
                <a:latin typeface="Fredoka"/>
              </a:rPr>
              <a:t>content, in different forms.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279400" y="1990328"/>
            <a:ext cx="2768600" cy="381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292100" y="2003028"/>
            <a:ext cx="2743200" cy="241300"/>
          </a:xfrm>
          <a:prstGeom prst="rect">
            <a:avLst/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68300" y="2003028"/>
            <a:ext cx="2159000" cy="241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VT323"/>
              </a:rPr>
              <a:t>social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2882900" y="2072878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2730500" y="2072878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2578100" y="2072878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469900" y="2371328"/>
            <a:ext cx="2387600" cy="1206500"/>
          </a:xfrm>
          <a:prstGeom prst="ellipse">
            <a:avLst/>
          </a:prstGeom>
          <a:solidFill>
            <a:srgbClr val="DCEEFF"/>
          </a:solidFill>
          <a:ln w="254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6E86A8"/>
                </a:solidFill>
                <a:latin typeface="Poppins"/>
              </a:rPr>
              <a:t/>
            </a:r>
          </a:p>
        </p:txBody>
      </p:sp>
      <p:sp>
        <p:nvSpPr>
          <p:cNvPr id="134" name="Rectangle 133"/>
          <p:cNvSpPr/>
          <p:nvPr/>
        </p:nvSpPr>
        <p:spPr>
          <a:xfrm>
            <a:off x="431800" y="3717528"/>
            <a:ext cx="2463800" cy="381000"/>
          </a:xfrm>
          <a:prstGeom prst="rect">
            <a:avLst/>
          </a:prstGeom>
          <a:solidFill>
            <a:srgbClr val="FFF7FC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571500" y="3717528"/>
            <a:ext cx="21971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4A2E6B"/>
                </a:solidFill>
                <a:latin typeface="Poppins"/>
              </a:rPr>
              <a:t>Instagram content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431800" y="4187428"/>
            <a:ext cx="2463800" cy="381000"/>
          </a:xfrm>
          <a:prstGeom prst="rect">
            <a:avLst/>
          </a:prstGeom>
          <a:solidFill>
            <a:srgbClr val="FFF7FC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71500" y="4187428"/>
            <a:ext cx="21971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4A2E6B"/>
                </a:solidFill>
                <a:latin typeface="Poppins"/>
              </a:rPr>
              <a:t>Stories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431800" y="4657328"/>
            <a:ext cx="2463800" cy="381000"/>
          </a:xfrm>
          <a:prstGeom prst="rect">
            <a:avLst/>
          </a:prstGeom>
          <a:solidFill>
            <a:srgbClr val="FFF7FC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71500" y="4657328"/>
            <a:ext cx="21971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4A2E6B"/>
                </a:solidFill>
                <a:latin typeface="Poppins"/>
              </a:rPr>
              <a:t>Promotional posts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31800" y="5127228"/>
            <a:ext cx="2463800" cy="381000"/>
          </a:xfrm>
          <a:prstGeom prst="rect">
            <a:avLst/>
          </a:prstGeom>
          <a:solidFill>
            <a:srgbClr val="FFF7FC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71500" y="5127228"/>
            <a:ext cx="21971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4A2E6B"/>
                </a:solidFill>
                <a:latin typeface="Poppins"/>
              </a:rPr>
              <a:t>Campaign content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3213100" y="1990328"/>
            <a:ext cx="2768600" cy="381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3225800" y="2003028"/>
            <a:ext cx="2743200" cy="241300"/>
          </a:xfrm>
          <a:prstGeom prst="rect">
            <a:avLst/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302000" y="2003028"/>
            <a:ext cx="2159000" cy="241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VT323"/>
              </a:rPr>
              <a:t>visual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816600" y="2072878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64200" y="2072878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511800" y="2072878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8" name="Hexagon 147"/>
          <p:cNvSpPr/>
          <p:nvPr/>
        </p:nvSpPr>
        <p:spPr>
          <a:xfrm>
            <a:off x="3403600" y="2371328"/>
            <a:ext cx="2387600" cy="1206500"/>
          </a:xfrm>
          <a:prstGeom prst="hexagon">
            <a:avLst/>
          </a:prstGeom>
          <a:solidFill>
            <a:srgbClr val="DCEEFF"/>
          </a:solidFill>
          <a:ln w="254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6E86A8"/>
                </a:solidFill>
                <a:latin typeface="Poppins"/>
              </a:rPr>
              <a:t/>
            </a:r>
          </a:p>
        </p:txBody>
      </p:sp>
      <p:sp>
        <p:nvSpPr>
          <p:cNvPr id="149" name="Rectangle 148"/>
          <p:cNvSpPr/>
          <p:nvPr/>
        </p:nvSpPr>
        <p:spPr>
          <a:xfrm>
            <a:off x="3365500" y="3717528"/>
            <a:ext cx="2463800" cy="381000"/>
          </a:xfrm>
          <a:prstGeom prst="rect">
            <a:avLst/>
          </a:prstGeom>
          <a:solidFill>
            <a:srgbClr val="FFF7FC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3505200" y="3717528"/>
            <a:ext cx="21971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4A2E6B"/>
                </a:solidFill>
                <a:latin typeface="Poppins"/>
              </a:rPr>
              <a:t>Graphic design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3365500" y="4187428"/>
            <a:ext cx="2463800" cy="381000"/>
          </a:xfrm>
          <a:prstGeom prst="rect">
            <a:avLst/>
          </a:prstGeom>
          <a:solidFill>
            <a:srgbClr val="FFF7FC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3505200" y="4187428"/>
            <a:ext cx="21971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4A2E6B"/>
                </a:solidFill>
                <a:latin typeface="Poppins"/>
              </a:rPr>
              <a:t>Layout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3365500" y="4657328"/>
            <a:ext cx="2463800" cy="381000"/>
          </a:xfrm>
          <a:prstGeom prst="rect">
            <a:avLst/>
          </a:prstGeom>
          <a:solidFill>
            <a:srgbClr val="FFF7FC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3505200" y="4657328"/>
            <a:ext cx="21971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4A2E6B"/>
                </a:solidFill>
                <a:latin typeface="Poppins"/>
              </a:rPr>
              <a:t>Visual direction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3365500" y="5127228"/>
            <a:ext cx="2463800" cy="381000"/>
          </a:xfrm>
          <a:prstGeom prst="rect">
            <a:avLst/>
          </a:prstGeom>
          <a:solidFill>
            <a:srgbClr val="FFF7FC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3505200" y="5127228"/>
            <a:ext cx="21971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4A2E6B"/>
                </a:solidFill>
                <a:latin typeface="Poppins"/>
              </a:rPr>
              <a:t>Brand materials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6146800" y="1990328"/>
            <a:ext cx="2768600" cy="381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159500" y="2003028"/>
            <a:ext cx="2743200" cy="241300"/>
          </a:xfrm>
          <a:prstGeom prst="rect">
            <a:avLst/>
          </a:prstGeom>
          <a:solidFill>
            <a:srgbClr val="B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6235700" y="2003028"/>
            <a:ext cx="2159000" cy="241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VT323"/>
              </a:rPr>
              <a:t>production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8750300" y="2072878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8597900" y="2072878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8445500" y="2072878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3" name="Round Same Side Corner Rectangle 162"/>
          <p:cNvSpPr/>
          <p:nvPr/>
        </p:nvSpPr>
        <p:spPr>
          <a:xfrm>
            <a:off x="6337300" y="2371328"/>
            <a:ext cx="2387600" cy="12065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DCEEFF"/>
          </a:solidFill>
          <a:ln w="254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6E86A8"/>
                </a:solidFill>
                <a:latin typeface="Poppins"/>
              </a:rPr>
              <a:t/>
            </a:r>
          </a:p>
        </p:txBody>
      </p:sp>
      <p:sp>
        <p:nvSpPr>
          <p:cNvPr id="164" name="Rectangle 163"/>
          <p:cNvSpPr/>
          <p:nvPr/>
        </p:nvSpPr>
        <p:spPr>
          <a:xfrm>
            <a:off x="6299200" y="3717528"/>
            <a:ext cx="2463800" cy="381000"/>
          </a:xfrm>
          <a:prstGeom prst="rect">
            <a:avLst/>
          </a:prstGeom>
          <a:solidFill>
            <a:srgbClr val="FFF7FC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6438900" y="3717528"/>
            <a:ext cx="21971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4A2E6B"/>
                </a:solidFill>
                <a:latin typeface="Poppins"/>
              </a:rPr>
              <a:t>Event documentation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6299200" y="4187428"/>
            <a:ext cx="2463800" cy="381000"/>
          </a:xfrm>
          <a:prstGeom prst="rect">
            <a:avLst/>
          </a:prstGeom>
          <a:solidFill>
            <a:srgbClr val="FFF7FC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6438900" y="4187428"/>
            <a:ext cx="21971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4A2E6B"/>
                </a:solidFill>
                <a:latin typeface="Poppins"/>
              </a:rPr>
              <a:t>Content preparation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299200" y="4657328"/>
            <a:ext cx="2463800" cy="381000"/>
          </a:xfrm>
          <a:prstGeom prst="rect">
            <a:avLst/>
          </a:prstGeom>
          <a:solidFill>
            <a:srgbClr val="FFF7FC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438900" y="4657328"/>
            <a:ext cx="21971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4A2E6B"/>
                </a:solidFill>
                <a:latin typeface="Poppins"/>
              </a:rPr>
              <a:t>Creative coordination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6299200" y="5127228"/>
            <a:ext cx="2463800" cy="381000"/>
          </a:xfrm>
          <a:prstGeom prst="rect">
            <a:avLst/>
          </a:prstGeom>
          <a:solidFill>
            <a:srgbClr val="FFF7FC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6438900" y="5127228"/>
            <a:ext cx="21971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4A2E6B"/>
                </a:solidFill>
                <a:latin typeface="Poppins"/>
              </a:rPr>
              <a:t>Production support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9080500" y="1990328"/>
            <a:ext cx="2768600" cy="381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9093200" y="2003028"/>
            <a:ext cx="2743200" cy="241300"/>
          </a:xfrm>
          <a:prstGeom prst="rect">
            <a:avLst/>
          </a:prstGeom>
          <a:solidFill>
            <a:srgbClr val="DC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9169400" y="2003028"/>
            <a:ext cx="2159000" cy="241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VT323"/>
              </a:rPr>
              <a:t>editing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11684000" y="2072878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11531600" y="2072878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11379200" y="2072878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8" name="Snip Diagonal Corner Rectangle 177"/>
          <p:cNvSpPr/>
          <p:nvPr/>
        </p:nvSpPr>
        <p:spPr>
          <a:xfrm>
            <a:off x="9271000" y="2371328"/>
            <a:ext cx="2387600" cy="1206500"/>
          </a:xfrm>
          <a:prstGeom prst="snip2DiagRect">
            <a:avLst/>
          </a:prstGeom>
          <a:solidFill>
            <a:srgbClr val="DCEEFF"/>
          </a:solidFill>
          <a:ln w="254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6E86A8"/>
                </a:solidFill>
                <a:latin typeface="Poppins"/>
              </a:rPr>
              <a:t/>
            </a:r>
          </a:p>
        </p:txBody>
      </p:sp>
      <p:sp>
        <p:nvSpPr>
          <p:cNvPr id="179" name="Rectangle 178"/>
          <p:cNvSpPr/>
          <p:nvPr/>
        </p:nvSpPr>
        <p:spPr>
          <a:xfrm>
            <a:off x="9232900" y="3717528"/>
            <a:ext cx="2463800" cy="381000"/>
          </a:xfrm>
          <a:prstGeom prst="rect">
            <a:avLst/>
          </a:prstGeom>
          <a:solidFill>
            <a:srgbClr val="FFF7FC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9372600" y="3717528"/>
            <a:ext cx="21971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4A2E6B"/>
                </a:solidFill>
                <a:latin typeface="Poppins"/>
              </a:rPr>
              <a:t>Photo editing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9232900" y="4187428"/>
            <a:ext cx="2463800" cy="381000"/>
          </a:xfrm>
          <a:prstGeom prst="rect">
            <a:avLst/>
          </a:prstGeom>
          <a:solidFill>
            <a:srgbClr val="FFF7FC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9372600" y="4187428"/>
            <a:ext cx="21971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4A2E6B"/>
                </a:solidFill>
                <a:latin typeface="Poppins"/>
              </a:rPr>
              <a:t>Video editing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9232900" y="4657328"/>
            <a:ext cx="2463800" cy="381000"/>
          </a:xfrm>
          <a:prstGeom prst="rect">
            <a:avLst/>
          </a:prstGeom>
          <a:solidFill>
            <a:srgbClr val="FFF7FC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9372600" y="4657328"/>
            <a:ext cx="21971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4A2E6B"/>
                </a:solidFill>
                <a:latin typeface="Poppins"/>
              </a:rPr>
              <a:t>Short-form content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9232900" y="5127228"/>
            <a:ext cx="2463800" cy="381000"/>
          </a:xfrm>
          <a:prstGeom prst="rect">
            <a:avLst/>
          </a:prstGeom>
          <a:solidFill>
            <a:srgbClr val="FFF7FC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9372600" y="5127228"/>
            <a:ext cx="21971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4A2E6B"/>
                </a:solidFill>
                <a:latin typeface="Poppins"/>
              </a:rPr>
              <a:t>Final asset preparation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15900"/>
          </a:xfrm>
          <a:prstGeom prst="rect">
            <a:avLst/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8255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 spc="200">
                <a:solidFill>
                  <a:srgbClr val="FFFFFF"/>
                </a:solidFill>
                <a:latin typeface="VT323"/>
              </a:rPr>
              <a:t>NEW  ·  CONTENT PRODUCTION PORTFOLIO 2026  ·  SCROLL 4 MORE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0" y="0"/>
            <a:ext cx="24384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VT323"/>
              </a:rPr>
              <a:t>sign in     say hi     [ x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9400" y="279400"/>
            <a:ext cx="2921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300" b="1" i="0">
                <a:solidFill>
                  <a:srgbClr val="FF6FB5"/>
                </a:solidFill>
                <a:latin typeface="Fredoka"/>
              </a:rPr>
              <a:t>zahra.house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305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home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989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about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673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process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57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C9B6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FFFFFF"/>
                </a:solidFill>
                <a:latin typeface="Poppins"/>
              </a:rPr>
              <a:t>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41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contact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6500" y="304800"/>
            <a:ext cx="30480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4300" y="304800"/>
            <a:ext cx="2667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A796BC"/>
                </a:solidFill>
                <a:latin typeface="Poppins"/>
              </a:rPr>
              <a:t>search the site...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2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1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28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57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71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485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00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14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28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943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57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171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86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400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514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28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857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971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086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14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429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543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657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771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886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000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114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29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343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457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686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00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14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29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43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57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72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86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600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15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829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43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57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172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286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15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29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43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58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72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200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15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29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43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658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772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886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001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115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229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343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458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572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686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801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915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029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144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258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372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486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601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715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829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944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058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172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287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401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515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629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744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858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0972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1087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1201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1315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1430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1544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1658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1772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1887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2001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0" y="6451600"/>
            <a:ext cx="12192000" cy="406400"/>
          </a:xfrm>
          <a:prstGeom prst="rect">
            <a:avLst/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114300" y="6515100"/>
            <a:ext cx="787400" cy="279400"/>
          </a:xfrm>
          <a:prstGeom prst="roundRect">
            <a:avLst>
              <a:gd name="adj" fmla="val 30000"/>
            </a:avLst>
          </a:prstGeom>
          <a:solidFill>
            <a:srgbClr val="B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0" spc="100">
                <a:solidFill>
                  <a:srgbClr val="4A2E6B"/>
                </a:solidFill>
                <a:latin typeface="Poppins"/>
              </a:rPr>
              <a:t>start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003300" y="6515100"/>
            <a:ext cx="2159000" cy="279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143000" y="65151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4A2E6B"/>
                </a:solidFill>
                <a:latin typeface="VT323"/>
              </a:rPr>
              <a:t>portfolio_2026.html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0833100" y="6515100"/>
            <a:ext cx="1244600" cy="279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833100" y="6515100"/>
            <a:ext cx="12446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4A2E6B"/>
                </a:solidFill>
                <a:latin typeface="VT323"/>
              </a:rPr>
              <a:t>10:30 PM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279400" y="1028700"/>
            <a:ext cx="11633200" cy="444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292100" y="1041400"/>
            <a:ext cx="11607800" cy="241300"/>
          </a:xfrm>
          <a:prstGeom prst="rect">
            <a:avLst/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368300" y="1041400"/>
            <a:ext cx="11023600" cy="241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VT323"/>
              </a:rPr>
              <a:t>sawalaspace — project page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1747500" y="1111250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1595100" y="1111250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1442700" y="1111250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2" name="Round Same Side Corner Rectangle 131"/>
          <p:cNvSpPr/>
          <p:nvPr/>
        </p:nvSpPr>
        <p:spPr>
          <a:xfrm>
            <a:off x="495300" y="1447800"/>
            <a:ext cx="3302000" cy="26670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DCEEFF"/>
          </a:solidFill>
          <a:ln w="254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6E86A8"/>
                </a:solidFill>
                <a:latin typeface="Poppins"/>
              </a:rPr>
              <a:t>event visual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495300" y="4229100"/>
            <a:ext cx="1041400" cy="952500"/>
          </a:xfrm>
          <a:prstGeom prst="roundRect">
            <a:avLst>
              <a:gd name="adj" fmla="val 12000"/>
            </a:avLst>
          </a:prstGeom>
          <a:solidFill>
            <a:srgbClr val="DCEEFF"/>
          </a:solidFill>
          <a:ln w="254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6E86A8"/>
                </a:solidFill>
                <a:latin typeface="Poppins"/>
              </a:rPr>
              <a:t>promo content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1625600" y="4229100"/>
            <a:ext cx="1041400" cy="952500"/>
          </a:xfrm>
          <a:prstGeom prst="roundRect">
            <a:avLst>
              <a:gd name="adj" fmla="val 12000"/>
            </a:avLst>
          </a:prstGeom>
          <a:solidFill>
            <a:srgbClr val="DCEEFF"/>
          </a:solidFill>
          <a:ln w="254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6E86A8"/>
                </a:solidFill>
                <a:latin typeface="Poppins"/>
              </a:rPr>
              <a:t>social post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2755900" y="4229100"/>
            <a:ext cx="1041400" cy="952500"/>
          </a:xfrm>
          <a:prstGeom prst="roundRect">
            <a:avLst>
              <a:gd name="adj" fmla="val 12000"/>
            </a:avLst>
          </a:prstGeom>
          <a:solidFill>
            <a:srgbClr val="DCEEFF"/>
          </a:solidFill>
          <a:ln w="254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6E86A8"/>
                </a:solidFill>
                <a:latin typeface="Poppins"/>
              </a:rPr>
              <a:t>campaign material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152900" y="1435100"/>
            <a:ext cx="5715000" cy="9767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1" i="0">
                <a:solidFill>
                  <a:srgbClr val="FF6FB5"/>
                </a:solidFill>
                <a:latin typeface="Fredoka"/>
              </a:rPr>
              <a:t>sawala space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165600" y="2462609"/>
            <a:ext cx="10795000" cy="3559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4A2E6B"/>
                </a:solidFill>
                <a:latin typeface="Poppins"/>
              </a:rPr>
              <a:t>wellness community &amp; event project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4165600" y="2907506"/>
            <a:ext cx="1143000" cy="50800"/>
          </a:xfrm>
          <a:prstGeom prst="rect">
            <a:avLst/>
          </a:prstGeom>
          <a:solidFill>
            <a:srgbClr val="B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4152900" y="3072606"/>
            <a:ext cx="5588000" cy="157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5000"/>
              </a:lnSpc>
              <a:spcAft>
                <a:spcPts val="0"/>
              </a:spcAft>
            </a:pPr>
            <a:r>
              <a:rPr sz="1150" b="0" i="0">
                <a:solidFill>
                  <a:srgbClr val="4A2E6B"/>
                </a:solidFill>
                <a:latin typeface="Poppins"/>
              </a:rPr>
              <a:t>As a co-founder, I work across the creative side of Sawala Space — developing event concepts, creating promotional content, managing social media materials, communicating with brand partners, and supporting event execution.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65600" y="4736306"/>
            <a:ext cx="10795000" cy="416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 i="0">
                <a:solidFill>
                  <a:srgbClr val="FF6FB5"/>
                </a:solidFill>
                <a:latin typeface="VT323"/>
              </a:rPr>
              <a:t>my role: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4152900" y="5228749"/>
            <a:ext cx="1038583" cy="317500"/>
          </a:xfrm>
          <a:prstGeom prst="roundRect">
            <a:avLst>
              <a:gd name="adj" fmla="val 50000"/>
            </a:avLst>
          </a:prstGeom>
          <a:solidFill>
            <a:srgbClr val="FFF7FC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0" spc="100">
                <a:solidFill>
                  <a:srgbClr val="4A2E6B"/>
                </a:solidFill>
                <a:latin typeface="Poppins"/>
              </a:rPr>
              <a:t>concept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5267683" y="5228749"/>
            <a:ext cx="992425" cy="317500"/>
          </a:xfrm>
          <a:prstGeom prst="roundRect">
            <a:avLst>
              <a:gd name="adj" fmla="val 50000"/>
            </a:avLst>
          </a:prstGeom>
          <a:solidFill>
            <a:srgbClr val="FFF7FC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0" spc="100">
                <a:solidFill>
                  <a:srgbClr val="4A2E6B"/>
                </a:solidFill>
                <a:latin typeface="Poppins"/>
              </a:rPr>
              <a:t>content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6336308" y="5228749"/>
            <a:ext cx="823322" cy="317500"/>
          </a:xfrm>
          <a:prstGeom prst="roundRect">
            <a:avLst>
              <a:gd name="adj" fmla="val 50000"/>
            </a:avLst>
          </a:prstGeom>
          <a:solidFill>
            <a:srgbClr val="FFF7FC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0" spc="100">
                <a:solidFill>
                  <a:srgbClr val="4A2E6B"/>
                </a:solidFill>
                <a:latin typeface="Poppins"/>
              </a:rPr>
              <a:t>social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4152900" y="5609749"/>
            <a:ext cx="1230118" cy="317500"/>
          </a:xfrm>
          <a:prstGeom prst="roundRect">
            <a:avLst>
              <a:gd name="adj" fmla="val 50000"/>
            </a:avLst>
          </a:prstGeom>
          <a:solidFill>
            <a:srgbClr val="FFF7FC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0" spc="100">
                <a:solidFill>
                  <a:srgbClr val="4A2E6B"/>
                </a:solidFill>
                <a:latin typeface="Poppins"/>
              </a:rPr>
              <a:t>campaign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5459218" y="5609749"/>
            <a:ext cx="787624" cy="317500"/>
          </a:xfrm>
          <a:prstGeom prst="roundRect">
            <a:avLst>
              <a:gd name="adj" fmla="val 50000"/>
            </a:avLst>
          </a:prstGeom>
          <a:solidFill>
            <a:srgbClr val="FFF7FC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0" spc="100">
                <a:solidFill>
                  <a:srgbClr val="4A2E6B"/>
                </a:solidFill>
                <a:latin typeface="Poppins"/>
              </a:rPr>
              <a:t>event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6323043" y="5609749"/>
            <a:ext cx="1367515" cy="317500"/>
          </a:xfrm>
          <a:prstGeom prst="roundRect">
            <a:avLst>
              <a:gd name="adj" fmla="val 50000"/>
            </a:avLst>
          </a:prstGeom>
          <a:solidFill>
            <a:srgbClr val="FFF7FC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0" spc="100">
                <a:solidFill>
                  <a:srgbClr val="4A2E6B"/>
                </a:solidFill>
                <a:latin typeface="Poppins"/>
              </a:rPr>
              <a:t>partnership</a:t>
            </a:r>
          </a:p>
        </p:txBody>
      </p:sp>
      <p:sp>
        <p:nvSpPr>
          <p:cNvPr id="147" name="Oval 146"/>
          <p:cNvSpPr/>
          <p:nvPr/>
        </p:nvSpPr>
        <p:spPr>
          <a:xfrm>
            <a:off x="10185400" y="3822700"/>
            <a:ext cx="1460500" cy="1460500"/>
          </a:xfrm>
          <a:prstGeom prst="ellipse">
            <a:avLst/>
          </a:prstGeom>
          <a:solidFill>
            <a:srgbClr val="DCEEFF"/>
          </a:solidFill>
          <a:ln w="254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6E86A8"/>
                </a:solidFill>
                <a:latin typeface="Poppins"/>
              </a:rPr>
              <a:t>partner material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15900"/>
          </a:xfrm>
          <a:prstGeom prst="rect">
            <a:avLst/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8255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 spc="200">
                <a:solidFill>
                  <a:srgbClr val="FFFFFF"/>
                </a:solidFill>
                <a:latin typeface="VT323"/>
              </a:rPr>
              <a:t>NEW  ·  CONTENT PRODUCTION PORTFOLIO 2026  ·  SCROLL 4 MORE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0" y="0"/>
            <a:ext cx="24384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VT323"/>
              </a:rPr>
              <a:t>sign in     say hi     [ x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9400" y="279400"/>
            <a:ext cx="2921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300" b="1" i="0">
                <a:solidFill>
                  <a:srgbClr val="FF6FB5"/>
                </a:solidFill>
                <a:latin typeface="Fredoka"/>
              </a:rPr>
              <a:t>zahra.house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305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home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989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about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673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process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57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C9B6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FFFFFF"/>
                </a:solidFill>
                <a:latin typeface="Poppins"/>
              </a:rPr>
              <a:t>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41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contact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6500" y="304800"/>
            <a:ext cx="30480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4300" y="304800"/>
            <a:ext cx="2667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A796BC"/>
                </a:solidFill>
                <a:latin typeface="Poppins"/>
              </a:rPr>
              <a:t>search the site...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2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1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28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57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71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485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00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14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28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943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57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171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86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400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514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28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857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971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086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14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429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543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657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771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886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000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114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29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343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457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686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00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14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29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43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57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72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86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600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15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829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43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57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172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286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15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29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43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58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72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200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15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29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43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658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772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886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001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115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229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343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458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572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686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801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915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029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144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258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372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486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601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715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829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944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058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172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287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401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515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629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744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858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0972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1087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1201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1315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1430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1544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1658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1772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1887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2001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0" y="6451600"/>
            <a:ext cx="12192000" cy="406400"/>
          </a:xfrm>
          <a:prstGeom prst="rect">
            <a:avLst/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114300" y="6515100"/>
            <a:ext cx="787400" cy="279400"/>
          </a:xfrm>
          <a:prstGeom prst="roundRect">
            <a:avLst>
              <a:gd name="adj" fmla="val 30000"/>
            </a:avLst>
          </a:prstGeom>
          <a:solidFill>
            <a:srgbClr val="B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0" spc="100">
                <a:solidFill>
                  <a:srgbClr val="4A2E6B"/>
                </a:solidFill>
                <a:latin typeface="Poppins"/>
              </a:rPr>
              <a:t>start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003300" y="6515100"/>
            <a:ext cx="2159000" cy="279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143000" y="65151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4A2E6B"/>
                </a:solidFill>
                <a:latin typeface="VT323"/>
              </a:rPr>
              <a:t>portfolio_2026.html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0833100" y="6515100"/>
            <a:ext cx="1244600" cy="279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833100" y="6515100"/>
            <a:ext cx="12446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4A2E6B"/>
                </a:solidFill>
                <a:latin typeface="VT323"/>
              </a:rPr>
              <a:t>10:30 PM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79400" y="1003300"/>
            <a:ext cx="10795000" cy="885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 i="0">
                <a:solidFill>
                  <a:srgbClr val="FF6FB5"/>
                </a:solidFill>
                <a:latin typeface="Fredoka"/>
              </a:rPr>
              <a:t>content in practice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92100" y="1926828"/>
            <a:ext cx="9525000" cy="473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300" b="0" i="0">
                <a:solidFill>
                  <a:srgbClr val="4A2E6B"/>
                </a:solidFill>
                <a:latin typeface="Poppins"/>
              </a:rPr>
              <a:t>MAKING CONTENT THAT HAS SOMEWHERE TO GO.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279400" y="2438638"/>
            <a:ext cx="3784600" cy="2006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292100" y="2451338"/>
            <a:ext cx="3759200" cy="241300"/>
          </a:xfrm>
          <a:prstGeom prst="rect">
            <a:avLst/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68300" y="2451338"/>
            <a:ext cx="3175000" cy="241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VT323"/>
              </a:rPr>
              <a:t>01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898900" y="2521188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3746500" y="2521188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3594100" y="2521188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4" name="Round Same Side Corner Rectangle 133"/>
          <p:cNvSpPr/>
          <p:nvPr/>
        </p:nvSpPr>
        <p:spPr>
          <a:xfrm>
            <a:off x="431800" y="2819638"/>
            <a:ext cx="1524000" cy="13970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DCEEFF"/>
          </a:solidFill>
          <a:ln w="254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6E86A8"/>
                </a:solidFill>
                <a:latin typeface="Poppins"/>
              </a:rPr>
              <a:t/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08200" y="2857738"/>
            <a:ext cx="1841500" cy="392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4A2E6B"/>
                </a:solidFill>
                <a:latin typeface="Fredoka"/>
              </a:rPr>
              <a:t>event promotion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108200" y="3313748"/>
            <a:ext cx="18415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0" i="0">
                <a:solidFill>
                  <a:srgbClr val="8A76A8"/>
                </a:solidFill>
                <a:latin typeface="Poppins"/>
              </a:rPr>
              <a:t>concept · design · copy · social content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4216400" y="2438638"/>
            <a:ext cx="3784600" cy="2006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229100" y="2451338"/>
            <a:ext cx="3759200" cy="241300"/>
          </a:xfrm>
          <a:prstGeom prst="rect">
            <a:avLst/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4305300" y="2451338"/>
            <a:ext cx="3175000" cy="241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VT323"/>
              </a:rPr>
              <a:t>02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835900" y="2521188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7683500" y="2521188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7531100" y="2521188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4368800" y="2819638"/>
            <a:ext cx="1524000" cy="1397000"/>
          </a:xfrm>
          <a:prstGeom prst="ellipse">
            <a:avLst/>
          </a:prstGeom>
          <a:solidFill>
            <a:srgbClr val="DCEEFF"/>
          </a:solidFill>
          <a:ln w="254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6E86A8"/>
                </a:solidFill>
                <a:latin typeface="Poppins"/>
              </a:rPr>
              <a:t/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045200" y="2857738"/>
            <a:ext cx="1841500" cy="7065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4A2E6B"/>
                </a:solidFill>
                <a:latin typeface="Fredoka"/>
              </a:rPr>
              <a:t>campaign content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045200" y="3627755"/>
            <a:ext cx="18415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0" i="0">
                <a:solidFill>
                  <a:srgbClr val="8A76A8"/>
                </a:solidFill>
                <a:latin typeface="Poppins"/>
              </a:rPr>
              <a:t>visual direction · promotional assets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8153400" y="2438638"/>
            <a:ext cx="3784600" cy="2006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8166100" y="2451338"/>
            <a:ext cx="3759200" cy="241300"/>
          </a:xfrm>
          <a:prstGeom prst="rect">
            <a:avLst/>
          </a:prstGeom>
          <a:solidFill>
            <a:srgbClr val="B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242300" y="2451338"/>
            <a:ext cx="3175000" cy="241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VT323"/>
              </a:rPr>
              <a:t>03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1772900" y="2521188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1620500" y="2521188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11468100" y="2521188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2" name="Snip Diagonal Corner Rectangle 151"/>
          <p:cNvSpPr/>
          <p:nvPr/>
        </p:nvSpPr>
        <p:spPr>
          <a:xfrm>
            <a:off x="8305800" y="2819638"/>
            <a:ext cx="1524000" cy="1397000"/>
          </a:xfrm>
          <a:prstGeom prst="snip2DiagRect">
            <a:avLst/>
          </a:prstGeom>
          <a:solidFill>
            <a:srgbClr val="DCEEFF"/>
          </a:solidFill>
          <a:ln w="254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6E86A8"/>
                </a:solidFill>
                <a:latin typeface="Poppins"/>
              </a:rPr>
              <a:t/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982200" y="2857738"/>
            <a:ext cx="1841500" cy="392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4A2E6B"/>
                </a:solidFill>
                <a:latin typeface="Fredoka"/>
              </a:rPr>
              <a:t>social content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982200" y="3313748"/>
            <a:ext cx="18415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0" i="0">
                <a:solidFill>
                  <a:srgbClr val="8A76A8"/>
                </a:solidFill>
                <a:latin typeface="Poppins"/>
              </a:rPr>
              <a:t>design · copywriting · publishing preparation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279400" y="4597638"/>
            <a:ext cx="3784600" cy="2006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292100" y="4610338"/>
            <a:ext cx="3759200" cy="241300"/>
          </a:xfrm>
          <a:prstGeom prst="rect">
            <a:avLst/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368300" y="4610338"/>
            <a:ext cx="3175000" cy="241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VT323"/>
              </a:rPr>
              <a:t>04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3898900" y="4680188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3746500" y="4680188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3594100" y="4680188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1" name="Hexagon 160"/>
          <p:cNvSpPr/>
          <p:nvPr/>
        </p:nvSpPr>
        <p:spPr>
          <a:xfrm>
            <a:off x="431800" y="4978638"/>
            <a:ext cx="1524000" cy="1397000"/>
          </a:xfrm>
          <a:prstGeom prst="hexagon">
            <a:avLst/>
          </a:prstGeom>
          <a:solidFill>
            <a:srgbClr val="DCEEFF"/>
          </a:solidFill>
          <a:ln w="254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6E86A8"/>
                </a:solidFill>
                <a:latin typeface="Poppins"/>
              </a:rPr>
              <a:t/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108200" y="5016738"/>
            <a:ext cx="1841500" cy="7065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4A2E6B"/>
                </a:solidFill>
                <a:latin typeface="Fredoka"/>
              </a:rPr>
              <a:t>event documentation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108200" y="5786755"/>
            <a:ext cx="18415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0" i="0">
                <a:solidFill>
                  <a:srgbClr val="8A76A8"/>
                </a:solidFill>
                <a:latin typeface="Poppins"/>
              </a:rPr>
              <a:t>photography · documentation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4216400" y="4597638"/>
            <a:ext cx="3784600" cy="2006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4229100" y="4610338"/>
            <a:ext cx="3759200" cy="241300"/>
          </a:xfrm>
          <a:prstGeom prst="rect">
            <a:avLst/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4305300" y="4610338"/>
            <a:ext cx="3175000" cy="241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VT323"/>
              </a:rPr>
              <a:t>05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7835900" y="4680188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683500" y="4680188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531100" y="4680188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0" name="Rounded Rectangle 169"/>
          <p:cNvSpPr/>
          <p:nvPr/>
        </p:nvSpPr>
        <p:spPr>
          <a:xfrm>
            <a:off x="4368800" y="4978638"/>
            <a:ext cx="1524000" cy="1397000"/>
          </a:xfrm>
          <a:prstGeom prst="roundRect">
            <a:avLst>
              <a:gd name="adj" fmla="val 12000"/>
            </a:avLst>
          </a:prstGeom>
          <a:solidFill>
            <a:srgbClr val="DCEEFF"/>
          </a:solidFill>
          <a:ln w="254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6E86A8"/>
                </a:solidFill>
                <a:latin typeface="Poppins"/>
              </a:rPr>
              <a:t/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045200" y="5016738"/>
            <a:ext cx="1841500" cy="7065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4A2E6B"/>
                </a:solidFill>
                <a:latin typeface="Fredoka"/>
              </a:rPr>
              <a:t>organisational comms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6045200" y="5786755"/>
            <a:ext cx="18415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0" i="0">
                <a:solidFill>
                  <a:srgbClr val="8A76A8"/>
                </a:solidFill>
                <a:latin typeface="Poppins"/>
              </a:rPr>
              <a:t>visual materials · social media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8153400" y="4597638"/>
            <a:ext cx="3784600" cy="2006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8166100" y="4610338"/>
            <a:ext cx="3759200" cy="241300"/>
          </a:xfrm>
          <a:prstGeom prst="rect">
            <a:avLst/>
          </a:prstGeom>
          <a:solidFill>
            <a:srgbClr val="B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8242300" y="4610338"/>
            <a:ext cx="3175000" cy="241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VT323"/>
              </a:rPr>
              <a:t>06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11772900" y="4680188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11620500" y="4680188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11468100" y="4680188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9" name="Octagon 178"/>
          <p:cNvSpPr/>
          <p:nvPr/>
        </p:nvSpPr>
        <p:spPr>
          <a:xfrm>
            <a:off x="8305800" y="4978638"/>
            <a:ext cx="1524000" cy="1397000"/>
          </a:xfrm>
          <a:prstGeom prst="octagon">
            <a:avLst/>
          </a:prstGeom>
          <a:solidFill>
            <a:srgbClr val="DCEEFF"/>
          </a:solidFill>
          <a:ln w="254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6E86A8"/>
                </a:solidFill>
                <a:latin typeface="Poppins"/>
              </a:rPr>
              <a:t/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9982200" y="5016738"/>
            <a:ext cx="1841500" cy="392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4A2E6B"/>
                </a:solidFill>
                <a:latin typeface="Fredoka"/>
              </a:rPr>
              <a:t>event visuals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982200" y="5472748"/>
            <a:ext cx="18415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0" i="0">
                <a:solidFill>
                  <a:srgbClr val="8A76A8"/>
                </a:solidFill>
                <a:latin typeface="Poppins"/>
              </a:rPr>
              <a:t>promotional materials · coordination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15900"/>
          </a:xfrm>
          <a:prstGeom prst="rect">
            <a:avLst/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8255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 spc="200">
                <a:solidFill>
                  <a:srgbClr val="FFFFFF"/>
                </a:solidFill>
                <a:latin typeface="VT323"/>
              </a:rPr>
              <a:t>NEW  ·  CONTENT PRODUCTION PORTFOLIO 2026  ·  SCROLL 4 MORE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0" y="0"/>
            <a:ext cx="24384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VT323"/>
              </a:rPr>
              <a:t>sign in     say hi     [ x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9400" y="279400"/>
            <a:ext cx="2921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300" b="1" i="0">
                <a:solidFill>
                  <a:srgbClr val="FF6FB5"/>
                </a:solidFill>
                <a:latin typeface="Fredoka"/>
              </a:rPr>
              <a:t>zahra.house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305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home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989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about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673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process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57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C9B6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FFFFFF"/>
                </a:solidFill>
                <a:latin typeface="Poppins"/>
              </a:rPr>
              <a:t>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41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contact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6500" y="304800"/>
            <a:ext cx="30480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4300" y="304800"/>
            <a:ext cx="2667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A796BC"/>
                </a:solidFill>
                <a:latin typeface="Poppins"/>
              </a:rPr>
              <a:t>search the site...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2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1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28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57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71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485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00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14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28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943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57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171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86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400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514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28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857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971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086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14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429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543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657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771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886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000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114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29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343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457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686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00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14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29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43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57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72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86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600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15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829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43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57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172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286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15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29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43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58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72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200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15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29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43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658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772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886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001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115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229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343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458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572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686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801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915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029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144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258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372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486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601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715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829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944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058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172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287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401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515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629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744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858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0972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1087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1201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1315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1430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1544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1658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1772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1887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2001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0" y="6451600"/>
            <a:ext cx="12192000" cy="406400"/>
          </a:xfrm>
          <a:prstGeom prst="rect">
            <a:avLst/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114300" y="6515100"/>
            <a:ext cx="787400" cy="279400"/>
          </a:xfrm>
          <a:prstGeom prst="roundRect">
            <a:avLst>
              <a:gd name="adj" fmla="val 30000"/>
            </a:avLst>
          </a:prstGeom>
          <a:solidFill>
            <a:srgbClr val="B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0" spc="100">
                <a:solidFill>
                  <a:srgbClr val="4A2E6B"/>
                </a:solidFill>
                <a:latin typeface="Poppins"/>
              </a:rPr>
              <a:t>start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003300" y="6515100"/>
            <a:ext cx="2159000" cy="279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143000" y="65151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4A2E6B"/>
                </a:solidFill>
                <a:latin typeface="VT323"/>
              </a:rPr>
              <a:t>portfolio_2026.html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0833100" y="6515100"/>
            <a:ext cx="1244600" cy="279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833100" y="6515100"/>
            <a:ext cx="12446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4A2E6B"/>
                </a:solidFill>
                <a:latin typeface="VT323"/>
              </a:rPr>
              <a:t>10:30 PM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279400" y="990600"/>
            <a:ext cx="11633200" cy="457200"/>
          </a:xfrm>
          <a:prstGeom prst="roundRect">
            <a:avLst>
              <a:gd name="adj" fmla="val 30000"/>
            </a:avLst>
          </a:prstGeom>
          <a:solidFill>
            <a:srgbClr val="B9F0E4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279400" y="990600"/>
            <a:ext cx="1163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2100" b="0" i="0">
                <a:solidFill>
                  <a:srgbClr val="4A2E6B"/>
                </a:solidFill>
                <a:latin typeface="VT323"/>
              </a:rPr>
              <a:t>★  WELLNESS × SOCIAL IMPACT  ★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279400" y="1600200"/>
            <a:ext cx="4826000" cy="3873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292100" y="1612900"/>
            <a:ext cx="4800600" cy="241300"/>
          </a:xfrm>
          <a:prstGeom prst="rect">
            <a:avLst/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68300" y="1612900"/>
            <a:ext cx="4216400" cy="241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VT323"/>
              </a:rPr>
              <a:t>stretch_for_stray.jpg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940300" y="1682750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787900" y="1682750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35500" y="1682750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4" name="Round Same Side Corner Rectangle 133"/>
          <p:cNvSpPr/>
          <p:nvPr/>
        </p:nvSpPr>
        <p:spPr>
          <a:xfrm>
            <a:off x="444500" y="1993900"/>
            <a:ext cx="4495800" cy="33147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DCEEFF"/>
          </a:solidFill>
          <a:ln w="254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6E86A8"/>
                </a:solidFill>
                <a:latin typeface="Poppins"/>
              </a:rPr>
              <a:t>event poster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5308600" y="1600200"/>
            <a:ext cx="6604000" cy="3873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5321300" y="1612900"/>
            <a:ext cx="6578600" cy="241300"/>
          </a:xfrm>
          <a:prstGeom prst="rect">
            <a:avLst/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397500" y="1612900"/>
            <a:ext cx="5994400" cy="241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VT323"/>
              </a:rPr>
              <a:t>event details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1747500" y="1682750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1595100" y="1682750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1442700" y="1682750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524500" y="1993900"/>
            <a:ext cx="5715000" cy="8489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1" i="0">
                <a:solidFill>
                  <a:srgbClr val="FF6FB5"/>
                </a:solidFill>
                <a:latin typeface="Fredoka"/>
              </a:rPr>
              <a:t>stretch for stray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524500" y="2919016"/>
            <a:ext cx="5588000" cy="835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300" b="0" i="0">
                <a:solidFill>
                  <a:srgbClr val="4A2E6B"/>
                </a:solidFill>
                <a:latin typeface="Poppins"/>
              </a:rPr>
              <a:t>A wellness event combining movement, community, and support for animal welfare.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524500" y="3805476"/>
            <a:ext cx="10795000" cy="416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 i="0">
                <a:solidFill>
                  <a:srgbClr val="FF6FB5"/>
                </a:solidFill>
                <a:latin typeface="VT323"/>
              </a:rPr>
              <a:t>what i did: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5524500" y="4336018"/>
            <a:ext cx="139700" cy="139700"/>
          </a:xfrm>
          <a:prstGeom prst="roundRect">
            <a:avLst>
              <a:gd name="adj" fmla="val 25000"/>
            </a:avLst>
          </a:prstGeom>
          <a:solidFill>
            <a:srgbClr val="B9F0E4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778500" y="4297918"/>
            <a:ext cx="3556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4A2E6B"/>
                </a:solidFill>
                <a:latin typeface="Poppins"/>
              </a:rPr>
              <a:t>Campaign concept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5524500" y="4653518"/>
            <a:ext cx="139700" cy="139700"/>
          </a:xfrm>
          <a:prstGeom prst="roundRect">
            <a:avLst>
              <a:gd name="adj" fmla="val 25000"/>
            </a:avLst>
          </a:prstGeom>
          <a:solidFill>
            <a:srgbClr val="B9F0E4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5778500" y="4615418"/>
            <a:ext cx="3556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4A2E6B"/>
                </a:solidFill>
                <a:latin typeface="Poppins"/>
              </a:rPr>
              <a:t>Promotional content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5524500" y="4971018"/>
            <a:ext cx="139700" cy="139700"/>
          </a:xfrm>
          <a:prstGeom prst="roundRect">
            <a:avLst>
              <a:gd name="adj" fmla="val 25000"/>
            </a:avLst>
          </a:prstGeom>
          <a:solidFill>
            <a:srgbClr val="B9F0E4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5778500" y="4932918"/>
            <a:ext cx="3556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4A2E6B"/>
                </a:solidFill>
                <a:latin typeface="Poppins"/>
              </a:rPr>
              <a:t>Social media communication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5524500" y="5288518"/>
            <a:ext cx="139700" cy="139700"/>
          </a:xfrm>
          <a:prstGeom prst="roundRect">
            <a:avLst>
              <a:gd name="adj" fmla="val 25000"/>
            </a:avLst>
          </a:prstGeom>
          <a:solidFill>
            <a:srgbClr val="B9F0E4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5778500" y="5250418"/>
            <a:ext cx="3556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4A2E6B"/>
                </a:solidFill>
                <a:latin typeface="Poppins"/>
              </a:rPr>
              <a:t>Partnership communication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5524500" y="5606018"/>
            <a:ext cx="139700" cy="139700"/>
          </a:xfrm>
          <a:prstGeom prst="roundRect">
            <a:avLst>
              <a:gd name="adj" fmla="val 25000"/>
            </a:avLst>
          </a:prstGeom>
          <a:solidFill>
            <a:srgbClr val="B9F0E4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5778500" y="5567918"/>
            <a:ext cx="3556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4A2E6B"/>
                </a:solidFill>
                <a:latin typeface="Poppins"/>
              </a:rPr>
              <a:t>Event coordination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5524500" y="5923518"/>
            <a:ext cx="139700" cy="139700"/>
          </a:xfrm>
          <a:prstGeom prst="roundRect">
            <a:avLst>
              <a:gd name="adj" fmla="val 25000"/>
            </a:avLst>
          </a:prstGeom>
          <a:solidFill>
            <a:srgbClr val="B9F0E4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5778500" y="5885418"/>
            <a:ext cx="3556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4A2E6B"/>
                </a:solidFill>
                <a:latin typeface="Poppins"/>
              </a:rPr>
              <a:t>Event-day support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9626600" y="3124200"/>
            <a:ext cx="1905000" cy="1270000"/>
          </a:xfrm>
          <a:prstGeom prst="roundRect">
            <a:avLst>
              <a:gd name="adj" fmla="val 12000"/>
            </a:avLst>
          </a:prstGeom>
          <a:solidFill>
            <a:srgbClr val="DCEEFF"/>
          </a:solidFill>
          <a:ln w="254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6E86A8"/>
                </a:solidFill>
                <a:latin typeface="Poppins"/>
              </a:rPr>
              <a:t>social announcement</a:t>
            </a:r>
          </a:p>
        </p:txBody>
      </p:sp>
      <p:sp>
        <p:nvSpPr>
          <p:cNvPr id="157" name="Oval 156"/>
          <p:cNvSpPr/>
          <p:nvPr/>
        </p:nvSpPr>
        <p:spPr>
          <a:xfrm>
            <a:off x="9753600" y="4521200"/>
            <a:ext cx="1143000" cy="1016000"/>
          </a:xfrm>
          <a:prstGeom prst="ellipse">
            <a:avLst/>
          </a:prstGeom>
          <a:solidFill>
            <a:srgbClr val="DCEEFF"/>
          </a:solidFill>
          <a:ln w="254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6E86A8"/>
                </a:solidFill>
                <a:latin typeface="Poppins"/>
              </a:rPr>
              <a:t>event documentation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15900"/>
          </a:xfrm>
          <a:prstGeom prst="rect">
            <a:avLst/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8255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 spc="200">
                <a:solidFill>
                  <a:srgbClr val="FFFFFF"/>
                </a:solidFill>
                <a:latin typeface="VT323"/>
              </a:rPr>
              <a:t>NEW  ·  CONTENT PRODUCTION PORTFOLIO 2026  ·  SCROLL 4 MORE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0" y="0"/>
            <a:ext cx="24384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VT323"/>
              </a:rPr>
              <a:t>sign in     say hi     [ x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9400" y="279400"/>
            <a:ext cx="2921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300" b="1" i="0">
                <a:solidFill>
                  <a:srgbClr val="FF6FB5"/>
                </a:solidFill>
                <a:latin typeface="Fredoka"/>
              </a:rPr>
              <a:t>zahra.house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305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home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989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about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673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C9B6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FFFFFF"/>
                </a:solidFill>
                <a:latin typeface="Poppins"/>
              </a:rPr>
              <a:t>process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57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41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contact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6500" y="304800"/>
            <a:ext cx="30480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4300" y="304800"/>
            <a:ext cx="2667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A796BC"/>
                </a:solidFill>
                <a:latin typeface="Poppins"/>
              </a:rPr>
              <a:t>search the site...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2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1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28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57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71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485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00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14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28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943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57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171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86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400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514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28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857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971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086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14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429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543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657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771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886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000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114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29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343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457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686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00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14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29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43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57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72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86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600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15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829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43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57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172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286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15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29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43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58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72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200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15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29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43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658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772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886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001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115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229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343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458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572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686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801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915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029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144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258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372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486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601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715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829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944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058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172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287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401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515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629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744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858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0972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1087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1201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1315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1430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1544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1658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1772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1887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2001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0" y="6451600"/>
            <a:ext cx="12192000" cy="406400"/>
          </a:xfrm>
          <a:prstGeom prst="rect">
            <a:avLst/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114300" y="6515100"/>
            <a:ext cx="787400" cy="279400"/>
          </a:xfrm>
          <a:prstGeom prst="roundRect">
            <a:avLst>
              <a:gd name="adj" fmla="val 30000"/>
            </a:avLst>
          </a:prstGeom>
          <a:solidFill>
            <a:srgbClr val="B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0" spc="100">
                <a:solidFill>
                  <a:srgbClr val="4A2E6B"/>
                </a:solidFill>
                <a:latin typeface="Poppins"/>
              </a:rPr>
              <a:t>start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003300" y="6515100"/>
            <a:ext cx="2159000" cy="279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143000" y="65151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4A2E6B"/>
                </a:solidFill>
                <a:latin typeface="VT323"/>
              </a:rPr>
              <a:t>portfolio_2026.html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0833100" y="6515100"/>
            <a:ext cx="1244600" cy="279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833100" y="6515100"/>
            <a:ext cx="12446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4A2E6B"/>
                </a:solidFill>
                <a:latin typeface="VT323"/>
              </a:rPr>
              <a:t>10:30 PM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79400" y="1003300"/>
            <a:ext cx="6985000" cy="8854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 i="0">
                <a:solidFill>
                  <a:srgbClr val="FF6FB5"/>
                </a:solidFill>
                <a:latin typeface="Fredoka"/>
              </a:rPr>
              <a:t>behind the final post.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279400" y="1977628"/>
            <a:ext cx="1015396" cy="304800"/>
          </a:xfrm>
          <a:prstGeom prst="roundRect">
            <a:avLst>
              <a:gd name="adj" fmla="val 50000"/>
            </a:avLst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0" spc="100">
                <a:solidFill>
                  <a:srgbClr val="FFFFFF"/>
                </a:solidFill>
                <a:latin typeface="Poppins"/>
              </a:rPr>
              <a:t>prepare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1370996" y="1977628"/>
            <a:ext cx="876706" cy="304800"/>
          </a:xfrm>
          <a:prstGeom prst="roundRect">
            <a:avLst>
              <a:gd name="adj" fmla="val 50000"/>
            </a:avLst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0" spc="100">
                <a:solidFill>
                  <a:srgbClr val="FFFFFF"/>
                </a:solidFill>
                <a:latin typeface="Poppins"/>
              </a:rPr>
              <a:t>create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2323902" y="1977628"/>
            <a:ext cx="624884" cy="304800"/>
          </a:xfrm>
          <a:prstGeom prst="roundRect">
            <a:avLst>
              <a:gd name="adj" fmla="val 50000"/>
            </a:avLst>
          </a:prstGeom>
          <a:solidFill>
            <a:srgbClr val="B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0" spc="100">
                <a:solidFill>
                  <a:srgbClr val="4A2E6B"/>
                </a:solidFill>
                <a:latin typeface="Poppins"/>
              </a:rPr>
              <a:t>edit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3024986" y="1977628"/>
            <a:ext cx="805203" cy="304800"/>
          </a:xfrm>
          <a:prstGeom prst="roundRect">
            <a:avLst>
              <a:gd name="adj" fmla="val 50000"/>
            </a:avLst>
          </a:prstGeom>
          <a:solidFill>
            <a:srgbClr val="DC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0" spc="100">
                <a:solidFill>
                  <a:srgbClr val="4A2E6B"/>
                </a:solidFill>
                <a:latin typeface="Poppins"/>
              </a:rPr>
              <a:t>refine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3906389" y="1977628"/>
            <a:ext cx="937207" cy="304800"/>
          </a:xfrm>
          <a:prstGeom prst="roundRect">
            <a:avLst>
              <a:gd name="adj" fmla="val 50000"/>
            </a:avLst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0" spc="100">
                <a:solidFill>
                  <a:srgbClr val="FFFFFF"/>
                </a:solidFill>
                <a:latin typeface="Poppins"/>
              </a:rPr>
              <a:t>finalize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279400" y="2409428"/>
            <a:ext cx="11633200" cy="39405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292100" y="2422128"/>
            <a:ext cx="11607800" cy="241300"/>
          </a:xfrm>
          <a:prstGeom prst="rect">
            <a:avLst/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368300" y="2422128"/>
            <a:ext cx="11023600" cy="241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VT323"/>
              </a:rPr>
              <a:t>process_gallery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1747500" y="2491978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1595100" y="2491978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11442700" y="2491978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8" name="Snip Diagonal Corner Rectangle 137"/>
          <p:cNvSpPr/>
          <p:nvPr/>
        </p:nvSpPr>
        <p:spPr>
          <a:xfrm>
            <a:off x="457200" y="2790428"/>
            <a:ext cx="2667000" cy="1322586"/>
          </a:xfrm>
          <a:prstGeom prst="snip2DiagRect">
            <a:avLst/>
          </a:prstGeom>
          <a:solidFill>
            <a:srgbClr val="DCEEFF"/>
          </a:solidFill>
          <a:ln w="254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6E86A8"/>
                </a:solidFill>
                <a:latin typeface="Poppins"/>
              </a:rPr>
              <a:t>content preparation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69900" y="4151114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>
                <a:solidFill>
                  <a:srgbClr val="FF6FB5"/>
                </a:solidFill>
                <a:latin typeface="VT323"/>
              </a:rPr>
              <a:t>prepare</a:t>
            </a:r>
          </a:p>
        </p:txBody>
      </p:sp>
      <p:sp>
        <p:nvSpPr>
          <p:cNvPr id="140" name="Oval 139"/>
          <p:cNvSpPr/>
          <p:nvPr/>
        </p:nvSpPr>
        <p:spPr>
          <a:xfrm>
            <a:off x="3302000" y="2790428"/>
            <a:ext cx="2667000" cy="1322586"/>
          </a:xfrm>
          <a:prstGeom prst="ellipse">
            <a:avLst/>
          </a:prstGeom>
          <a:solidFill>
            <a:srgbClr val="DCEEFF"/>
          </a:solidFill>
          <a:ln w="254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6E86A8"/>
                </a:solidFill>
                <a:latin typeface="Poppins"/>
              </a:rPr>
              <a:t>visual draft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314700" y="4151114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>
                <a:solidFill>
                  <a:srgbClr val="FF6FB5"/>
                </a:solidFill>
                <a:latin typeface="VT323"/>
              </a:rPr>
              <a:t>create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6146800" y="2790428"/>
            <a:ext cx="2667000" cy="1322586"/>
          </a:xfrm>
          <a:prstGeom prst="roundRect">
            <a:avLst>
              <a:gd name="adj" fmla="val 12000"/>
            </a:avLst>
          </a:prstGeom>
          <a:solidFill>
            <a:srgbClr val="DCEEFF"/>
          </a:solidFill>
          <a:ln w="254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6E86A8"/>
                </a:solidFill>
                <a:latin typeface="Poppins"/>
              </a:rPr>
              <a:t>design versions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159500" y="4151114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>
                <a:solidFill>
                  <a:srgbClr val="FF6FB5"/>
                </a:solidFill>
                <a:latin typeface="VT323"/>
              </a:rPr>
              <a:t>refine</a:t>
            </a:r>
          </a:p>
        </p:txBody>
      </p:sp>
      <p:sp>
        <p:nvSpPr>
          <p:cNvPr id="144" name="Hexagon 143"/>
          <p:cNvSpPr/>
          <p:nvPr/>
        </p:nvSpPr>
        <p:spPr>
          <a:xfrm>
            <a:off x="8991600" y="2790428"/>
            <a:ext cx="2667000" cy="1322586"/>
          </a:xfrm>
          <a:prstGeom prst="hexagon">
            <a:avLst/>
          </a:prstGeom>
          <a:solidFill>
            <a:srgbClr val="DCEEFF"/>
          </a:solidFill>
          <a:ln w="254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6E86A8"/>
                </a:solidFill>
                <a:latin typeface="Poppins"/>
              </a:rPr>
              <a:t>photography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004300" y="4151114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>
                <a:solidFill>
                  <a:srgbClr val="FF6FB5"/>
                </a:solidFill>
                <a:latin typeface="VT323"/>
              </a:rPr>
              <a:t>create</a:t>
            </a:r>
          </a:p>
        </p:txBody>
      </p:sp>
      <p:sp>
        <p:nvSpPr>
          <p:cNvPr id="146" name="Round Same Side Corner Rectangle 145"/>
          <p:cNvSpPr/>
          <p:nvPr/>
        </p:nvSpPr>
        <p:spPr>
          <a:xfrm>
            <a:off x="457200" y="4506714"/>
            <a:ext cx="2667000" cy="1322586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DCEEFF"/>
          </a:solidFill>
          <a:ln w="254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6E86A8"/>
                </a:solidFill>
                <a:latin typeface="Poppins"/>
              </a:rPr>
              <a:t>editing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69900" y="58674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>
                <a:solidFill>
                  <a:srgbClr val="FF6FB5"/>
                </a:solidFill>
                <a:latin typeface="VT323"/>
              </a:rPr>
              <a:t>edit</a:t>
            </a:r>
          </a:p>
        </p:txBody>
      </p:sp>
      <p:sp>
        <p:nvSpPr>
          <p:cNvPr id="148" name="Snip Single Corner Rectangle 147"/>
          <p:cNvSpPr/>
          <p:nvPr/>
        </p:nvSpPr>
        <p:spPr>
          <a:xfrm>
            <a:off x="3302000" y="4506714"/>
            <a:ext cx="2667000" cy="1322586"/>
          </a:xfrm>
          <a:prstGeom prst="snip1Rect">
            <a:avLst/>
          </a:prstGeom>
          <a:solidFill>
            <a:srgbClr val="DCEEFF"/>
          </a:solidFill>
          <a:ln w="254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6E86A8"/>
                </a:solidFill>
                <a:latin typeface="Poppins"/>
              </a:rPr>
              <a:t>final asset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314700" y="58674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>
                <a:solidFill>
                  <a:srgbClr val="FF6FB5"/>
                </a:solidFill>
                <a:latin typeface="VT323"/>
              </a:rPr>
              <a:t>finalize</a:t>
            </a:r>
          </a:p>
        </p:txBody>
      </p:sp>
      <p:sp>
        <p:nvSpPr>
          <p:cNvPr id="150" name="Octagon 149"/>
          <p:cNvSpPr/>
          <p:nvPr/>
        </p:nvSpPr>
        <p:spPr>
          <a:xfrm>
            <a:off x="6146800" y="4506714"/>
            <a:ext cx="2667000" cy="1322586"/>
          </a:xfrm>
          <a:prstGeom prst="octagon">
            <a:avLst/>
          </a:prstGeom>
          <a:solidFill>
            <a:srgbClr val="DCEEFF"/>
          </a:solidFill>
          <a:ln w="254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6E86A8"/>
                </a:solidFill>
                <a:latin typeface="Poppins"/>
              </a:rPr>
              <a:t>behind the scenes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159500" y="58674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>
                <a:solidFill>
                  <a:srgbClr val="FF6FB5"/>
                </a:solidFill>
                <a:latin typeface="VT323"/>
              </a:rPr>
              <a:t>prepare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8991600" y="4506714"/>
            <a:ext cx="2667000" cy="1322586"/>
          </a:xfrm>
          <a:prstGeom prst="roundRect">
            <a:avLst>
              <a:gd name="adj" fmla="val 12000"/>
            </a:avLst>
          </a:prstGeom>
          <a:solidFill>
            <a:srgbClr val="DCEEFF"/>
          </a:solidFill>
          <a:ln w="254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6E86A8"/>
                </a:solidFill>
                <a:latin typeface="Poppins"/>
              </a:rPr>
              <a:t>event documentation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004300" y="58674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>
                <a:solidFill>
                  <a:srgbClr val="FF6FB5"/>
                </a:solidFill>
                <a:latin typeface="VT323"/>
              </a:rPr>
              <a:t>create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15900"/>
          </a:xfrm>
          <a:prstGeom prst="rect">
            <a:avLst/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8255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 spc="200">
                <a:solidFill>
                  <a:srgbClr val="FFFFFF"/>
                </a:solidFill>
                <a:latin typeface="VT323"/>
              </a:rPr>
              <a:t>NEW  ·  CONTENT PRODUCTION PORTFOLIO 2026  ·  SCROLL 4 MORE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0" y="0"/>
            <a:ext cx="24384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VT323"/>
              </a:rPr>
              <a:t>sign in     say hi     [ x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9400" y="279400"/>
            <a:ext cx="2921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300" b="1" i="0">
                <a:solidFill>
                  <a:srgbClr val="FF6FB5"/>
                </a:solidFill>
                <a:latin typeface="Fredoka"/>
              </a:rPr>
              <a:t>zahra.house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305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home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989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C9B6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FFFFFF"/>
                </a:solidFill>
                <a:latin typeface="Poppins"/>
              </a:rPr>
              <a:t>about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673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process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57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41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contact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6500" y="304800"/>
            <a:ext cx="30480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4300" y="304800"/>
            <a:ext cx="2667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A796BC"/>
                </a:solidFill>
                <a:latin typeface="Poppins"/>
              </a:rPr>
              <a:t>search the site...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2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1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28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57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71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485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00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14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28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943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57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171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86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400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514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28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857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971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086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14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429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543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657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771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886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000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114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29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343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457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686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00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14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29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43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57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72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86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600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15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829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43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57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172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286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15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29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43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58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72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200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15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29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43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658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772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886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001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115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229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343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458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572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686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801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915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029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144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258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372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486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601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715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829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944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058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172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287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401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515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629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744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858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0972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1087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1201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1315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1430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1544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1658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1772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1887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2001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0" y="6451600"/>
            <a:ext cx="12192000" cy="406400"/>
          </a:xfrm>
          <a:prstGeom prst="rect">
            <a:avLst/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114300" y="6515100"/>
            <a:ext cx="787400" cy="279400"/>
          </a:xfrm>
          <a:prstGeom prst="roundRect">
            <a:avLst>
              <a:gd name="adj" fmla="val 30000"/>
            </a:avLst>
          </a:prstGeom>
          <a:solidFill>
            <a:srgbClr val="B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0" spc="100">
                <a:solidFill>
                  <a:srgbClr val="4A2E6B"/>
                </a:solidFill>
                <a:latin typeface="Poppins"/>
              </a:rPr>
              <a:t>start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003300" y="6515100"/>
            <a:ext cx="2159000" cy="279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143000" y="65151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4A2E6B"/>
                </a:solidFill>
                <a:latin typeface="VT323"/>
              </a:rPr>
              <a:t>portfolio_2026.html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0833100" y="6515100"/>
            <a:ext cx="1244600" cy="279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833100" y="6515100"/>
            <a:ext cx="12446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4A2E6B"/>
                </a:solidFill>
                <a:latin typeface="VT323"/>
              </a:rPr>
              <a:t>10:30 PM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79400" y="1003300"/>
            <a:ext cx="5715000" cy="9310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200" b="1" i="0">
                <a:solidFill>
                  <a:srgbClr val="FF6FB5"/>
                </a:solidFill>
                <a:latin typeface="Fredoka"/>
              </a:rPr>
              <a:t>the tools i work with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279400" y="2048669"/>
            <a:ext cx="3784600" cy="2667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292100" y="2061369"/>
            <a:ext cx="3759200" cy="241300"/>
          </a:xfrm>
          <a:prstGeom prst="rect">
            <a:avLst/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68300" y="2061369"/>
            <a:ext cx="3175000" cy="241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VT323"/>
              </a:rPr>
              <a:t>design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898900" y="2131219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3746500" y="2131219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3594100" y="2131219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44500" y="2455069"/>
            <a:ext cx="3454400" cy="431800"/>
          </a:xfrm>
          <a:prstGeom prst="rect">
            <a:avLst/>
          </a:prstGeom>
          <a:solidFill>
            <a:srgbClr val="FFF7FC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571500" y="2556669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14400" y="2455069"/>
            <a:ext cx="24130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4A2E6B"/>
                </a:solidFill>
                <a:latin typeface="Poppins"/>
              </a:rPr>
              <a:t>Canva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444500" y="2988469"/>
            <a:ext cx="3454400" cy="431800"/>
          </a:xfrm>
          <a:prstGeom prst="rect">
            <a:avLst/>
          </a:prstGeom>
          <a:solidFill>
            <a:srgbClr val="FFF7FC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571500" y="3090069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14400" y="2988469"/>
            <a:ext cx="24130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4A2E6B"/>
                </a:solidFill>
                <a:latin typeface="Poppins"/>
              </a:rPr>
              <a:t>Adobe Illustrator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444500" y="3521869"/>
            <a:ext cx="3454400" cy="431800"/>
          </a:xfrm>
          <a:prstGeom prst="rect">
            <a:avLst/>
          </a:prstGeom>
          <a:solidFill>
            <a:srgbClr val="FFF7FC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0" name="Rounded Rectangle 139"/>
          <p:cNvSpPr/>
          <p:nvPr/>
        </p:nvSpPr>
        <p:spPr>
          <a:xfrm>
            <a:off x="571500" y="3623469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914400" y="3521869"/>
            <a:ext cx="24130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4A2E6B"/>
                </a:solidFill>
                <a:latin typeface="Poppins"/>
              </a:rPr>
              <a:t>Adobe Photoshop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4216400" y="2048669"/>
            <a:ext cx="3784600" cy="2667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4229100" y="2061369"/>
            <a:ext cx="3759200" cy="241300"/>
          </a:xfrm>
          <a:prstGeom prst="rect">
            <a:avLst/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305300" y="2061369"/>
            <a:ext cx="3175000" cy="241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VT323"/>
              </a:rPr>
              <a:t>video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835900" y="2131219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7683500" y="2131219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7531100" y="2131219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4381500" y="2455069"/>
            <a:ext cx="3454400" cy="431800"/>
          </a:xfrm>
          <a:prstGeom prst="rect">
            <a:avLst/>
          </a:prstGeom>
          <a:solidFill>
            <a:srgbClr val="FFF7FC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9" name="Rounded Rectangle 148"/>
          <p:cNvSpPr/>
          <p:nvPr/>
        </p:nvSpPr>
        <p:spPr>
          <a:xfrm>
            <a:off x="4508500" y="2556669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4851400" y="2455069"/>
            <a:ext cx="24130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4A2E6B"/>
                </a:solidFill>
                <a:latin typeface="Poppins"/>
              </a:rPr>
              <a:t>CapCut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8153400" y="2048669"/>
            <a:ext cx="3784600" cy="2667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8166100" y="2061369"/>
            <a:ext cx="3759200" cy="241300"/>
          </a:xfrm>
          <a:prstGeom prst="rect">
            <a:avLst/>
          </a:prstGeom>
          <a:solidFill>
            <a:srgbClr val="B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8242300" y="2061369"/>
            <a:ext cx="3175000" cy="241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VT323"/>
              </a:rPr>
              <a:t>workflow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1772900" y="2131219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11620500" y="2131219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11468100" y="2131219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8318500" y="2455069"/>
            <a:ext cx="3454400" cy="431800"/>
          </a:xfrm>
          <a:prstGeom prst="rect">
            <a:avLst/>
          </a:prstGeom>
          <a:solidFill>
            <a:srgbClr val="FFF7FC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8" name="Rounded Rectangle 157"/>
          <p:cNvSpPr/>
          <p:nvPr/>
        </p:nvSpPr>
        <p:spPr>
          <a:xfrm>
            <a:off x="8445500" y="2556669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B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8788400" y="2455069"/>
            <a:ext cx="24130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4A2E6B"/>
                </a:solidFill>
                <a:latin typeface="Poppins"/>
              </a:rPr>
              <a:t>Google Workspace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8318500" y="2988469"/>
            <a:ext cx="3454400" cy="431800"/>
          </a:xfrm>
          <a:prstGeom prst="rect">
            <a:avLst/>
          </a:prstGeom>
          <a:solidFill>
            <a:srgbClr val="FFF7FC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1" name="Rounded Rectangle 160"/>
          <p:cNvSpPr/>
          <p:nvPr/>
        </p:nvSpPr>
        <p:spPr>
          <a:xfrm>
            <a:off x="8445500" y="3090069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B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8788400" y="2988469"/>
            <a:ext cx="24130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4A2E6B"/>
                </a:solidFill>
                <a:latin typeface="Poppins"/>
              </a:rPr>
              <a:t>Microsoft Office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279400" y="4906169"/>
            <a:ext cx="11633200" cy="144383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292100" y="4918869"/>
            <a:ext cx="11607800" cy="241300"/>
          </a:xfrm>
          <a:prstGeom prst="rect">
            <a:avLst/>
          </a:prstGeom>
          <a:solidFill>
            <a:srgbClr val="DC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368300" y="4918869"/>
            <a:ext cx="11023600" cy="241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VT323"/>
              </a:rPr>
              <a:t>note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11747500" y="4988719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11595100" y="4988719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11442700" y="4988719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469900" y="5274469"/>
            <a:ext cx="8890000" cy="855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350" b="0" i="0">
                <a:solidFill>
                  <a:srgbClr val="4A2E6B"/>
                </a:solidFill>
                <a:latin typeface="Poppins"/>
              </a:rPr>
              <a:t>I'm comfortable learning new digital tools and adapting my workflow depending on the content, platform, and project.</a:t>
            </a:r>
          </a:p>
        </p:txBody>
      </p:sp>
      <p:sp>
        <p:nvSpPr>
          <p:cNvPr id="170" name="Oval 169"/>
          <p:cNvSpPr/>
          <p:nvPr/>
        </p:nvSpPr>
        <p:spPr>
          <a:xfrm>
            <a:off x="10185400" y="5198269"/>
            <a:ext cx="952500" cy="952500"/>
          </a:xfrm>
          <a:prstGeom prst="ellipse">
            <a:avLst/>
          </a:prstGeom>
          <a:solidFill>
            <a:srgbClr val="DCEEFF"/>
          </a:solidFill>
          <a:ln w="254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6E86A8"/>
                </a:solidFill>
                <a:latin typeface="Poppins"/>
              </a:rPr>
              <a:t>photo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15900"/>
          </a:xfrm>
          <a:prstGeom prst="rect">
            <a:avLst/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8255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 spc="200">
                <a:solidFill>
                  <a:srgbClr val="FFFFFF"/>
                </a:solidFill>
                <a:latin typeface="VT323"/>
              </a:rPr>
              <a:t>NEW  ·  CONTENT PRODUCTION PORTFOLIO 2026  ·  SCROLL 4 MORE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0" y="0"/>
            <a:ext cx="24384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VT323"/>
              </a:rPr>
              <a:t>sign in     say hi     [ x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9400" y="279400"/>
            <a:ext cx="2921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300" b="1" i="0">
                <a:solidFill>
                  <a:srgbClr val="FF6FB5"/>
                </a:solidFill>
                <a:latin typeface="Fredoka"/>
              </a:rPr>
              <a:t>zahra.house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305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home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989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about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673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process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57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4A2E6B"/>
                </a:solidFill>
                <a:latin typeface="Poppins"/>
              </a:rPr>
              <a:t>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4100" y="3048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C9B6FF"/>
          </a:solidFill>
          <a:ln w="15875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100">
                <a:solidFill>
                  <a:srgbClr val="FFFFFF"/>
                </a:solidFill>
                <a:latin typeface="Poppins"/>
              </a:rPr>
              <a:t>contact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6500" y="304800"/>
            <a:ext cx="30480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4300" y="304800"/>
            <a:ext cx="2667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A796BC"/>
                </a:solidFill>
                <a:latin typeface="Poppins"/>
              </a:rPr>
              <a:t>search the site...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2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1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28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57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71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485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00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14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28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943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57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171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86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400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514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28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857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971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086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14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429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543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657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771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886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000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114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29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343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457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686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00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14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29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43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57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72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86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600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15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829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43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57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172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286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15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29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43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58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72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200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15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29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43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658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772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886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001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115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229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343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458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572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686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801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915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029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144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258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372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486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601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715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829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944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058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172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287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401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515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629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744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858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09728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10871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12014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13157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14300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15443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16586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17729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1887200" y="774700"/>
            <a:ext cx="114300" cy="114300"/>
          </a:xfrm>
          <a:prstGeom prst="rect">
            <a:avLst/>
          </a:prstGeom>
          <a:solidFill>
            <a:srgbClr val="4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2001500" y="7747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0" y="6451600"/>
            <a:ext cx="12192000" cy="406400"/>
          </a:xfrm>
          <a:prstGeom prst="rect">
            <a:avLst/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114300" y="6515100"/>
            <a:ext cx="787400" cy="279400"/>
          </a:xfrm>
          <a:prstGeom prst="roundRect">
            <a:avLst>
              <a:gd name="adj" fmla="val 30000"/>
            </a:avLst>
          </a:prstGeom>
          <a:solidFill>
            <a:srgbClr val="B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0" spc="100">
                <a:solidFill>
                  <a:srgbClr val="4A2E6B"/>
                </a:solidFill>
                <a:latin typeface="Poppins"/>
              </a:rPr>
              <a:t>start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003300" y="6515100"/>
            <a:ext cx="2159000" cy="279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143000" y="65151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4A2E6B"/>
                </a:solidFill>
                <a:latin typeface="VT323"/>
              </a:rPr>
              <a:t>portfolio_2026.html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0833100" y="6515100"/>
            <a:ext cx="1244600" cy="279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833100" y="6515100"/>
            <a:ext cx="12446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4A2E6B"/>
                </a:solidFill>
                <a:latin typeface="VT323"/>
              </a:rPr>
              <a:t>10:30 PM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2413000" y="1460500"/>
            <a:ext cx="7366000" cy="3937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2425700" y="1473200"/>
            <a:ext cx="7340600" cy="241300"/>
          </a:xfrm>
          <a:prstGeom prst="rect">
            <a:avLst/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501900" y="1473200"/>
            <a:ext cx="6756400" cy="241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VT323"/>
              </a:rPr>
              <a:t>new message!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613900" y="1543050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9461500" y="1543050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9309100" y="1543050"/>
            <a:ext cx="88900" cy="8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2" name="Heart 131"/>
          <p:cNvSpPr/>
          <p:nvPr/>
        </p:nvSpPr>
        <p:spPr>
          <a:xfrm>
            <a:off x="2730500" y="1968500"/>
            <a:ext cx="444500" cy="408940"/>
          </a:xfrm>
          <a:prstGeom prst="heart">
            <a:avLst/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3365500" y="1943100"/>
            <a:ext cx="5715000" cy="7667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 i="0">
                <a:solidFill>
                  <a:srgbClr val="FF6FB5"/>
                </a:solidFill>
                <a:latin typeface="Fredoka"/>
              </a:rPr>
              <a:t>let's make something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365500" y="2722562"/>
            <a:ext cx="10795000" cy="766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 i="0">
                <a:solidFill>
                  <a:srgbClr val="FF6FB5"/>
                </a:solidFill>
                <a:latin typeface="Fredoka"/>
              </a:rPr>
              <a:t>worth sharing.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730500" y="3616325"/>
            <a:ext cx="10795000" cy="5385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 i="0">
                <a:solidFill>
                  <a:srgbClr val="4A2E6B"/>
                </a:solidFill>
                <a:latin typeface="Fredoka"/>
              </a:rPr>
              <a:t>Zahra Levina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730500" y="4192984"/>
            <a:ext cx="10795000" cy="328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8A76A8"/>
                </a:solidFill>
                <a:latin typeface="Poppins"/>
              </a:rPr>
              <a:t>Content Production  ·  Creative · Social Media · Visual Communication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2730500" y="4673997"/>
            <a:ext cx="6731000" cy="393700"/>
          </a:xfrm>
          <a:prstGeom prst="rect">
            <a:avLst/>
          </a:prstGeom>
          <a:solidFill>
            <a:srgbClr val="FFF7FC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908300" y="4673997"/>
            <a:ext cx="1651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 i="0">
                <a:solidFill>
                  <a:srgbClr val="FF6FB5"/>
                </a:solidFill>
                <a:latin typeface="VT323"/>
              </a:rPr>
              <a:t>whatsapp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635500" y="4673997"/>
            <a:ext cx="3556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4A2E6B"/>
                </a:solidFill>
                <a:latin typeface="Poppins"/>
              </a:rPr>
              <a:t>+62 8xx-xxxx-xxxx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2730500" y="5156597"/>
            <a:ext cx="6731000" cy="393700"/>
          </a:xfrm>
          <a:prstGeom prst="rect">
            <a:avLst/>
          </a:prstGeom>
          <a:solidFill>
            <a:srgbClr val="FFF7FC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2908300" y="5156597"/>
            <a:ext cx="1651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 i="0">
                <a:solidFill>
                  <a:srgbClr val="FF6FB5"/>
                </a:solidFill>
                <a:latin typeface="VT323"/>
              </a:rPr>
              <a:t>email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635500" y="5156597"/>
            <a:ext cx="3556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4A2E6B"/>
                </a:solidFill>
                <a:latin typeface="Poppins"/>
              </a:rPr>
              <a:t>hello@email.com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2730500" y="5639197"/>
            <a:ext cx="6731000" cy="393700"/>
          </a:xfrm>
          <a:prstGeom prst="rect">
            <a:avLst/>
          </a:prstGeom>
          <a:solidFill>
            <a:srgbClr val="FFF7FC"/>
          </a:solidFill>
          <a:ln w="12700">
            <a:solidFill>
              <a:srgbClr val="C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2908300" y="5639197"/>
            <a:ext cx="1651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 i="0">
                <a:solidFill>
                  <a:srgbClr val="FF6FB5"/>
                </a:solidFill>
                <a:latin typeface="VT323"/>
              </a:rPr>
              <a:t>linkedin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635500" y="5639197"/>
            <a:ext cx="3556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4A2E6B"/>
                </a:solidFill>
                <a:latin typeface="Poppins"/>
              </a:rPr>
              <a:t>linkedin.com/in/username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