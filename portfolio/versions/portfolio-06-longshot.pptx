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2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2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7b890be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5c28f18e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" y="139700"/>
            <a:ext cx="6883400" cy="1866900"/>
          </a:xfrm>
          <a:prstGeom prst="rect">
            <a:avLst/>
          </a:prstGeom>
        </p:spPr>
      </p:pic>
      <p:pic>
        <p:nvPicPr>
          <p:cNvPr id="5" name="Picture 4" descr="7f6809c4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381000"/>
            <a:ext cx="3594100" cy="1016000"/>
          </a:xfrm>
          <a:prstGeom prst="rect">
            <a:avLst/>
          </a:prstGeom>
        </p:spPr>
      </p:pic>
      <p:pic>
        <p:nvPicPr>
          <p:cNvPr id="6" name="Picture 5" descr="1e1027cc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2914650" cy="876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0400" y="23241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0" spc="600">
                <a:solidFill>
                  <a:srgbClr val="FFFFFF"/>
                </a:solidFill>
                <a:latin typeface="Poppins"/>
              </a:rPr>
              <a:t>2026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2616200"/>
            <a:ext cx="3302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 i="1">
                <a:solidFill>
                  <a:srgbClr val="FFFFFF"/>
                </a:solidFill>
                <a:latin typeface="Poppins"/>
              </a:rPr>
              <a:t>creative · content · marketing · visual 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3683000" cy="393700"/>
          </a:xfrm>
          <a:prstGeom prst="rect">
            <a:avLst/>
          </a:prstGeom>
          <a:solidFill>
            <a:srgbClr val="0C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810000"/>
            <a:ext cx="3683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0" spc="500">
                <a:solidFill>
                  <a:srgbClr val="FFFFFF"/>
                </a:solidFill>
                <a:latin typeface="Poppins"/>
              </a:rPr>
              <a:t>PORTFOLIO / VOL.01</a:t>
            </a:r>
          </a:p>
        </p:txBody>
      </p:sp>
      <p:pic>
        <p:nvPicPr>
          <p:cNvPr id="11" name="Picture 10" descr="11ae63692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200" y="774700"/>
            <a:ext cx="4800600" cy="5689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02500" y="1270000"/>
            <a:ext cx="3810000" cy="4699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portrait</a:t>
            </a:r>
          </a:p>
        </p:txBody>
      </p:sp>
      <p:pic>
        <p:nvPicPr>
          <p:cNvPr id="13" name="Picture 12" descr="5ac5c5cb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" y="3987800"/>
            <a:ext cx="2578100" cy="2260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2000" y="4483100"/>
            <a:ext cx="1587500" cy="1270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15" name="Picture 14" descr="ce340c8e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4700" y="4330700"/>
            <a:ext cx="2387600" cy="2108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 rot="21240000">
            <a:off x="2540000" y="4826000"/>
            <a:ext cx="1397000" cy="11176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17" name="Picture 16" descr="2491d2351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6450" y="361950"/>
            <a:ext cx="1511300" cy="1511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21400" y="876300"/>
            <a:ext cx="10414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0C1024"/>
                </a:solidFill>
                <a:latin typeface="Poppins"/>
              </a:rPr>
              <a:t>NEW
2026</a:t>
            </a:r>
          </a:p>
        </p:txBody>
      </p:sp>
      <p:pic>
        <p:nvPicPr>
          <p:cNvPr id="19" name="Picture 18" descr="2b6998e5d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1750" y="3460750"/>
            <a:ext cx="1206500" cy="1206500"/>
          </a:xfrm>
          <a:prstGeom prst="rect">
            <a:avLst/>
          </a:prstGeom>
        </p:spPr>
      </p:pic>
      <p:pic>
        <p:nvPicPr>
          <p:cNvPr id="20" name="Picture 19" descr="b9a059e5c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7250" y="2508250"/>
            <a:ext cx="952500" cy="952500"/>
          </a:xfrm>
          <a:prstGeom prst="rect">
            <a:avLst/>
          </a:prstGeom>
        </p:spPr>
      </p:pic>
      <p:pic>
        <p:nvPicPr>
          <p:cNvPr id="21" name="Picture 20" descr="75009d34b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1250" y="1492250"/>
            <a:ext cx="825500" cy="825500"/>
          </a:xfrm>
          <a:prstGeom prst="rect">
            <a:avLst/>
          </a:prstGeom>
        </p:spPr>
      </p:pic>
      <p:pic>
        <p:nvPicPr>
          <p:cNvPr id="22" name="Picture 21" descr="c48c3c569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4950" y="5822950"/>
            <a:ext cx="800100" cy="800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4f28e7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9acac61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114300"/>
            <a:ext cx="5486400" cy="1612900"/>
          </a:xfrm>
          <a:prstGeom prst="rect">
            <a:avLst/>
          </a:prstGeom>
        </p:spPr>
      </p:pic>
      <p:pic>
        <p:nvPicPr>
          <p:cNvPr id="5" name="Picture 4" descr="9308fc7c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81000"/>
            <a:ext cx="3638550" cy="854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587500"/>
            <a:ext cx="4572000" cy="393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1600"/>
              </a:spcAft>
            </a:pPr>
            <a:r>
              <a:rPr sz="1250" b="0" i="1">
                <a:solidFill>
                  <a:srgbClr val="FFFFFF"/>
                </a:solidFill>
                <a:latin typeface="Poppins"/>
              </a:rPr>
              <a:t>I'm a creative and marketing enthusiast with experience in content creation, social media, graphic design, event management, and brand partnerships.</a:t>
            </a:r>
          </a:p>
          <a:p>
            <a:pPr algn="l">
              <a:lnSpc>
                <a:spcPct val="170000"/>
              </a:lnSpc>
              <a:spcAft>
                <a:spcPts val="1600"/>
              </a:spcAft>
            </a:pPr>
            <a:r>
              <a:rPr sz="1250" b="0" i="1">
                <a:solidFill>
                  <a:srgbClr val="FFFFFF"/>
                </a:solidFill>
                <a:latin typeface="Poppins"/>
              </a:rPr>
              <a:t>With a background in agricultural community development, I've had the opportunity to work across different environments—from student organizations and research projects to building a wellness community through Sawala Space.</a:t>
            </a:r>
          </a:p>
          <a:p>
            <a:pPr algn="l">
              <a:lnSpc>
                <a:spcPct val="170000"/>
              </a:lnSpc>
              <a:spcAft>
                <a:spcPts val="1600"/>
              </a:spcAft>
            </a:pPr>
            <a:r>
              <a:rPr sz="1250" b="0" i="1">
                <a:solidFill>
                  <a:srgbClr val="FFFFFF"/>
                </a:solidFill>
                <a:latin typeface="Poppins"/>
              </a:rPr>
              <a:t>I enjoy turning ideas into clear, engaging, and purposeful creative work.</a:t>
            </a:r>
          </a:p>
        </p:txBody>
      </p:sp>
      <p:pic>
        <p:nvPicPr>
          <p:cNvPr id="7" name="Picture 6" descr="ce496e118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700" y="647700"/>
            <a:ext cx="4546600" cy="5435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0" y="1143000"/>
            <a:ext cx="3556000" cy="4445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portrait</a:t>
            </a:r>
          </a:p>
        </p:txBody>
      </p:sp>
      <p:pic>
        <p:nvPicPr>
          <p:cNvPr id="9" name="Picture 8" descr="aa8f9730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700" y="3568700"/>
            <a:ext cx="2895600" cy="2514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300000">
            <a:off x="9652000" y="4064000"/>
            <a:ext cx="1905000" cy="1524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5816600"/>
            <a:ext cx="3556000" cy="381000"/>
          </a:xfrm>
          <a:prstGeom prst="rect">
            <a:avLst/>
          </a:prstGeom>
          <a:solidFill>
            <a:srgbClr val="0C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58166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1" i="0" spc="400">
                <a:solidFill>
                  <a:srgbClr val="FFFFFF"/>
                </a:solidFill>
                <a:latin typeface="Poppins"/>
              </a:rPr>
              <a:t>CREATIVE · CONTENT · MARKETING</a:t>
            </a:r>
          </a:p>
        </p:txBody>
      </p:sp>
      <p:pic>
        <p:nvPicPr>
          <p:cNvPr id="13" name="Picture 12" descr="7e0dec268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0" y="571500"/>
            <a:ext cx="1016000" cy="1016000"/>
          </a:xfrm>
          <a:prstGeom prst="rect">
            <a:avLst/>
          </a:prstGeom>
        </p:spPr>
      </p:pic>
      <p:pic>
        <p:nvPicPr>
          <p:cNvPr id="14" name="Picture 13" descr="8f3797c0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8700" y="3124200"/>
            <a:ext cx="863600" cy="863600"/>
          </a:xfrm>
          <a:prstGeom prst="rect">
            <a:avLst/>
          </a:prstGeom>
        </p:spPr>
      </p:pic>
      <p:pic>
        <p:nvPicPr>
          <p:cNvPr id="15" name="Picture 14" descr="f1641faed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4850" y="1022350"/>
            <a:ext cx="1257300" cy="1257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b8e9fd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372eca6b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88900"/>
            <a:ext cx="5994400" cy="1676400"/>
          </a:xfrm>
          <a:prstGeom prst="rect">
            <a:avLst/>
          </a:prstGeom>
        </p:spPr>
      </p:pic>
      <p:pic>
        <p:nvPicPr>
          <p:cNvPr id="5" name="Picture 4" descr="c0058d1e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55600"/>
            <a:ext cx="3787775" cy="8731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2032000"/>
            <a:ext cx="5207000" cy="1841500"/>
          </a:xfrm>
          <a:prstGeom prst="rect">
            <a:avLst/>
          </a:prstGeom>
          <a:solidFill>
            <a:srgbClr val="E8352B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2184400"/>
            <a:ext cx="127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1" i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6924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1">
                <a:solidFill>
                  <a:srgbClr val="FFFFFF"/>
                </a:solidFill>
                <a:latin typeface="Poppins"/>
              </a:rPr>
              <a:t>Content &amp; Social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13100"/>
            <a:ext cx="469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Poppins"/>
              </a:rPr>
              <a:t>Content creation · social media · copywriting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600" y="2032000"/>
            <a:ext cx="5207000" cy="1841500"/>
          </a:xfrm>
          <a:prstGeom prst="rect">
            <a:avLst/>
          </a:prstGeom>
          <a:solidFill>
            <a:srgbClr val="2B4FD8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0500" y="2184400"/>
            <a:ext cx="127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1" i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500" y="26924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1">
                <a:solidFill>
                  <a:srgbClr val="FFFFFF"/>
                </a:solidFill>
                <a:latin typeface="Poppins"/>
              </a:rPr>
              <a:t>Creative &amp;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213100"/>
            <a:ext cx="469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Poppins"/>
              </a:rPr>
              <a:t>Graphic design · visual communication · campaign materials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127500"/>
            <a:ext cx="5207000" cy="1841500"/>
          </a:xfrm>
          <a:prstGeom prst="rect">
            <a:avLst/>
          </a:prstGeom>
          <a:solidFill>
            <a:srgbClr val="35C5F0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500" y="4279900"/>
            <a:ext cx="127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1" i="1">
                <a:solidFill>
                  <a:srgbClr val="0C1024"/>
                </a:solidFill>
                <a:latin typeface="Poppi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00" y="47879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1">
                <a:solidFill>
                  <a:srgbClr val="0C1024"/>
                </a:solidFill>
                <a:latin typeface="Poppins"/>
              </a:rPr>
              <a:t>Marketing &amp;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308600"/>
            <a:ext cx="469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1">
                <a:solidFill>
                  <a:srgbClr val="0C1024"/>
                </a:solidFill>
                <a:latin typeface="Poppins"/>
              </a:rPr>
              <a:t>Campaign development · event management · brand partnerships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600" y="4127500"/>
            <a:ext cx="5207000" cy="1841500"/>
          </a:xfrm>
          <a:prstGeom prst="rect">
            <a:avLst/>
          </a:prstGeom>
          <a:solidFill>
            <a:srgbClr val="0C1024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0500" y="4279900"/>
            <a:ext cx="127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1" i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0500" y="47879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1">
                <a:solidFill>
                  <a:srgbClr val="FFFFFF"/>
                </a:solidFill>
                <a:latin typeface="Poppins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5308600"/>
            <a:ext cx="469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Poppins"/>
              </a:rPr>
              <a:t>Community engagement · collaboration · project coordination</a:t>
            </a:r>
          </a:p>
        </p:txBody>
      </p:sp>
      <p:pic>
        <p:nvPicPr>
          <p:cNvPr id="22" name="Picture 21" descr="a3e00bd6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500" y="825500"/>
            <a:ext cx="1016000" cy="1016000"/>
          </a:xfrm>
          <a:prstGeom prst="rect">
            <a:avLst/>
          </a:prstGeom>
        </p:spPr>
      </p:pic>
      <p:pic>
        <p:nvPicPr>
          <p:cNvPr id="23" name="Picture 22" descr="f5d17ab7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7850" y="1339850"/>
            <a:ext cx="1130300" cy="1130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a2539a7a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997e8c6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42900"/>
            <a:ext cx="4149725" cy="844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2032000"/>
            <a:ext cx="8382000" cy="7112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032000"/>
            <a:ext cx="139700" cy="7112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1336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100" b="1" i="1">
                <a:solidFill>
                  <a:srgbClr val="0C1024"/>
                </a:solidFill>
                <a:latin typeface="Poppins"/>
              </a:rPr>
              <a:t>Sawala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2425700"/>
            <a:ext cx="635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4A4F63"/>
                </a:solidFill>
                <a:latin typeface="Poppins"/>
              </a:rPr>
              <a:t>Co-Founder · Creative &amp;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7500" y="20320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400" b="1" i="1">
                <a:solidFill>
                  <a:srgbClr val="B9BFD0"/>
                </a:solidFill>
                <a:latin typeface="Poppin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70200"/>
            <a:ext cx="8382000" cy="711200"/>
          </a:xfrm>
          <a:prstGeom prst="rect">
            <a:avLst/>
          </a:prstGeom>
          <a:solidFill>
            <a:srgbClr val="FFF6D8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870200"/>
            <a:ext cx="139700" cy="711200"/>
          </a:xfrm>
          <a:prstGeom prst="rect">
            <a:avLst/>
          </a:prstGeom>
          <a:solidFill>
            <a:srgbClr val="FFE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29718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100" b="1" i="1">
                <a:solidFill>
                  <a:srgbClr val="0C1024"/>
                </a:solidFill>
                <a:latin typeface="Poppins"/>
              </a:rPr>
              <a:t>Kementerian Pertanian 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63900"/>
            <a:ext cx="635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4A4F63"/>
                </a:solidFill>
                <a:latin typeface="Poppins"/>
              </a:rPr>
              <a:t>Intern · Administration &amp; Partnership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7500" y="28702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400" b="1" i="1">
                <a:solidFill>
                  <a:srgbClr val="B9BFD0"/>
                </a:solidFill>
                <a:latin typeface="Poppins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708400"/>
            <a:ext cx="8382000" cy="7112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3708400"/>
            <a:ext cx="139700" cy="711200"/>
          </a:xfrm>
          <a:prstGeom prst="rect">
            <a:avLst/>
          </a:prstGeom>
          <a:solidFill>
            <a:srgbClr val="35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" y="38100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100" b="1" i="1">
                <a:solidFill>
                  <a:srgbClr val="0C1024"/>
                </a:solidFill>
                <a:latin typeface="Poppins"/>
              </a:rPr>
              <a:t>IPB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" y="4102100"/>
            <a:ext cx="635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4A4F63"/>
                </a:solidFill>
                <a:latin typeface="Poppins"/>
              </a:rPr>
              <a:t>Research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7500" y="37084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400" b="1" i="1">
                <a:solidFill>
                  <a:srgbClr val="B9BFD0"/>
                </a:solidFill>
                <a:latin typeface="Poppins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546600"/>
            <a:ext cx="8382000" cy="711200"/>
          </a:xfrm>
          <a:prstGeom prst="rect">
            <a:avLst/>
          </a:prstGeom>
          <a:solidFill>
            <a:srgbClr val="FFF6D8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546600"/>
            <a:ext cx="139700" cy="7112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" y="46482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100" b="1" i="1">
                <a:solidFill>
                  <a:srgbClr val="0C1024"/>
                </a:solidFill>
                <a:latin typeface="Poppins"/>
              </a:rPr>
              <a:t>Nabila Farm Lembang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4940300"/>
            <a:ext cx="635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4A4F63"/>
                </a:solidFill>
                <a:latin typeface="Poppins"/>
              </a:rPr>
              <a:t>Intern · Agriculture &amp; Content Creation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7500" y="45466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400" b="1" i="1">
                <a:solidFill>
                  <a:srgbClr val="B9BFD0"/>
                </a:solidFill>
                <a:latin typeface="Poppins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384800"/>
            <a:ext cx="8382000" cy="7112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" y="5384800"/>
            <a:ext cx="139700" cy="7112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500" y="54864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100" b="1" i="1">
                <a:solidFill>
                  <a:srgbClr val="0C1024"/>
                </a:solidFill>
                <a:latin typeface="Poppins"/>
              </a:rPr>
              <a:t>Himpunan Mahasiswa PPP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200" y="5778500"/>
            <a:ext cx="635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4A4F63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7500" y="53848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400" b="1" i="1">
                <a:solidFill>
                  <a:srgbClr val="B9BFD0"/>
                </a:solidFill>
                <a:latin typeface="Poppins"/>
              </a:rPr>
              <a:t>05</a:t>
            </a:r>
          </a:p>
        </p:txBody>
      </p:sp>
      <p:pic>
        <p:nvPicPr>
          <p:cNvPr id="30" name="Picture 29" descr="74787a6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1536700"/>
            <a:ext cx="3086100" cy="26416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 rot="240000">
            <a:off x="9461500" y="2032000"/>
            <a:ext cx="2095500" cy="1651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32" name="Picture 31" descr="3c0ab6d1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700" y="3568700"/>
            <a:ext cx="2895600" cy="25781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 rot="21300000">
            <a:off x="9652000" y="4064000"/>
            <a:ext cx="1905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34" name="Picture 33" descr="3b664974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9500" y="5461000"/>
            <a:ext cx="1016000" cy="1016000"/>
          </a:xfrm>
          <a:prstGeom prst="rect">
            <a:avLst/>
          </a:prstGeom>
        </p:spPr>
      </p:pic>
      <p:pic>
        <p:nvPicPr>
          <p:cNvPr id="35" name="Picture 34" descr="66b69e3e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7350" y="577850"/>
            <a:ext cx="1257300" cy="1257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b57d486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f6594f93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63500"/>
            <a:ext cx="7518400" cy="1739900"/>
          </a:xfrm>
          <a:prstGeom prst="rect">
            <a:avLst/>
          </a:prstGeom>
        </p:spPr>
      </p:pic>
      <p:pic>
        <p:nvPicPr>
          <p:cNvPr id="5" name="Picture 4" descr="30d32965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42900"/>
            <a:ext cx="4772025" cy="838200"/>
          </a:xfrm>
          <a:prstGeom prst="rect">
            <a:avLst/>
          </a:prstGeom>
        </p:spPr>
      </p:pic>
      <p:pic>
        <p:nvPicPr>
          <p:cNvPr id="6" name="Picture 5" descr="94cb363c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1346200"/>
            <a:ext cx="4927600" cy="492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8500" y="1841500"/>
            <a:ext cx="3937000" cy="3937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0" y="1841500"/>
            <a:ext cx="6477000" cy="1905000"/>
          </a:xfrm>
          <a:prstGeom prst="rect">
            <a:avLst/>
          </a:prstGeom>
          <a:solidFill>
            <a:srgbClr val="0C1024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21300" y="2006600"/>
            <a:ext cx="596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1" i="1" spc="200">
                <a:solidFill>
                  <a:srgbClr val="FFE400"/>
                </a:solidFill>
                <a:latin typeface="Poppins"/>
              </a:rPr>
              <a:t>Wellness Community &amp; Event Organizer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300" y="2374900"/>
            <a:ext cx="596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Poppins"/>
              </a:rPr>
              <a:t>As a co-founder, I contribute to the creative and marketing side of Sawala Space, from developing event concepts and promotional content to managing brand partnerships and supporting event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0" y="39243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0" spc="500">
                <a:solidFill>
                  <a:srgbClr val="0C1024"/>
                </a:solidFill>
                <a:latin typeface="Poppins"/>
              </a:rPr>
              <a:t>MY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0" y="4216400"/>
            <a:ext cx="1143000" cy="355600"/>
          </a:xfrm>
          <a:prstGeom prst="roundRect">
            <a:avLst>
              <a:gd name="adj" fmla="val 12000"/>
            </a:avLst>
          </a:prstGeom>
          <a:solidFill>
            <a:srgbClr val="E835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600" y="4216400"/>
            <a:ext cx="1778000" cy="355600"/>
          </a:xfrm>
          <a:prstGeom prst="roundRect">
            <a:avLst>
              <a:gd name="adj" fmla="val 12000"/>
            </a:avLst>
          </a:prstGeom>
          <a:solidFill>
            <a:srgbClr val="2B4FD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SOCIAL MEDIA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4200" y="42164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35C5F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CAMPAIGN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0" y="4673600"/>
            <a:ext cx="889000" cy="355600"/>
          </a:xfrm>
          <a:prstGeom prst="roundRect">
            <a:avLst>
              <a:gd name="adj" fmla="val 12000"/>
            </a:avLst>
          </a:prstGeom>
          <a:solidFill>
            <a:srgbClr val="E835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0600" y="4673600"/>
            <a:ext cx="1651000" cy="355600"/>
          </a:xfrm>
          <a:prstGeom prst="roundRect">
            <a:avLst>
              <a:gd name="adj" fmla="val 12000"/>
            </a:avLst>
          </a:prstGeom>
          <a:solidFill>
            <a:srgbClr val="2B4FD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PARTNERSHIP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3200" y="4673600"/>
            <a:ext cx="1270000" cy="355600"/>
          </a:xfrm>
          <a:prstGeom prst="roundRect">
            <a:avLst>
              <a:gd name="adj" fmla="val 12000"/>
            </a:avLst>
          </a:prstGeom>
          <a:solidFill>
            <a:srgbClr val="35C5F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BRANDING</a:t>
            </a:r>
          </a:p>
        </p:txBody>
      </p:sp>
      <p:pic>
        <p:nvPicPr>
          <p:cNvPr id="18" name="Picture 17" descr="ea0ba59b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700" y="4775200"/>
            <a:ext cx="3022600" cy="22606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80000" y="5270500"/>
            <a:ext cx="2032000" cy="1270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event</a:t>
            </a:r>
          </a:p>
        </p:txBody>
      </p:sp>
      <p:pic>
        <p:nvPicPr>
          <p:cNvPr id="20" name="Picture 19" descr="ea0ba59b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0700" y="4775200"/>
            <a:ext cx="3022600" cy="2260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366000" y="5270500"/>
            <a:ext cx="2032000" cy="1270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community</a:t>
            </a:r>
          </a:p>
        </p:txBody>
      </p:sp>
      <p:pic>
        <p:nvPicPr>
          <p:cNvPr id="22" name="Picture 21" descr="63028f93a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0" y="3873500"/>
            <a:ext cx="1016000" cy="1016000"/>
          </a:xfrm>
          <a:prstGeom prst="rect">
            <a:avLst/>
          </a:prstGeom>
        </p:spPr>
      </p:pic>
      <p:pic>
        <p:nvPicPr>
          <p:cNvPr id="23" name="Picture 22" descr="5d5837fa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927100"/>
            <a:ext cx="1193800" cy="1193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6764fa8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57ef8da2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25400"/>
            <a:ext cx="5232400" cy="1612900"/>
          </a:xfrm>
          <a:prstGeom prst="rect">
            <a:avLst/>
          </a:prstGeom>
        </p:spPr>
      </p:pic>
      <p:pic>
        <p:nvPicPr>
          <p:cNvPr id="5" name="Picture 4" descr="0d5932d6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04800"/>
            <a:ext cx="3267075" cy="838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61000" y="469900"/>
            <a:ext cx="635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Poppins"/>
              </a:rPr>
              <a:t>A selection of social media content, event materials, promotional visuals, and other creative work I've developed across different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473200"/>
            <a:ext cx="1628140" cy="292100"/>
          </a:xfrm>
          <a:prstGeom prst="roundRect">
            <a:avLst>
              <a:gd name="adj" fmla="val 10000"/>
            </a:avLst>
          </a:prstGeom>
          <a:solidFill>
            <a:srgbClr val="FFE400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0C1024"/>
                </a:solidFill>
                <a:latin typeface="Poppins"/>
              </a:rPr>
              <a:t>SOCIAL MEDIA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6640" y="1473200"/>
            <a:ext cx="1746885" cy="292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0C1024"/>
                </a:solidFill>
                <a:latin typeface="Poppins"/>
              </a:rPr>
              <a:t>EVENT VISUALS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2425" y="1473200"/>
            <a:ext cx="2696845" cy="292100"/>
          </a:xfrm>
          <a:prstGeom prst="roundRect">
            <a:avLst>
              <a:gd name="adj" fmla="val 10000"/>
            </a:avLst>
          </a:prstGeom>
          <a:solidFill>
            <a:srgbClr val="35C5F0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0C1024"/>
                </a:solidFill>
                <a:latin typeface="Poppins"/>
              </a:rPr>
              <a:t>PROMOTIONAL MATERIALS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170" y="1473200"/>
            <a:ext cx="1153160" cy="292100"/>
          </a:xfrm>
          <a:prstGeom prst="roundRect">
            <a:avLst>
              <a:gd name="adj" fmla="val 10000"/>
            </a:avLst>
          </a:prstGeom>
          <a:solidFill>
            <a:srgbClr val="0C102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Poppins"/>
              </a:rPr>
              <a:t>BRANDING</a:t>
            </a:r>
          </a:p>
        </p:txBody>
      </p:sp>
      <p:pic>
        <p:nvPicPr>
          <p:cNvPr id="11" name="Picture 10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" y="1498600"/>
            <a:ext cx="3530600" cy="2578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 rot="21360000">
            <a:off x="609600" y="19939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ig carousel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36576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FFFFFF"/>
                </a:solidFill>
                <a:latin typeface="Poppins"/>
              </a:rPr>
              <a:t>IG CAROUSEL</a:t>
            </a:r>
          </a:p>
        </p:txBody>
      </p:sp>
      <p:pic>
        <p:nvPicPr>
          <p:cNvPr id="14" name="Picture 13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0" y="1498600"/>
            <a:ext cx="3530600" cy="2578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180000">
            <a:off x="3416300" y="19939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event poster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1700" y="36576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FFFFFF"/>
                </a:solidFill>
                <a:latin typeface="Poppins"/>
              </a:rPr>
              <a:t>EVENT POSTER</a:t>
            </a:r>
          </a:p>
        </p:txBody>
      </p:sp>
      <p:pic>
        <p:nvPicPr>
          <p:cNvPr id="17" name="Picture 16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700" y="1498600"/>
            <a:ext cx="3530600" cy="2578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21480000">
            <a:off x="6223000" y="19939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reels 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36576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FFFFFF"/>
                </a:solidFill>
                <a:latin typeface="Poppins"/>
              </a:rPr>
              <a:t>REELS COVER</a:t>
            </a:r>
          </a:p>
        </p:txBody>
      </p:sp>
      <p:pic>
        <p:nvPicPr>
          <p:cNvPr id="20" name="Picture 19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1498600"/>
            <a:ext cx="3530600" cy="25781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 rot="240000">
            <a:off x="9029700" y="19939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brand 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5100" y="36576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FFFFFF"/>
                </a:solidFill>
                <a:latin typeface="Poppins"/>
              </a:rPr>
              <a:t>BRAND KIT</a:t>
            </a:r>
          </a:p>
        </p:txBody>
      </p:sp>
      <p:pic>
        <p:nvPicPr>
          <p:cNvPr id="23" name="Picture 22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" y="3733800"/>
            <a:ext cx="3530600" cy="25781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 rot="21360000">
            <a:off x="609600" y="42291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feed layout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58928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0C1024"/>
                </a:solidFill>
                <a:latin typeface="Poppins"/>
              </a:rPr>
              <a:t>FEED LAYOUT</a:t>
            </a:r>
          </a:p>
        </p:txBody>
      </p:sp>
      <p:pic>
        <p:nvPicPr>
          <p:cNvPr id="26" name="Picture 25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0" y="3733800"/>
            <a:ext cx="3530600" cy="25781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 rot="180000">
            <a:off x="3416300" y="42291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promo flyer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1700" y="58928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0C1024"/>
                </a:solidFill>
                <a:latin typeface="Poppins"/>
              </a:rPr>
              <a:t>PROMO FLYER</a:t>
            </a:r>
          </a:p>
        </p:txBody>
      </p:sp>
      <p:pic>
        <p:nvPicPr>
          <p:cNvPr id="29" name="Picture 28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700" y="3733800"/>
            <a:ext cx="3530600" cy="25781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21480000">
            <a:off x="6223000" y="42291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campaign visual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00" y="58928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0C1024"/>
                </a:solidFill>
                <a:latin typeface="Poppins"/>
              </a:rPr>
              <a:t>CAMPAIGN VISUAL</a:t>
            </a:r>
          </a:p>
        </p:txBody>
      </p:sp>
      <p:pic>
        <p:nvPicPr>
          <p:cNvPr id="32" name="Picture 31" descr="6b1a682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3733800"/>
            <a:ext cx="3530600" cy="25781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 rot="240000">
            <a:off x="9029700" y="4229100"/>
            <a:ext cx="2540000" cy="15875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merch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5100" y="58928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300">
                <a:solidFill>
                  <a:srgbClr val="0C1024"/>
                </a:solidFill>
                <a:latin typeface="Poppins"/>
              </a:rPr>
              <a:t>MERCH DESIGN</a:t>
            </a:r>
          </a:p>
        </p:txBody>
      </p:sp>
      <p:pic>
        <p:nvPicPr>
          <p:cNvPr id="35" name="Picture 34" descr="91df7060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1250" y="1428750"/>
            <a:ext cx="952500" cy="952500"/>
          </a:xfrm>
          <a:prstGeom prst="rect">
            <a:avLst/>
          </a:prstGeom>
        </p:spPr>
      </p:pic>
      <p:pic>
        <p:nvPicPr>
          <p:cNvPr id="36" name="Picture 35" descr="9a7563df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84150" y="3498850"/>
            <a:ext cx="1130300" cy="11303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eac60846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222c2755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38100"/>
            <a:ext cx="8153400" cy="1739900"/>
          </a:xfrm>
          <a:prstGeom prst="rect">
            <a:avLst/>
          </a:prstGeom>
        </p:spPr>
      </p:pic>
      <p:pic>
        <p:nvPicPr>
          <p:cNvPr id="5" name="Picture 4" descr="a39ecb17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"/>
            <a:ext cx="5356225" cy="784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0" y="14732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i="0" spc="500">
                <a:solidFill>
                  <a:srgbClr val="0C1024"/>
                </a:solidFill>
                <a:latin typeface="Poppins"/>
              </a:rPr>
              <a:t>WELLNESS × SOCIAL IMPACT</a:t>
            </a:r>
          </a:p>
        </p:txBody>
      </p:sp>
      <p:pic>
        <p:nvPicPr>
          <p:cNvPr id="7" name="Picture 6" descr="931cd9bf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1155700"/>
            <a:ext cx="4165600" cy="5181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21420000">
            <a:off x="698500" y="1651000"/>
            <a:ext cx="3175000" cy="4191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poster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0" y="1905000"/>
            <a:ext cx="7366000" cy="952500"/>
          </a:xfrm>
          <a:prstGeom prst="rect">
            <a:avLst/>
          </a:prstGeom>
          <a:solidFill>
            <a:srgbClr val="0C1024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1905000"/>
            <a:ext cx="6921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0" y="30861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0" spc="500">
                <a:solidFill>
                  <a:srgbClr val="0C1024"/>
                </a:solidFill>
                <a:latin typeface="Poppins"/>
              </a:rPr>
              <a:t>MY CONTRIBUTION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1000" y="3416300"/>
            <a:ext cx="4191000" cy="381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1000" y="3416300"/>
            <a:ext cx="101600" cy="3810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5000" y="3416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Campaign concept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1000" y="3886200"/>
            <a:ext cx="4191000" cy="381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1000" y="3886200"/>
            <a:ext cx="101600" cy="3810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5000" y="38862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Event promotion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0" y="4356100"/>
            <a:ext cx="4191000" cy="381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1000" y="4356100"/>
            <a:ext cx="101600" cy="381000"/>
          </a:xfrm>
          <a:prstGeom prst="rect">
            <a:avLst/>
          </a:prstGeom>
          <a:solidFill>
            <a:srgbClr val="FFE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5000" y="43561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Social media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1000" y="4826000"/>
            <a:ext cx="4191000" cy="381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1000" y="4826000"/>
            <a:ext cx="101600" cy="381000"/>
          </a:xfrm>
          <a:prstGeom prst="rect">
            <a:avLst/>
          </a:prstGeom>
          <a:solidFill>
            <a:srgbClr val="35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5000" y="4826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Partnership communication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1000" y="5295900"/>
            <a:ext cx="4191000" cy="381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1000" y="5295900"/>
            <a:ext cx="101600" cy="3810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5000" y="52959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Event coordination</a:t>
            </a:r>
          </a:p>
        </p:txBody>
      </p:sp>
      <p:pic>
        <p:nvPicPr>
          <p:cNvPr id="27" name="Picture 26" descr="23bee7779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200" y="2933700"/>
            <a:ext cx="3657600" cy="28956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 rot="240000">
            <a:off x="8826500" y="3429000"/>
            <a:ext cx="2667000" cy="1905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documentation</a:t>
            </a:r>
          </a:p>
        </p:txBody>
      </p:sp>
      <p:pic>
        <p:nvPicPr>
          <p:cNvPr id="29" name="Picture 28" descr="75bb22f8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7750" y="1428750"/>
            <a:ext cx="952500" cy="952500"/>
          </a:xfrm>
          <a:prstGeom prst="rect">
            <a:avLst/>
          </a:prstGeom>
        </p:spPr>
      </p:pic>
      <p:pic>
        <p:nvPicPr>
          <p:cNvPr id="30" name="Picture 29" descr="2a5a81b7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00100"/>
            <a:ext cx="1193800" cy="1193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77a61db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d8865a3f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38100"/>
            <a:ext cx="6375400" cy="1676400"/>
          </a:xfrm>
          <a:prstGeom prst="rect">
            <a:avLst/>
          </a:prstGeom>
        </p:spPr>
      </p:pic>
      <p:pic>
        <p:nvPicPr>
          <p:cNvPr id="5" name="Picture 4" descr="b5369695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30200"/>
            <a:ext cx="4505325" cy="828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5240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Poppins"/>
              </a:rPr>
              <a:t>My creative experience also grew through student organizations, academic projects, and collaborative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22500"/>
            <a:ext cx="3429000" cy="3810000"/>
          </a:xfrm>
          <a:prstGeom prst="rect">
            <a:avLst/>
          </a:prstGeom>
          <a:solidFill>
            <a:srgbClr val="E8352B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f9be9e6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070100"/>
            <a:ext cx="4038600" cy="2425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0100" y="2565400"/>
            <a:ext cx="3048000" cy="14351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191000"/>
            <a:ext cx="3048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1">
                <a:solidFill>
                  <a:srgbClr val="FFFFFF"/>
                </a:solidFill>
                <a:latin typeface="Poppins"/>
              </a:rPr>
              <a:t>Himpunan Mahasiswa PPP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5105400"/>
            <a:ext cx="298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9600" y="22606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800" b="1" i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6100" y="2222500"/>
            <a:ext cx="3429000" cy="3810000"/>
          </a:xfrm>
          <a:prstGeom prst="rect">
            <a:avLst/>
          </a:prstGeom>
          <a:solidFill>
            <a:srgbClr val="0C1024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f9be9e6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1300" y="2070100"/>
            <a:ext cx="4038600" cy="24257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46600" y="2565400"/>
            <a:ext cx="3048000" cy="14351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300" y="4191000"/>
            <a:ext cx="3048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1">
                <a:solidFill>
                  <a:srgbClr val="FFFFFF"/>
                </a:solidFill>
                <a:latin typeface="Poppins"/>
              </a:rPr>
              <a:t>Pekan Seni Budaya IPB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105400"/>
            <a:ext cx="298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Poppins"/>
              </a:rPr>
              <a:t>Vice Head / Staff DKV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6100" y="22606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800" b="1" i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2600" y="2222500"/>
            <a:ext cx="3429000" cy="3810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f9be9e6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800" y="2070100"/>
            <a:ext cx="4038600" cy="24257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293100" y="2565400"/>
            <a:ext cx="3048000" cy="14351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4191000"/>
            <a:ext cx="3048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 i="1">
                <a:solidFill>
                  <a:srgbClr val="0C1024"/>
                </a:solidFill>
                <a:latin typeface="Poppins"/>
              </a:rPr>
              <a:t>Academic &amp; Research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5105400"/>
            <a:ext cx="298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1">
                <a:solidFill>
                  <a:srgbClr val="0C1024"/>
                </a:solidFill>
                <a:latin typeface="Poppins"/>
              </a:rPr>
              <a:t>Visual communication · presentation ·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42600" y="22606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800" b="1" i="1">
                <a:solidFill>
                  <a:srgbClr val="0C1024"/>
                </a:solidFill>
                <a:latin typeface="Poppins"/>
              </a:rPr>
              <a:t>03</a:t>
            </a:r>
          </a:p>
        </p:txBody>
      </p:sp>
      <p:pic>
        <p:nvPicPr>
          <p:cNvPr id="25" name="Picture 24" descr="0f3ad766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1250" y="1111250"/>
            <a:ext cx="952500" cy="952500"/>
          </a:xfrm>
          <a:prstGeom prst="rect">
            <a:avLst/>
          </a:prstGeom>
        </p:spPr>
      </p:pic>
      <p:pic>
        <p:nvPicPr>
          <p:cNvPr id="26" name="Picture 25" descr="abd334f8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84150" y="5657850"/>
            <a:ext cx="1130300" cy="1130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fce596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4e89886f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30200"/>
            <a:ext cx="4835525" cy="8286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2222500"/>
            <a:ext cx="5207000" cy="2413000"/>
          </a:xfrm>
          <a:prstGeom prst="rect">
            <a:avLst/>
          </a:prstGeom>
          <a:solidFill>
            <a:srgbClr val="E8352B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2336800"/>
            <a:ext cx="381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1" i="1" spc="300">
                <a:solidFill>
                  <a:srgbClr val="FFFFFF"/>
                </a:solidFill>
                <a:latin typeface="Poppins"/>
              </a:rPr>
              <a:t>CREATIVE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8067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28067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Graphic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9600" y="29337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9600" y="2933700"/>
            <a:ext cx="1016000" cy="889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800" y="32385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" y="32385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Copywriting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9600" y="33655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365500"/>
            <a:ext cx="914400" cy="889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36703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600" y="36703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Content Creation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9600" y="37973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9600" y="3797300"/>
            <a:ext cx="812800" cy="889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41021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41021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Visual Communication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9600" y="42291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9600" y="4229100"/>
            <a:ext cx="711200" cy="889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4600" y="2222500"/>
            <a:ext cx="5207000" cy="2413000"/>
          </a:xfrm>
          <a:prstGeom prst="rect">
            <a:avLst/>
          </a:prstGeom>
          <a:solidFill>
            <a:srgbClr val="2B4FD8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7800" y="2336800"/>
            <a:ext cx="381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1" i="1" spc="300">
                <a:solidFill>
                  <a:srgbClr val="FFFFFF"/>
                </a:solidFill>
                <a:latin typeface="Poppins"/>
              </a:rPr>
              <a:t>MARKETING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27800" y="28067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5600" y="28067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Social Media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34600" y="29337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34600" y="2933700"/>
            <a:ext cx="1016000" cy="889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27800" y="32385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5600" y="32385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Campaign Development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34600" y="33655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4600" y="3365500"/>
            <a:ext cx="914400" cy="889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27800" y="36703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5600" y="36703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Event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34600" y="37973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34600" y="3797300"/>
            <a:ext cx="812800" cy="889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27800" y="4102100"/>
            <a:ext cx="48006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05600" y="4102100"/>
            <a:ext cx="330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Partnership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34600" y="4229100"/>
            <a:ext cx="1016000" cy="889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34600" y="4229100"/>
            <a:ext cx="711200" cy="889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4902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 i="0" spc="500">
                <a:solidFill>
                  <a:srgbClr val="0C1024"/>
                </a:solidFill>
                <a:latin typeface="Poppins"/>
              </a:rPr>
              <a:t>TOOLS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600" y="5245100"/>
            <a:ext cx="863600" cy="393700"/>
          </a:xfrm>
          <a:prstGeom prst="roundRect">
            <a:avLst>
              <a:gd name="adj" fmla="val 10000"/>
            </a:avLst>
          </a:prstGeom>
          <a:solidFill>
            <a:srgbClr val="E8352B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CANVA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4800" y="5245100"/>
            <a:ext cx="2387600" cy="393700"/>
          </a:xfrm>
          <a:prstGeom prst="roundRect">
            <a:avLst>
              <a:gd name="adj" fmla="val 10000"/>
            </a:avLst>
          </a:prstGeom>
          <a:solidFill>
            <a:srgbClr val="2B4FD8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ADOBE ILLUSTRATOR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4000" y="5245100"/>
            <a:ext cx="2133600" cy="393700"/>
          </a:xfrm>
          <a:prstGeom prst="roundRect">
            <a:avLst>
              <a:gd name="adj" fmla="val 10000"/>
            </a:avLst>
          </a:prstGeom>
          <a:solidFill>
            <a:srgbClr val="35C5F0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ADOBE PHOTOSHOP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99200" y="5245100"/>
            <a:ext cx="990600" cy="393700"/>
          </a:xfrm>
          <a:prstGeom prst="roundRect">
            <a:avLst>
              <a:gd name="adj" fmla="val 10000"/>
            </a:avLst>
          </a:prstGeom>
          <a:solidFill>
            <a:srgbClr val="0C1024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CAPCUT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600" y="5765800"/>
            <a:ext cx="2260600" cy="393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MICROSOFT OFFICE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71800" y="5765800"/>
            <a:ext cx="2260600" cy="393700"/>
          </a:xfrm>
          <a:prstGeom prst="roundRect">
            <a:avLst>
              <a:gd name="adj" fmla="val 10000"/>
            </a:avLst>
          </a:prstGeom>
          <a:solidFill>
            <a:srgbClr val="E8352B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GOOGLE WORKSPACE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34000" y="5765800"/>
            <a:ext cx="1117600" cy="393700"/>
          </a:xfrm>
          <a:prstGeom prst="roundRect">
            <a:avLst>
              <a:gd name="adj" fmla="val 10000"/>
            </a:avLst>
          </a:prstGeom>
          <a:solidFill>
            <a:srgbClr val="2B4FD8"/>
          </a:solidFill>
          <a:ln w="15875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MINITAB</a:t>
            </a:r>
          </a:p>
        </p:txBody>
      </p:sp>
      <p:pic>
        <p:nvPicPr>
          <p:cNvPr id="49" name="Picture 48" descr="24f6915c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0" y="3556000"/>
            <a:ext cx="1016000" cy="1016000"/>
          </a:xfrm>
          <a:prstGeom prst="rect">
            <a:avLst/>
          </a:prstGeom>
        </p:spPr>
      </p:pic>
      <p:pic>
        <p:nvPicPr>
          <p:cNvPr id="50" name="Picture 49" descr="c6a26f2e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350" y="514350"/>
            <a:ext cx="1257300" cy="12573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49cbe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f49a1886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" y="622300"/>
            <a:ext cx="9042400" cy="2692400"/>
          </a:xfrm>
          <a:prstGeom prst="rect">
            <a:avLst/>
          </a:prstGeom>
        </p:spPr>
      </p:pic>
      <p:pic>
        <p:nvPicPr>
          <p:cNvPr id="5" name="Picture 4" descr="20bf04ff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889000"/>
            <a:ext cx="4899025" cy="933450"/>
          </a:xfrm>
          <a:prstGeom prst="rect">
            <a:avLst/>
          </a:prstGeom>
        </p:spPr>
      </p:pic>
      <p:pic>
        <p:nvPicPr>
          <p:cNvPr id="6" name="Picture 5" descr="b2f0438b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905000"/>
            <a:ext cx="4448175" cy="933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8500" y="3086100"/>
            <a:ext cx="6223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Poppins"/>
              </a:rPr>
              <a:t>Thank you for taking the time to explore my work. I'm always open to new creative opportunities, collaborations, and projects.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216400"/>
            <a:ext cx="5715000" cy="5715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216400"/>
            <a:ext cx="127000" cy="5715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4216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i="1" spc="300">
                <a:solidFill>
                  <a:srgbClr val="0C1024"/>
                </a:solidFill>
                <a:latin typeface="Poppins"/>
              </a:rPr>
              <a:t>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4000" y="4216400"/>
            <a:ext cx="330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+62 8xx-xxxx-xxxx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4889500"/>
            <a:ext cx="5715000" cy="571500"/>
          </a:xfrm>
          <a:prstGeom prst="rect">
            <a:avLst/>
          </a:prstGeom>
          <a:solidFill>
            <a:srgbClr val="0C1024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4889500"/>
            <a:ext cx="127000" cy="571500"/>
          </a:xfrm>
          <a:prstGeom prst="rect">
            <a:avLst/>
          </a:prstGeom>
          <a:solidFill>
            <a:srgbClr val="FFE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4889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i="1" spc="300">
                <a:solidFill>
                  <a:srgbClr val="FFE400"/>
                </a:solidFill>
                <a:latin typeface="Poppins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4000" y="4889500"/>
            <a:ext cx="330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Poppins"/>
              </a:rPr>
              <a:t>hello@email.com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5562600"/>
            <a:ext cx="5715000" cy="5715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5562600"/>
            <a:ext cx="127000" cy="571500"/>
          </a:xfrm>
          <a:prstGeom prst="rect">
            <a:avLst/>
          </a:prstGeom>
          <a:solidFill>
            <a:srgbClr val="35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" y="55626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i="1" spc="300">
                <a:solidFill>
                  <a:srgbClr val="0C1024"/>
                </a:solidFill>
                <a:latin typeface="Poppins"/>
              </a:rP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4000" y="5562600"/>
            <a:ext cx="330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linkedin.com/in/username</a:t>
            </a:r>
          </a:p>
        </p:txBody>
      </p:sp>
      <p:pic>
        <p:nvPicPr>
          <p:cNvPr id="20" name="Picture 19" descr="a552a2a3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700" y="1028700"/>
            <a:ext cx="4673600" cy="5054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 rot="180000">
            <a:off x="7112000" y="1524000"/>
            <a:ext cx="3683000" cy="4064000"/>
          </a:xfrm>
          <a:prstGeom prst="rect">
            <a:avLst/>
          </a:prstGeom>
          <a:solidFill>
            <a:srgbClr val="D9DEE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photo</a:t>
            </a:r>
          </a:p>
        </p:txBody>
      </p:sp>
      <p:pic>
        <p:nvPicPr>
          <p:cNvPr id="22" name="Picture 21" descr="acc04f9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0700" y="5232400"/>
            <a:ext cx="1574800" cy="157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29300" y="5803900"/>
            <a:ext cx="11176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C1024"/>
                </a:solidFill>
                <a:latin typeface="Poppins"/>
              </a:rPr>
              <a:t>THX 4
LOOKN</a:t>
            </a:r>
          </a:p>
        </p:txBody>
      </p:sp>
      <p:pic>
        <p:nvPicPr>
          <p:cNvPr id="24" name="Picture 23" descr="7e209318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0" y="698500"/>
            <a:ext cx="1016000" cy="1016000"/>
          </a:xfrm>
          <a:prstGeom prst="rect">
            <a:avLst/>
          </a:prstGeom>
        </p:spPr>
      </p:pic>
      <p:pic>
        <p:nvPicPr>
          <p:cNvPr id="25" name="Picture 24" descr="6164d0c09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5200" y="647700"/>
            <a:ext cx="863600" cy="863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93000" y="65024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400">
                <a:solidFill>
                  <a:srgbClr val="FFFFFF"/>
                </a:solidFill>
                <a:latin typeface="Poppins"/>
              </a:rPr>
              <a:t>ZAHRA LEVINA · PORTFOLIO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