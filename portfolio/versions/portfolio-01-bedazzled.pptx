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5.png"/><Relationship Id="rId9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2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68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67400"/>
            <a:ext cx="12192000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066800"/>
            <a:ext cx="1219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400" b="0" i="0" spc="2400">
                <a:solidFill>
                  <a:srgbClr val="100A16"/>
                </a:solidFill>
                <a:latin typeface="Italiana"/>
              </a:rPr>
              <a:t>2026 PORTFOLIO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207000" y="1435100"/>
            <a:ext cx="1778000" cy="12700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524000"/>
            <a:ext cx="1219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00" b="0" i="0" spc="800">
                <a:solidFill>
                  <a:srgbClr val="FF2E93"/>
                </a:solidFill>
                <a:latin typeface="Oswald"/>
              </a:rPr>
              <a:t>CREATIVE · CONTENT · MARKETING · VISUAL COMMUNICATION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1800" y="1803400"/>
            <a:ext cx="3708400" cy="3022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330200" dist="101600" dir="5400000" rotWithShape="0">
              <a:srgbClr val="C4568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18000" y="1879600"/>
            <a:ext cx="3556000" cy="2870200"/>
          </a:xfrm>
          <a:prstGeom prst="roundRect">
            <a:avLst>
              <a:gd name="adj" fmla="val 3000"/>
            </a:avLst>
          </a:prstGeom>
          <a:solidFill>
            <a:srgbClr val="F3EEF6"/>
          </a:solidFill>
          <a:ln w="15875">
            <a:solidFill>
              <a:srgbClr val="FF8F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9BB3"/>
                </a:solidFill>
                <a:latin typeface="Poppins"/>
              </a:rPr>
              <a:t>drop portrait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835400"/>
            <a:ext cx="1219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6200" b="0" i="0">
                <a:solidFill>
                  <a:srgbClr val="FF2E93"/>
                </a:solidFill>
                <a:latin typeface="Great Vibes"/>
              </a:rPr>
              <a:t>Zahra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156200"/>
            <a:ext cx="1219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3400" b="0" i="0" spc="2200">
                <a:solidFill>
                  <a:srgbClr val="100A16"/>
                </a:solidFill>
                <a:latin typeface="Italiana"/>
              </a:rPr>
              <a:t>LEVINA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524500"/>
            <a:ext cx="12192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 spc="700">
                <a:solidFill>
                  <a:srgbClr val="8A7386"/>
                </a:solidFill>
                <a:latin typeface="Oswald"/>
              </a:rPr>
              <a:t>WHATSAPP · EMAIL · LINKEDIN</a:t>
            </a:r>
          </a:p>
        </p:txBody>
      </p:sp>
      <p:pic>
        <p:nvPicPr>
          <p:cNvPr id="15" name="Picture 14" descr="butterfly_p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4500" y="2095500"/>
            <a:ext cx="952500" cy="952500"/>
          </a:xfrm>
          <a:prstGeom prst="rect">
            <a:avLst/>
          </a:prstGeom>
        </p:spPr>
      </p:pic>
      <p:pic>
        <p:nvPicPr>
          <p:cNvPr id="16" name="Picture 15" descr="butterfly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5500" y="2413000"/>
            <a:ext cx="698500" cy="698500"/>
          </a:xfrm>
          <a:prstGeom prst="rect">
            <a:avLst/>
          </a:prstGeom>
        </p:spPr>
      </p:pic>
      <p:pic>
        <p:nvPicPr>
          <p:cNvPr id="17" name="Picture 16" descr="gem_he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5000" y="1587500"/>
            <a:ext cx="419100" cy="419100"/>
          </a:xfrm>
          <a:prstGeom prst="rect">
            <a:avLst/>
          </a:prstGeom>
        </p:spPr>
      </p:pic>
      <p:pic>
        <p:nvPicPr>
          <p:cNvPr id="18" name="Picture 17" descr="gem_marquise_ro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6000" y="3556000"/>
            <a:ext cx="330200" cy="330200"/>
          </a:xfrm>
          <a:prstGeom prst="rect">
            <a:avLst/>
          </a:prstGeom>
        </p:spPr>
      </p:pic>
      <p:pic>
        <p:nvPicPr>
          <p:cNvPr id="19" name="Picture 18" descr="gem_roun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6000" y="3937000"/>
            <a:ext cx="304800" cy="304800"/>
          </a:xfrm>
          <a:prstGeom prst="rect">
            <a:avLst/>
          </a:prstGeom>
        </p:spPr>
      </p:pic>
      <p:pic>
        <p:nvPicPr>
          <p:cNvPr id="20" name="Picture 19" descr="gem_round_ros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0" y="5016500"/>
            <a:ext cx="254000" cy="254000"/>
          </a:xfrm>
          <a:prstGeom prst="rect">
            <a:avLst/>
          </a:prstGeom>
        </p:spPr>
      </p:pic>
      <p:pic>
        <p:nvPicPr>
          <p:cNvPr id="21" name="Picture 20" descr="pearl_strin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87500" y="3302000"/>
            <a:ext cx="1905000" cy="291353"/>
          </a:xfrm>
          <a:prstGeom prst="rect">
            <a:avLst/>
          </a:prstGeom>
        </p:spPr>
      </p:pic>
      <p:pic>
        <p:nvPicPr>
          <p:cNvPr id="22" name="Picture 21" descr="pearl_strin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90000" y="5080000"/>
            <a:ext cx="1905000" cy="2913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68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67400"/>
            <a:ext cx="12192000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9000" y="1181100"/>
            <a:ext cx="571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 i="0" spc="2200">
                <a:solidFill>
                  <a:srgbClr val="100A16"/>
                </a:solidFill>
                <a:latin typeface="Italiana"/>
              </a:rPr>
              <a:t>ABOUT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358900"/>
            <a:ext cx="5715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6200" b="0" i="0">
                <a:solidFill>
                  <a:srgbClr val="FF2E93"/>
                </a:solidFill>
                <a:latin typeface="Great Vibes"/>
              </a:rPr>
              <a:t>Hi, I'm Zahra.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89000" y="2540000"/>
            <a:ext cx="2921000" cy="12700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616200"/>
            <a:ext cx="5270500" cy="292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Aft>
                <a:spcPts val="1600"/>
              </a:spcAft>
            </a:pPr>
            <a:r>
              <a:rPr sz="1150" b="0" i="0">
                <a:solidFill>
                  <a:srgbClr val="2A1F30"/>
                </a:solidFill>
                <a:latin typeface="Poppins"/>
              </a:rPr>
              <a:t>I'm a creative and marketing enthusiast with experience in content creation, social media, graphic design, event management, and brand partnerships.</a:t>
            </a:r>
          </a:p>
          <a:p>
            <a:pPr algn="l">
              <a:lnSpc>
                <a:spcPct val="175000"/>
              </a:lnSpc>
              <a:spcAft>
                <a:spcPts val="1600"/>
              </a:spcAft>
            </a:pPr>
            <a:r>
              <a:rPr sz="1150" b="0" i="0">
                <a:solidFill>
                  <a:srgbClr val="2A1F30"/>
                </a:solidFill>
                <a:latin typeface="Poppins"/>
              </a:rPr>
              <a:t>With a background in agricultural community development, I've had the opportunity to work across different environments—from student organizations and research projects to building a wellness community through Sawala Space.</a:t>
            </a:r>
          </a:p>
          <a:p>
            <a:pPr algn="l">
              <a:lnSpc>
                <a:spcPct val="175000"/>
              </a:lnSpc>
              <a:spcAft>
                <a:spcPts val="1600"/>
              </a:spcAft>
            </a:pPr>
            <a:r>
              <a:rPr sz="1150" b="0" i="0">
                <a:solidFill>
                  <a:srgbClr val="2A1F30"/>
                </a:solidFill>
                <a:latin typeface="Poppins"/>
              </a:rPr>
              <a:t>I enjoy turning ideas into clear, engaging, and purposeful creative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35800" y="1384300"/>
            <a:ext cx="3708400" cy="3962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330200" dist="101600" dir="5400000" rotWithShape="0">
              <a:srgbClr val="C4568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12000" y="1460500"/>
            <a:ext cx="3556000" cy="3810000"/>
          </a:xfrm>
          <a:prstGeom prst="roundRect">
            <a:avLst>
              <a:gd name="adj" fmla="val 3000"/>
            </a:avLst>
          </a:prstGeom>
          <a:solidFill>
            <a:srgbClr val="F3EEF6"/>
          </a:solidFill>
          <a:ln w="15875">
            <a:solidFill>
              <a:srgbClr val="FF8F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9BB3"/>
                </a:solidFill>
                <a:latin typeface="Poppins"/>
              </a:rPr>
              <a:t>drop portrait</a:t>
            </a:r>
          </a:p>
        </p:txBody>
      </p:sp>
      <p:pic>
        <p:nvPicPr>
          <p:cNvPr id="13" name="Picture 12" descr="butterfly_p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000" y="1778000"/>
            <a:ext cx="762000" cy="762000"/>
          </a:xfrm>
          <a:prstGeom prst="rect">
            <a:avLst/>
          </a:prstGeom>
        </p:spPr>
      </p:pic>
      <p:pic>
        <p:nvPicPr>
          <p:cNvPr id="14" name="Picture 13" descr="gem_he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5000" y="1587500"/>
            <a:ext cx="342900" cy="342900"/>
          </a:xfrm>
          <a:prstGeom prst="rect">
            <a:avLst/>
          </a:prstGeom>
        </p:spPr>
      </p:pic>
      <p:pic>
        <p:nvPicPr>
          <p:cNvPr id="15" name="Picture 14" descr="gem_rou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4826000"/>
            <a:ext cx="266700" cy="266700"/>
          </a:xfrm>
          <a:prstGeom prst="rect">
            <a:avLst/>
          </a:prstGeom>
        </p:spPr>
      </p:pic>
      <p:pic>
        <p:nvPicPr>
          <p:cNvPr id="16" name="Picture 15" descr="pearl_str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0" y="1079500"/>
            <a:ext cx="1905000" cy="2913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68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67400"/>
            <a:ext cx="12192000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079500"/>
            <a:ext cx="121920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200" b="0" i="0" spc="2000">
                <a:solidFill>
                  <a:srgbClr val="100A16"/>
                </a:solidFill>
                <a:latin typeface="Italiana"/>
              </a:rPr>
              <a:t>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414780"/>
            <a:ext cx="12192000" cy="62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5800" b="0" i="0">
                <a:solidFill>
                  <a:srgbClr val="FF2E93"/>
                </a:solidFill>
                <a:latin typeface="Great Vibes"/>
              </a:rPr>
              <a:t>what i 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9000" y="2819400"/>
            <a:ext cx="50165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8FC5"/>
            </a:solidFill>
          </a:ln>
          <a:effectLst>
            <a:outerShdw blurRad="254000" dist="76200" dir="5400000" rotWithShape="0">
              <a:srgbClr val="C4568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175000"/>
            <a:ext cx="292100" cy="292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87500" y="3073400"/>
            <a:ext cx="4127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 spc="500">
                <a:solidFill>
                  <a:srgbClr val="100A16"/>
                </a:solidFill>
                <a:latin typeface="Oswald"/>
              </a:rPr>
              <a:t>CONTENT &amp; SOCIAL MEDIA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556000"/>
            <a:ext cx="406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 i="0">
                <a:solidFill>
                  <a:srgbClr val="6B5A68"/>
                </a:solidFill>
                <a:latin typeface="Poppins"/>
              </a:rPr>
              <a:t>Content creation · social media · copywriting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9500" y="2819400"/>
            <a:ext cx="50165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8FC5"/>
            </a:solidFill>
          </a:ln>
          <a:effectLst>
            <a:outerShdw blurRad="254000" dist="76200" dir="5400000" rotWithShape="0">
              <a:srgbClr val="C4568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gem_marquise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3500" y="3175000"/>
            <a:ext cx="292100" cy="292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0" y="3073400"/>
            <a:ext cx="4127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 spc="500">
                <a:solidFill>
                  <a:srgbClr val="100A16"/>
                </a:solidFill>
                <a:latin typeface="Oswald"/>
              </a:rPr>
              <a:t>CREATIVE &amp; VISUAL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0700" y="3556000"/>
            <a:ext cx="406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 i="0">
                <a:solidFill>
                  <a:srgbClr val="6B5A68"/>
                </a:solidFill>
                <a:latin typeface="Poppins"/>
              </a:rPr>
              <a:t>Graphic design · visual communication · campaign materials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9000" y="4254500"/>
            <a:ext cx="50165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8FC5"/>
            </a:solidFill>
          </a:ln>
          <a:effectLst>
            <a:outerShdw blurRad="254000" dist="76200" dir="5400000" rotWithShape="0">
              <a:srgbClr val="C4568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610100"/>
            <a:ext cx="292100" cy="2921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87500" y="4508500"/>
            <a:ext cx="4127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 spc="500">
                <a:solidFill>
                  <a:srgbClr val="100A16"/>
                </a:solidFill>
                <a:latin typeface="Oswald"/>
              </a:rPr>
              <a:t>MARKETING &amp; 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991100"/>
            <a:ext cx="406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 i="0">
                <a:solidFill>
                  <a:srgbClr val="6B5A68"/>
                </a:solidFill>
                <a:latin typeface="Poppins"/>
              </a:rPr>
              <a:t>Campaign development · event management · brand partnerships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9500" y="4254500"/>
            <a:ext cx="50165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8FC5"/>
            </a:solidFill>
          </a:ln>
          <a:effectLst>
            <a:outerShdw blurRad="254000" dist="76200" dir="5400000" rotWithShape="0">
              <a:srgbClr val="C4568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gem_marquise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3500" y="4610100"/>
            <a:ext cx="292100" cy="2921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58000" y="4508500"/>
            <a:ext cx="4127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 spc="500">
                <a:solidFill>
                  <a:srgbClr val="100A16"/>
                </a:solidFill>
                <a:latin typeface="Oswald"/>
              </a:rPr>
              <a:t>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0700" y="4991100"/>
            <a:ext cx="406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 i="0">
                <a:solidFill>
                  <a:srgbClr val="6B5A68"/>
                </a:solidFill>
                <a:latin typeface="Poppins"/>
              </a:rPr>
              <a:t>Community engagement · collaboration · project coordination</a:t>
            </a:r>
          </a:p>
        </p:txBody>
      </p:sp>
      <p:pic>
        <p:nvPicPr>
          <p:cNvPr id="25" name="Picture 24" descr="butterfly_ro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5000" y="2095500"/>
            <a:ext cx="584200" cy="584200"/>
          </a:xfrm>
          <a:prstGeom prst="rect">
            <a:avLst/>
          </a:prstGeom>
        </p:spPr>
      </p:pic>
      <p:pic>
        <p:nvPicPr>
          <p:cNvPr id="26" name="Picture 25" descr="gem_he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000" y="209550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68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67400"/>
            <a:ext cx="12192000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066800"/>
            <a:ext cx="121920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200" b="0" i="0" spc="2000">
                <a:solidFill>
                  <a:srgbClr val="100A16"/>
                </a:solidFill>
                <a:latin typeface="Italiana"/>
              </a:rPr>
              <a:t>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402080"/>
            <a:ext cx="12192000" cy="5829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5400" b="0" i="0">
                <a:solidFill>
                  <a:srgbClr val="FF2E93"/>
                </a:solidFill>
                <a:latin typeface="Great Vibes"/>
              </a:rPr>
              <a:t>where i've been</a:t>
            </a:r>
          </a:p>
        </p:txBody>
      </p:sp>
      <p:pic>
        <p:nvPicPr>
          <p:cNvPr id="9" name="Picture 8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500" y="2946400"/>
            <a:ext cx="241300" cy="241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38300" y="2870200"/>
            <a:ext cx="5715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0" i="0" spc="600">
                <a:solidFill>
                  <a:srgbClr val="100A16"/>
                </a:solidFill>
                <a:latin typeface="Oswald"/>
              </a:rPr>
              <a:t>SAWALA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1000" y="31496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6B5A68"/>
                </a:solidFill>
                <a:latin typeface="Poppins"/>
              </a:rPr>
              <a:t>Co-Founder · Creative &amp; Marketing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0" y="2895600"/>
            <a:ext cx="1079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2000" b="0" i="0" spc="400">
                <a:solidFill>
                  <a:srgbClr val="D9B6CC"/>
                </a:solidFill>
                <a:latin typeface="Italiana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6500" y="3429000"/>
            <a:ext cx="9779000" cy="6350"/>
          </a:xfrm>
          <a:prstGeom prst="rect">
            <a:avLst/>
          </a:prstGeom>
          <a:solidFill>
            <a:srgbClr val="EB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gem_round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6500" y="3530600"/>
            <a:ext cx="241300" cy="241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38300" y="3454400"/>
            <a:ext cx="5715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0" i="0" spc="600">
                <a:solidFill>
                  <a:srgbClr val="100A16"/>
                </a:solidFill>
                <a:latin typeface="Oswald"/>
              </a:rPr>
              <a:t>KEMENTERIAN PERTANIAN 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1000" y="37338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6B5A68"/>
                </a:solidFill>
                <a:latin typeface="Poppins"/>
              </a:rPr>
              <a:t>Intern · Administration &amp; Partnership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0" y="3479800"/>
            <a:ext cx="1079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2000" b="0" i="0" spc="400">
                <a:solidFill>
                  <a:srgbClr val="D9B6CC"/>
                </a:solidFill>
                <a:latin typeface="Italiana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6500" y="4013200"/>
            <a:ext cx="9779000" cy="6350"/>
          </a:xfrm>
          <a:prstGeom prst="rect">
            <a:avLst/>
          </a:prstGeom>
          <a:solidFill>
            <a:srgbClr val="EB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500" y="4114800"/>
            <a:ext cx="241300" cy="241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38300" y="4038600"/>
            <a:ext cx="5715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0" i="0" spc="600">
                <a:solidFill>
                  <a:srgbClr val="100A16"/>
                </a:solidFill>
                <a:latin typeface="Oswald"/>
              </a:rPr>
              <a:t>IPB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1000" y="4318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6B5A68"/>
                </a:solidFill>
                <a:latin typeface="Poppins"/>
              </a:rPr>
              <a:t>Research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0" y="4064000"/>
            <a:ext cx="1079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2000" b="0" i="0" spc="400">
                <a:solidFill>
                  <a:srgbClr val="D9B6CC"/>
                </a:solidFill>
                <a:latin typeface="Italiana"/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6500" y="4597400"/>
            <a:ext cx="9779000" cy="6350"/>
          </a:xfrm>
          <a:prstGeom prst="rect">
            <a:avLst/>
          </a:prstGeom>
          <a:solidFill>
            <a:srgbClr val="EB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gem_round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6500" y="4699000"/>
            <a:ext cx="241300" cy="2413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38300" y="4622800"/>
            <a:ext cx="5715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0" i="0" spc="600">
                <a:solidFill>
                  <a:srgbClr val="100A16"/>
                </a:solidFill>
                <a:latin typeface="Oswald"/>
              </a:rPr>
              <a:t>NABILA FARM LEMBANG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1000" y="49022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6B5A68"/>
                </a:solidFill>
                <a:latin typeface="Poppins"/>
              </a:rPr>
              <a:t>Intern · Agriculture &amp; Content Creation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6000" y="4648200"/>
            <a:ext cx="1079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2000" b="0" i="0" spc="400">
                <a:solidFill>
                  <a:srgbClr val="D9B6CC"/>
                </a:solidFill>
                <a:latin typeface="Italiana"/>
              </a:rPr>
              <a:t>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06500" y="5181600"/>
            <a:ext cx="9779000" cy="6350"/>
          </a:xfrm>
          <a:prstGeom prst="rect">
            <a:avLst/>
          </a:prstGeom>
          <a:solidFill>
            <a:srgbClr val="EB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9" name="Picture 28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500" y="5283200"/>
            <a:ext cx="241300" cy="2413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38300" y="5207000"/>
            <a:ext cx="5715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0" i="0" spc="600">
                <a:solidFill>
                  <a:srgbClr val="100A16"/>
                </a:solidFill>
                <a:latin typeface="Oswald"/>
              </a:rPr>
              <a:t>HIMPUNAN MAHASISWA PPP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51000" y="54864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6B5A68"/>
                </a:solidFill>
                <a:latin typeface="Poppins"/>
              </a:rPr>
              <a:t>Head of Media &amp; Branding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6000" y="5232400"/>
            <a:ext cx="1079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2000" b="0" i="0" spc="400">
                <a:solidFill>
                  <a:srgbClr val="D9B6CC"/>
                </a:solidFill>
                <a:latin typeface="Italiana"/>
              </a:rPr>
              <a:t>05</a:t>
            </a:r>
          </a:p>
        </p:txBody>
      </p:sp>
      <p:pic>
        <p:nvPicPr>
          <p:cNvPr id="33" name="Picture 32" descr="butterfly_p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1000" y="2286000"/>
            <a:ext cx="635000" cy="635000"/>
          </a:xfrm>
          <a:prstGeom prst="rect">
            <a:avLst/>
          </a:prstGeom>
        </p:spPr>
      </p:pic>
      <p:pic>
        <p:nvPicPr>
          <p:cNvPr id="34" name="Picture 33" descr="pearl_str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0" y="2095500"/>
            <a:ext cx="1778000" cy="2719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68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67400"/>
            <a:ext cx="12192000" cy="317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6300" y="1511300"/>
            <a:ext cx="4216400" cy="3835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330200" dist="101600" dir="5400000" rotWithShape="0">
              <a:srgbClr val="C4568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2500" y="1587500"/>
            <a:ext cx="4064000" cy="3683000"/>
          </a:xfrm>
          <a:prstGeom prst="roundRect">
            <a:avLst>
              <a:gd name="adj" fmla="val 3000"/>
            </a:avLst>
          </a:prstGeom>
          <a:solidFill>
            <a:srgbClr val="F3EEF6"/>
          </a:solidFill>
          <a:ln w="15875">
            <a:solidFill>
              <a:srgbClr val="FF8F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9BB3"/>
                </a:solidFill>
                <a:latin typeface="Poppins"/>
              </a:rPr>
              <a:t>drop 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0" y="1333500"/>
            <a:ext cx="571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 i="0" spc="2000">
                <a:solidFill>
                  <a:srgbClr val="100A16"/>
                </a:solidFill>
                <a:latin typeface="Italiana"/>
              </a:rPr>
              <a:t>FEATURED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7200" y="1498600"/>
            <a:ext cx="5715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6000" b="0" i="0">
                <a:solidFill>
                  <a:srgbClr val="FF2E93"/>
                </a:solidFill>
                <a:latin typeface="Great Vibes"/>
              </a:rPr>
              <a:t>Sawala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0" y="2603500"/>
            <a:ext cx="5207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 spc="700">
                <a:solidFill>
                  <a:srgbClr val="100A16"/>
                </a:solidFill>
                <a:latin typeface="Oswald"/>
              </a:rPr>
              <a:t>WELLNESS COMMUNITY &amp; EVENT ORGANIZER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88000" y="2933700"/>
            <a:ext cx="2921000" cy="12700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8000" y="31369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200" b="0" i="0">
                <a:solidFill>
                  <a:srgbClr val="2A1F30"/>
                </a:solidFill>
                <a:latin typeface="Poppins"/>
              </a:rPr>
              <a:t>As a co-founder, I contribute to the creative and marketing side of Sawala Space, from developing event concepts and promotional content to managing brand partnerships and supporting event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0" y="4572000"/>
            <a:ext cx="254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 spc="800">
                <a:solidFill>
                  <a:srgbClr val="FF2E93"/>
                </a:solidFill>
                <a:latin typeface="Oswald"/>
              </a:rPr>
              <a:t>MY 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88000" y="4838700"/>
            <a:ext cx="1454785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500">
                <a:solidFill>
                  <a:srgbClr val="100A16"/>
                </a:solidFill>
                <a:latin typeface="Oswald"/>
              </a:rPr>
              <a:t>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1685" y="4838700"/>
            <a:ext cx="2258060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500">
                <a:solidFill>
                  <a:srgbClr val="100A16"/>
                </a:solidFill>
                <a:latin typeface="Oswald"/>
              </a:rPr>
              <a:t>Social Media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8645" y="4838700"/>
            <a:ext cx="1615440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500">
                <a:solidFill>
                  <a:srgbClr val="100A16"/>
                </a:solidFill>
                <a:latin typeface="Oswald"/>
              </a:rPr>
              <a:t>Campaign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88000" y="5219700"/>
            <a:ext cx="1133475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500">
                <a:solidFill>
                  <a:srgbClr val="100A16"/>
                </a:solidFill>
                <a:latin typeface="Oswald"/>
              </a:rPr>
              <a:t>Event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0375" y="5219700"/>
            <a:ext cx="2097405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500">
                <a:solidFill>
                  <a:srgbClr val="100A16"/>
                </a:solidFill>
                <a:latin typeface="Oswald"/>
              </a:rPr>
              <a:t>Partnership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6680" y="5219700"/>
            <a:ext cx="1615440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500">
                <a:solidFill>
                  <a:srgbClr val="100A16"/>
                </a:solidFill>
                <a:latin typeface="Oswald"/>
              </a:rPr>
              <a:t>Branding</a:t>
            </a:r>
          </a:p>
        </p:txBody>
      </p:sp>
      <p:pic>
        <p:nvPicPr>
          <p:cNvPr id="21" name="Picture 20" descr="gem_he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8100" y="1549400"/>
            <a:ext cx="355600" cy="355600"/>
          </a:xfrm>
          <a:prstGeom prst="rect">
            <a:avLst/>
          </a:prstGeom>
        </p:spPr>
      </p:pic>
      <p:pic>
        <p:nvPicPr>
          <p:cNvPr id="22" name="Picture 21" descr="butterfly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5000" y="4826000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68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67400"/>
            <a:ext cx="12192000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016000"/>
            <a:ext cx="121920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200" b="0" i="0" spc="2000">
                <a:solidFill>
                  <a:srgbClr val="100A16"/>
                </a:solidFill>
                <a:latin typeface="Italiana"/>
              </a:rPr>
              <a:t>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351280"/>
            <a:ext cx="12192000" cy="53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5000" b="0" i="0">
                <a:solidFill>
                  <a:srgbClr val="FF2E93"/>
                </a:solidFill>
                <a:latin typeface="Great Vibes"/>
              </a:rPr>
              <a:t>selected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425700"/>
            <a:ext cx="1219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800">
                <a:solidFill>
                  <a:srgbClr val="FF2E93"/>
                </a:solidFill>
                <a:latin typeface="Oswald"/>
              </a:rPr>
              <a:t>SOCIAL MEDIA · EVENT VISUALS · PROMOTIONAL MATERIALS · BRANDING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3600" y="2794000"/>
            <a:ext cx="2489200" cy="120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330200" dist="101600" dir="5400000" rotWithShape="0">
              <a:srgbClr val="C4568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9800" y="2870200"/>
            <a:ext cx="2336800" cy="1054100"/>
          </a:xfrm>
          <a:prstGeom prst="roundRect">
            <a:avLst>
              <a:gd name="adj" fmla="val 3000"/>
            </a:avLst>
          </a:prstGeom>
          <a:solidFill>
            <a:srgbClr val="F3EEF6"/>
          </a:solidFill>
          <a:ln w="15875">
            <a:solidFill>
              <a:srgbClr val="FF8F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9BB3"/>
                </a:solidFill>
                <a:latin typeface="Poppins"/>
              </a:rPr>
              <a:t>ig carousel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9800" y="2794000"/>
            <a:ext cx="2489200" cy="120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330200" dist="101600" dir="5400000" rotWithShape="0">
              <a:srgbClr val="C4568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56000" y="2870200"/>
            <a:ext cx="2336800" cy="1054100"/>
          </a:xfrm>
          <a:prstGeom prst="roundRect">
            <a:avLst>
              <a:gd name="adj" fmla="val 3000"/>
            </a:avLst>
          </a:prstGeom>
          <a:solidFill>
            <a:srgbClr val="F3EEF6"/>
          </a:solidFill>
          <a:ln w="15875">
            <a:solidFill>
              <a:srgbClr val="FF8F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9BB3"/>
                </a:solidFill>
                <a:latin typeface="Poppins"/>
              </a:rPr>
              <a:t>event poster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0" y="2794000"/>
            <a:ext cx="2489200" cy="120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330200" dist="101600" dir="5400000" rotWithShape="0">
              <a:srgbClr val="C4568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2870200"/>
            <a:ext cx="2336800" cy="1054100"/>
          </a:xfrm>
          <a:prstGeom prst="roundRect">
            <a:avLst>
              <a:gd name="adj" fmla="val 3000"/>
            </a:avLst>
          </a:prstGeom>
          <a:solidFill>
            <a:srgbClr val="F3EEF6"/>
          </a:solidFill>
          <a:ln w="15875">
            <a:solidFill>
              <a:srgbClr val="FF8F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9BB3"/>
                </a:solidFill>
                <a:latin typeface="Poppins"/>
              </a:rPr>
              <a:t>reels cover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12200" y="2794000"/>
            <a:ext cx="2489200" cy="120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330200" dist="101600" dir="5400000" rotWithShape="0">
              <a:srgbClr val="C4568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88400" y="2870200"/>
            <a:ext cx="2336800" cy="1054100"/>
          </a:xfrm>
          <a:prstGeom prst="roundRect">
            <a:avLst>
              <a:gd name="adj" fmla="val 3000"/>
            </a:avLst>
          </a:prstGeom>
          <a:solidFill>
            <a:srgbClr val="F3EEF6"/>
          </a:solidFill>
          <a:ln w="15875">
            <a:solidFill>
              <a:srgbClr val="FF8F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9BB3"/>
                </a:solidFill>
                <a:latin typeface="Poppins"/>
              </a:rPr>
              <a:t>brand kit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3600" y="4267200"/>
            <a:ext cx="2489200" cy="120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330200" dist="101600" dir="5400000" rotWithShape="0">
              <a:srgbClr val="C4568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9800" y="4343400"/>
            <a:ext cx="2336800" cy="1054100"/>
          </a:xfrm>
          <a:prstGeom prst="roundRect">
            <a:avLst>
              <a:gd name="adj" fmla="val 3000"/>
            </a:avLst>
          </a:prstGeom>
          <a:solidFill>
            <a:srgbClr val="F3EEF6"/>
          </a:solidFill>
          <a:ln w="15875">
            <a:solidFill>
              <a:srgbClr val="FF8F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9BB3"/>
                </a:solidFill>
                <a:latin typeface="Poppins"/>
              </a:rPr>
              <a:t>feed layout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9800" y="4267200"/>
            <a:ext cx="2489200" cy="120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330200" dist="101600" dir="5400000" rotWithShape="0">
              <a:srgbClr val="C4568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56000" y="4343400"/>
            <a:ext cx="2336800" cy="1054100"/>
          </a:xfrm>
          <a:prstGeom prst="roundRect">
            <a:avLst>
              <a:gd name="adj" fmla="val 3000"/>
            </a:avLst>
          </a:prstGeom>
          <a:solidFill>
            <a:srgbClr val="F3EEF6"/>
          </a:solidFill>
          <a:ln w="15875">
            <a:solidFill>
              <a:srgbClr val="FF8F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9BB3"/>
                </a:solidFill>
                <a:latin typeface="Poppins"/>
              </a:rPr>
              <a:t>promo flyer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6000" y="4267200"/>
            <a:ext cx="2489200" cy="120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330200" dist="101600" dir="5400000" rotWithShape="0">
              <a:srgbClr val="C4568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72200" y="4343400"/>
            <a:ext cx="2336800" cy="1054100"/>
          </a:xfrm>
          <a:prstGeom prst="roundRect">
            <a:avLst>
              <a:gd name="adj" fmla="val 3000"/>
            </a:avLst>
          </a:prstGeom>
          <a:solidFill>
            <a:srgbClr val="F3EEF6"/>
          </a:solidFill>
          <a:ln w="15875">
            <a:solidFill>
              <a:srgbClr val="FF8F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9BB3"/>
                </a:solidFill>
                <a:latin typeface="Poppins"/>
              </a:rPr>
              <a:t>campaign visual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12200" y="4267200"/>
            <a:ext cx="2489200" cy="120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330200" dist="101600" dir="5400000" rotWithShape="0">
              <a:srgbClr val="C4568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88400" y="4343400"/>
            <a:ext cx="2336800" cy="1054100"/>
          </a:xfrm>
          <a:prstGeom prst="roundRect">
            <a:avLst>
              <a:gd name="adj" fmla="val 3000"/>
            </a:avLst>
          </a:prstGeom>
          <a:solidFill>
            <a:srgbClr val="F3EEF6"/>
          </a:solidFill>
          <a:ln w="15875">
            <a:solidFill>
              <a:srgbClr val="FF8F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9BB3"/>
                </a:solidFill>
                <a:latin typeface="Poppins"/>
              </a:rPr>
              <a:t>merch design</a:t>
            </a:r>
          </a:p>
        </p:txBody>
      </p:sp>
      <p:pic>
        <p:nvPicPr>
          <p:cNvPr id="26" name="Picture 25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6500" y="2540000"/>
            <a:ext cx="254000" cy="254000"/>
          </a:xfrm>
          <a:prstGeom prst="rect">
            <a:avLst/>
          </a:prstGeom>
        </p:spPr>
      </p:pic>
      <p:pic>
        <p:nvPicPr>
          <p:cNvPr id="27" name="Picture 26" descr="gem_marquise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200" y="4064000"/>
            <a:ext cx="2794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68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67400"/>
            <a:ext cx="12192000" cy="317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6300" y="1511300"/>
            <a:ext cx="3454400" cy="3835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330200" dist="101600" dir="5400000" rotWithShape="0">
              <a:srgbClr val="C4568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2500" y="1587500"/>
            <a:ext cx="3302000" cy="3683000"/>
          </a:xfrm>
          <a:prstGeom prst="roundRect">
            <a:avLst>
              <a:gd name="adj" fmla="val 3000"/>
            </a:avLst>
          </a:prstGeom>
          <a:solidFill>
            <a:srgbClr val="F3EEF6"/>
          </a:solidFill>
          <a:ln w="15875">
            <a:solidFill>
              <a:srgbClr val="FF8F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9BB3"/>
                </a:solidFill>
                <a:latin typeface="Poppins"/>
              </a:rPr>
              <a:t>drop poster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0" y="13208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 spc="800">
                <a:solidFill>
                  <a:srgbClr val="FF2E93"/>
                </a:solidFill>
                <a:latin typeface="Oswald"/>
              </a:rPr>
              <a:t>WELLNESS × SOCIAL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0" y="1473200"/>
            <a:ext cx="635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6400" b="0" i="0">
                <a:solidFill>
                  <a:srgbClr val="FF2E93"/>
                </a:solidFill>
                <a:latin typeface="Great Vibes"/>
              </a:rPr>
              <a:t>Stretch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100" y="2578100"/>
            <a:ext cx="635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400" b="0" i="0" spc="1800">
                <a:solidFill>
                  <a:srgbClr val="100A16"/>
                </a:solidFill>
                <a:latin typeface="Italiana"/>
              </a:rPr>
              <a:t>FOR STRAY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0" y="3136900"/>
            <a:ext cx="2667000" cy="12700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800" y="3403600"/>
            <a:ext cx="444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50" b="0" i="0">
                <a:solidFill>
                  <a:srgbClr val="2A1F30"/>
                </a:solidFill>
                <a:latin typeface="Poppins"/>
              </a:rPr>
              <a:t>A wellness event combining movement, community, and support for animal welfare.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6800" y="4165600"/>
            <a:ext cx="317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 spc="800">
                <a:solidFill>
                  <a:srgbClr val="FF2E93"/>
                </a:solidFill>
                <a:latin typeface="Oswald"/>
              </a:rPr>
              <a:t>MY CONTRIBUTION</a:t>
            </a:r>
          </a:p>
        </p:txBody>
      </p:sp>
      <p:pic>
        <p:nvPicPr>
          <p:cNvPr id="15" name="Picture 14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2200" y="4508500"/>
            <a:ext cx="165100" cy="165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94300" y="4445000"/>
            <a:ext cx="3556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A1F30"/>
                </a:solidFill>
                <a:latin typeface="Poppins"/>
              </a:rPr>
              <a:t>Campaign concept</a:t>
            </a:r>
          </a:p>
        </p:txBody>
      </p:sp>
      <p:pic>
        <p:nvPicPr>
          <p:cNvPr id="17" name="Picture 16" descr="gem_round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2200" y="4787900"/>
            <a:ext cx="165100" cy="165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94300" y="4724400"/>
            <a:ext cx="3556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A1F30"/>
                </a:solidFill>
                <a:latin typeface="Poppins"/>
              </a:rPr>
              <a:t>Event promotion</a:t>
            </a:r>
          </a:p>
        </p:txBody>
      </p:sp>
      <p:pic>
        <p:nvPicPr>
          <p:cNvPr id="19" name="Picture 18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2200" y="5067300"/>
            <a:ext cx="165100" cy="1651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94300" y="5003800"/>
            <a:ext cx="3556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A1F30"/>
                </a:solidFill>
                <a:latin typeface="Poppins"/>
              </a:rPr>
              <a:t>Social media content</a:t>
            </a:r>
          </a:p>
        </p:txBody>
      </p:sp>
      <p:pic>
        <p:nvPicPr>
          <p:cNvPr id="21" name="Picture 20" descr="gem_round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2200" y="5346700"/>
            <a:ext cx="165100" cy="1651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94300" y="5283200"/>
            <a:ext cx="3556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A1F30"/>
                </a:solidFill>
                <a:latin typeface="Poppins"/>
              </a:rPr>
              <a:t>Partnership communication</a:t>
            </a:r>
          </a:p>
        </p:txBody>
      </p:sp>
      <p:pic>
        <p:nvPicPr>
          <p:cNvPr id="23" name="Picture 22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2200" y="5626100"/>
            <a:ext cx="165100" cy="1651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94300" y="5562600"/>
            <a:ext cx="3556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A1F30"/>
                </a:solidFill>
                <a:latin typeface="Poppins"/>
              </a:rPr>
              <a:t>Event coordination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40800" y="3886200"/>
            <a:ext cx="2247900" cy="1625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330200" dist="101600" dir="5400000" rotWithShape="0">
              <a:srgbClr val="C4568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17000" y="3962400"/>
            <a:ext cx="2095500" cy="1473200"/>
          </a:xfrm>
          <a:prstGeom prst="roundRect">
            <a:avLst>
              <a:gd name="adj" fmla="val 3000"/>
            </a:avLst>
          </a:prstGeom>
          <a:solidFill>
            <a:srgbClr val="F3EEF6"/>
          </a:solidFill>
          <a:ln w="15875">
            <a:solidFill>
              <a:srgbClr val="FF8FC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9BB3"/>
                </a:solidFill>
                <a:latin typeface="Poppins"/>
              </a:rPr>
              <a:t>documentation</a:t>
            </a:r>
          </a:p>
        </p:txBody>
      </p:sp>
      <p:pic>
        <p:nvPicPr>
          <p:cNvPr id="27" name="Picture 26" descr="butterfly_p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0" y="1498600"/>
            <a:ext cx="660400" cy="660400"/>
          </a:xfrm>
          <a:prstGeom prst="rect">
            <a:avLst/>
          </a:prstGeom>
        </p:spPr>
      </p:pic>
      <p:pic>
        <p:nvPicPr>
          <p:cNvPr id="28" name="Picture 27" descr="gem_he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9000" y="158750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68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67400"/>
            <a:ext cx="12192000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016000"/>
            <a:ext cx="121920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200" b="0" i="0" spc="2000">
                <a:solidFill>
                  <a:srgbClr val="100A16"/>
                </a:solidFill>
                <a:latin typeface="Italiana"/>
              </a:rPr>
              <a:t>ORGANISATIONS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351280"/>
            <a:ext cx="121920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4800" b="0" i="0">
                <a:solidFill>
                  <a:srgbClr val="FF2E93"/>
                </a:solidFill>
                <a:latin typeface="Great Vibes"/>
              </a:rPr>
              <a:t>beyond creative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540000"/>
            <a:ext cx="1219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300" b="0" i="0">
                <a:solidFill>
                  <a:srgbClr val="6B5A68"/>
                </a:solidFill>
                <a:latin typeface="Poppins"/>
              </a:rPr>
              <a:t>My creative experience also grew through student organizations, academic projects, and collaborative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2500" y="3048000"/>
            <a:ext cx="3175000" cy="2209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F8FC5"/>
            </a:solidFill>
          </a:ln>
          <a:effectLst>
            <a:outerShdw blurRad="279400" dist="88900" dir="5400000" rotWithShape="0">
              <a:srgbClr val="C4568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gem_he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600" y="331470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44600" y="3797300"/>
            <a:ext cx="26035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 spc="400">
                <a:solidFill>
                  <a:srgbClr val="100A16"/>
                </a:solidFill>
                <a:latin typeface="Oswald"/>
              </a:rPr>
              <a:t>HIMPUNAN MAHASISWA PPP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44600" y="4673600"/>
            <a:ext cx="952500" cy="12700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4600" y="4826000"/>
            <a:ext cx="2603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6B5A68"/>
                </a:solidFill>
                <a:latin typeface="Poppins"/>
              </a:rPr>
              <a:t>Head of Media &amp; Branding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2300" y="3048000"/>
            <a:ext cx="3175000" cy="2209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F8FC5"/>
            </a:solidFill>
          </a:ln>
          <a:effectLst>
            <a:outerShdw blurRad="279400" dist="88900" dir="5400000" rotWithShape="0">
              <a:srgbClr val="C4568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6" name="Picture 15" descr="gem_marqui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4400" y="331470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24400" y="3797300"/>
            <a:ext cx="26035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 spc="400">
                <a:solidFill>
                  <a:srgbClr val="100A16"/>
                </a:solidFill>
                <a:latin typeface="Oswald"/>
              </a:rPr>
              <a:t>PEKAN SENI BUDAYA IPB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4400" y="4673600"/>
            <a:ext cx="952500" cy="12700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4400" y="4826000"/>
            <a:ext cx="2603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6B5A68"/>
                </a:solidFill>
                <a:latin typeface="Poppins"/>
              </a:rPr>
              <a:t>Vice Head / Staff DKV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12100" y="3048000"/>
            <a:ext cx="3175000" cy="2209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F8FC5"/>
            </a:solidFill>
          </a:ln>
          <a:effectLst>
            <a:outerShdw blurRad="279400" dist="88900" dir="5400000" rotWithShape="0">
              <a:srgbClr val="C4568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gem_rou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3314700"/>
            <a:ext cx="304800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04200" y="3797300"/>
            <a:ext cx="26035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 spc="400">
                <a:solidFill>
                  <a:srgbClr val="100A16"/>
                </a:solidFill>
                <a:latin typeface="Oswald"/>
              </a:rPr>
              <a:t>ACADEMIC &amp; RESEARCH PROJECTS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04200" y="4673600"/>
            <a:ext cx="952500" cy="12700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4200" y="4826000"/>
            <a:ext cx="2603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6B5A68"/>
                </a:solidFill>
                <a:latin typeface="Poppins"/>
              </a:rPr>
              <a:t>Visual communication · presentation · 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68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67400"/>
            <a:ext cx="12192000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016000"/>
            <a:ext cx="121920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200" b="0" i="0" spc="2000">
                <a:solidFill>
                  <a:srgbClr val="100A16"/>
                </a:solidFill>
                <a:latin typeface="Italiana"/>
              </a:rPr>
              <a:t>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351280"/>
            <a:ext cx="12192000" cy="53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5000" b="0" i="0">
                <a:solidFill>
                  <a:srgbClr val="FF2E93"/>
                </a:solidFill>
                <a:latin typeface="Great Vibes"/>
              </a:rPr>
              <a:t>skills &amp;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5400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 spc="800">
                <a:solidFill>
                  <a:srgbClr val="FF2E93"/>
                </a:solidFill>
                <a:latin typeface="Oswald"/>
              </a:rPr>
              <a:t>CREATIVE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32100"/>
            <a:ext cx="1905000" cy="12700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3136900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46200" y="3086100"/>
            <a:ext cx="317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2A1F30"/>
                </a:solidFill>
                <a:latin typeface="Poppins"/>
              </a:rPr>
              <a:t>Graphic Design</a:t>
            </a:r>
          </a:p>
        </p:txBody>
      </p:sp>
      <p:pic>
        <p:nvPicPr>
          <p:cNvPr id="13" name="Picture 12" descr="gem_marquise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000" y="3530600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46200" y="3479800"/>
            <a:ext cx="317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2A1F30"/>
                </a:solidFill>
                <a:latin typeface="Poppins"/>
              </a:rPr>
              <a:t>Copywriting</a:t>
            </a:r>
          </a:p>
        </p:txBody>
      </p:sp>
      <p:pic>
        <p:nvPicPr>
          <p:cNvPr id="15" name="Picture 14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3924300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46200" y="3873500"/>
            <a:ext cx="317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2A1F30"/>
                </a:solidFill>
                <a:latin typeface="Poppins"/>
              </a:rPr>
              <a:t>Content Creation</a:t>
            </a:r>
          </a:p>
        </p:txBody>
      </p:sp>
      <p:pic>
        <p:nvPicPr>
          <p:cNvPr id="17" name="Picture 16" descr="gem_marquise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000" y="4318000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46200" y="4267200"/>
            <a:ext cx="317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2A1F30"/>
                </a:solidFill>
                <a:latin typeface="Poppins"/>
              </a:rPr>
              <a:t>Visual Communication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25400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 spc="800">
                <a:solidFill>
                  <a:srgbClr val="FF2E93"/>
                </a:solidFill>
                <a:latin typeface="Oswald"/>
              </a:rPr>
              <a:t>MARKETING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7000" y="2832100"/>
            <a:ext cx="1905000" cy="12700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3136900"/>
            <a:ext cx="190500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07200" y="3086100"/>
            <a:ext cx="317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2A1F30"/>
                </a:solidFill>
                <a:latin typeface="Poppins"/>
              </a:rPr>
              <a:t>Social Media</a:t>
            </a:r>
          </a:p>
        </p:txBody>
      </p:sp>
      <p:pic>
        <p:nvPicPr>
          <p:cNvPr id="23" name="Picture 22" descr="gem_marquise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3530600"/>
            <a:ext cx="1905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07200" y="3479800"/>
            <a:ext cx="317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2A1F30"/>
                </a:solidFill>
                <a:latin typeface="Poppins"/>
              </a:rPr>
              <a:t>Campaign Development</a:t>
            </a:r>
          </a:p>
        </p:txBody>
      </p:sp>
      <p:pic>
        <p:nvPicPr>
          <p:cNvPr id="25" name="Picture 24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3924300"/>
            <a:ext cx="190500" cy="19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07200" y="3873500"/>
            <a:ext cx="317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2A1F30"/>
                </a:solidFill>
                <a:latin typeface="Poppins"/>
              </a:rPr>
              <a:t>Event Management</a:t>
            </a:r>
          </a:p>
        </p:txBody>
      </p:sp>
      <p:pic>
        <p:nvPicPr>
          <p:cNvPr id="27" name="Picture 26" descr="gem_marquise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4318000"/>
            <a:ext cx="190500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07200" y="4267200"/>
            <a:ext cx="317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2A1F30"/>
                </a:solidFill>
                <a:latin typeface="Poppins"/>
              </a:rPr>
              <a:t>Partnership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000" y="47879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800">
                <a:solidFill>
                  <a:srgbClr val="FF2E93"/>
                </a:solidFill>
                <a:latin typeface="Oswald"/>
              </a:rPr>
              <a:t>TOOLS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6000" y="5080000"/>
            <a:ext cx="10160000" cy="6350"/>
          </a:xfrm>
          <a:prstGeom prst="rect">
            <a:avLst/>
          </a:prstGeom>
          <a:solidFill>
            <a:srgbClr val="EB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6000" y="5232400"/>
            <a:ext cx="636588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00A16"/>
                </a:solidFill>
                <a:latin typeface="Poppins"/>
              </a:rPr>
              <a:t>Canva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28788" y="5232400"/>
            <a:ext cx="1676718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00A16"/>
                </a:solidFill>
                <a:latin typeface="Poppins"/>
              </a:rPr>
              <a:t>Adobe Illustrator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81705" y="5232400"/>
            <a:ext cx="1503362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00A16"/>
                </a:solidFill>
                <a:latin typeface="Poppins"/>
              </a:rPr>
              <a:t>Adobe Photoshop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61268" y="5232400"/>
            <a:ext cx="723265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00A16"/>
                </a:solidFill>
                <a:latin typeface="Poppins"/>
              </a:rPr>
              <a:t>CapCut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6000" y="5562600"/>
            <a:ext cx="159004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00A16"/>
                </a:solidFill>
                <a:latin typeface="Poppins"/>
              </a:rPr>
              <a:t>Microsoft Office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82240" y="5562600"/>
            <a:ext cx="159004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00A16"/>
                </a:solidFill>
                <a:latin typeface="Poppins"/>
              </a:rPr>
              <a:t>Google Workspace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8480" y="5562600"/>
            <a:ext cx="809942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00A16"/>
                </a:solidFill>
                <a:latin typeface="Poppins"/>
              </a:rPr>
              <a:t>Minitab</a:t>
            </a:r>
          </a:p>
        </p:txBody>
      </p:sp>
      <p:pic>
        <p:nvPicPr>
          <p:cNvPr id="38" name="Picture 37" descr="butterfly_ro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2000" y="4826000"/>
            <a:ext cx="5969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68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67400"/>
            <a:ext cx="12192000" cy="317500"/>
          </a:xfrm>
          <a:prstGeom prst="rect">
            <a:avLst/>
          </a:prstGeom>
        </p:spPr>
      </p:pic>
      <p:pic>
        <p:nvPicPr>
          <p:cNvPr id="7" name="Picture 6" descr="gem_heart_pav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7500" y="1003300"/>
            <a:ext cx="1397000" cy="12823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2590800"/>
            <a:ext cx="1219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3200" b="0" i="0" spc="2200">
                <a:solidFill>
                  <a:srgbClr val="100A16"/>
                </a:solidFill>
                <a:latin typeface="Italiana"/>
              </a:rPr>
              <a:t>LET'S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870200"/>
            <a:ext cx="12192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6600" b="0" i="0">
                <a:solidFill>
                  <a:srgbClr val="FF2E93"/>
                </a:solidFill>
                <a:latin typeface="Great Vibes"/>
              </a:rPr>
              <a:t>together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1000" y="4140200"/>
            <a:ext cx="1270000" cy="12700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1000" y="4318000"/>
            <a:ext cx="6350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  <a:spcAft>
                <a:spcPts val="0"/>
              </a:spcAft>
            </a:pPr>
            <a:r>
              <a:rPr sz="1250" b="0" i="0">
                <a:solidFill>
                  <a:srgbClr val="2A1F30"/>
                </a:solidFill>
                <a:latin typeface="Poppins"/>
              </a:rPr>
              <a:t>Thank you for taking the time to explore my work. I'm always open to new creative opportunities, collaborations, and projects.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67000" y="5118100"/>
            <a:ext cx="2032000" cy="584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FF8FC5"/>
            </a:solidFill>
          </a:ln>
          <a:effectLst>
            <a:outerShdw blurRad="228600" dist="76200" dir="5400000" rotWithShape="0">
              <a:srgbClr val="C4568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7000" y="5245100"/>
            <a:ext cx="203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600">
                <a:solidFill>
                  <a:srgbClr val="FF2E93"/>
                </a:solidFill>
                <a:latin typeface="Oswald"/>
              </a:rPr>
              <a:t>WHATSAPP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7000" y="5435600"/>
            <a:ext cx="203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6B5A68"/>
                </a:solidFill>
                <a:latin typeface="Poppins"/>
              </a:rPr>
              <a:t>+62 8xx-xxxx-xxxx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0000" y="5118100"/>
            <a:ext cx="2032000" cy="584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FF8FC5"/>
            </a:solidFill>
          </a:ln>
          <a:effectLst>
            <a:outerShdw blurRad="228600" dist="76200" dir="5400000" rotWithShape="0">
              <a:srgbClr val="C4568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0000" y="5245100"/>
            <a:ext cx="203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600">
                <a:solidFill>
                  <a:srgbClr val="FF2E93"/>
                </a:solidFill>
                <a:latin typeface="Oswald"/>
              </a:rPr>
              <a:t>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0" y="5435600"/>
            <a:ext cx="203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6B5A68"/>
                </a:solidFill>
                <a:latin typeface="Poppins"/>
              </a:rPr>
              <a:t>hello@email.com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3000" y="5118100"/>
            <a:ext cx="2032000" cy="584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FF8FC5"/>
            </a:solidFill>
          </a:ln>
          <a:effectLst>
            <a:outerShdw blurRad="228600" dist="76200" dir="5400000" rotWithShape="0">
              <a:srgbClr val="C4568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3000" y="5245100"/>
            <a:ext cx="203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600">
                <a:solidFill>
                  <a:srgbClr val="FF2E93"/>
                </a:solidFill>
                <a:latin typeface="Oswald"/>
              </a:rPr>
              <a:t>LINKEDIN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3000" y="5435600"/>
            <a:ext cx="203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6B5A68"/>
                </a:solidFill>
                <a:latin typeface="Poppins"/>
              </a:rPr>
              <a:t>linkedin.com/in/username</a:t>
            </a:r>
          </a:p>
        </p:txBody>
      </p:sp>
      <p:pic>
        <p:nvPicPr>
          <p:cNvPr id="21" name="Picture 20" descr="butterfly_p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500" y="2413000"/>
            <a:ext cx="762000" cy="762000"/>
          </a:xfrm>
          <a:prstGeom prst="rect">
            <a:avLst/>
          </a:prstGeom>
        </p:spPr>
      </p:pic>
      <p:pic>
        <p:nvPicPr>
          <p:cNvPr id="22" name="Picture 21" descr="butterfly_ro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0" y="2667000"/>
            <a:ext cx="609600" cy="609600"/>
          </a:xfrm>
          <a:prstGeom prst="rect">
            <a:avLst/>
          </a:prstGeom>
        </p:spPr>
      </p:pic>
      <p:pic>
        <p:nvPicPr>
          <p:cNvPr id="23" name="Picture 22" descr="gem_marqui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5000" y="1587500"/>
            <a:ext cx="317500" cy="317500"/>
          </a:xfrm>
          <a:prstGeom prst="rect">
            <a:avLst/>
          </a:prstGeom>
        </p:spPr>
      </p:pic>
      <p:pic>
        <p:nvPicPr>
          <p:cNvPr id="24" name="Picture 23" descr="gem_round_ro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3500" y="4381500"/>
            <a:ext cx="254000" cy="254000"/>
          </a:xfrm>
          <a:prstGeom prst="rect">
            <a:avLst/>
          </a:prstGeom>
        </p:spPr>
      </p:pic>
      <p:pic>
        <p:nvPicPr>
          <p:cNvPr id="25" name="Picture 24" descr="pearl_str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3500" y="4381500"/>
            <a:ext cx="1587500" cy="242794"/>
          </a:xfrm>
          <a:prstGeom prst="rect">
            <a:avLst/>
          </a:prstGeom>
        </p:spPr>
      </p:pic>
      <p:pic>
        <p:nvPicPr>
          <p:cNvPr id="26" name="Picture 25" descr="pearl_str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1000" y="4381500"/>
            <a:ext cx="1587500" cy="2427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