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1.png"/><Relationship Id="rId10" Type="http://schemas.openxmlformats.org/officeDocument/2006/relationships/image" Target="../media/image5.png"/><Relationship Id="rId11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5.png"/><Relationship Id="rId9" Type="http://schemas.openxmlformats.org/officeDocument/2006/relationships/image" Target="../media/image7.png"/><Relationship Id="rId10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2.png"/><Relationship Id="rId10" Type="http://schemas.openxmlformats.org/officeDocument/2006/relationships/image" Target="../media/image11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100" y="1143000"/>
            <a:ext cx="10795000" cy="481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 spc="900">
                <a:solidFill>
                  <a:srgbClr val="FF2E93"/>
                </a:solidFill>
                <a:latin typeface="Italiana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1650365"/>
            <a:ext cx="4451449" cy="5586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50" b="0" i="0" spc="300">
                <a:solidFill>
                  <a:srgbClr val="100A16"/>
                </a:solidFill>
                <a:latin typeface="Italiana"/>
              </a:rPr>
              <a:t>CONTENT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7100" y="2221706"/>
            <a:ext cx="10795000" cy="613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 spc="400">
                <a:solidFill>
                  <a:srgbClr val="100A16"/>
                </a:solidFill>
                <a:latin typeface="Italiana"/>
              </a:rPr>
              <a:t>PORTFOLIO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949416"/>
            <a:ext cx="1778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000" y="3051016"/>
            <a:ext cx="10795000" cy="1615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0" b="0" i="0">
                <a:solidFill>
                  <a:srgbClr val="FF2E93"/>
                </a:solidFill>
                <a:latin typeface="Great Vibes"/>
              </a:rPr>
              <a:t>Zahra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679394"/>
            <a:ext cx="10795000" cy="547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 spc="700">
                <a:solidFill>
                  <a:srgbClr val="100A16"/>
                </a:solidFill>
                <a:latin typeface="Italiana"/>
              </a:rPr>
              <a:t>LEVINA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5328682"/>
            <a:ext cx="34290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0" i="1">
                <a:solidFill>
                  <a:srgbClr val="7A6478"/>
                </a:solidFill>
                <a:latin typeface="Poppins"/>
              </a:rPr>
              <a:t>content production · social media · visual storytelling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6159262"/>
            <a:ext cx="10795000" cy="273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400">
                <a:solidFill>
                  <a:srgbClr val="100A16"/>
                </a:solidFill>
                <a:latin typeface="Oswald"/>
              </a:rPr>
              <a:t>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4700" y="6159262"/>
            <a:ext cx="10795000" cy="273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400">
                <a:solidFill>
                  <a:srgbClr val="100A16"/>
                </a:solidFill>
                <a:latin typeface="Oswald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900" y="6159262"/>
            <a:ext cx="10795000" cy="2738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400">
                <a:solidFill>
                  <a:srgbClr val="100A16"/>
                </a:solidFill>
                <a:latin typeface="Oswald"/>
              </a:rPr>
              <a:t>LINKEDIN</a:t>
            </a:r>
          </a:p>
        </p:txBody>
      </p:sp>
      <p:sp>
        <p:nvSpPr>
          <p:cNvPr id="17" name="Round Same Side Corner Rectangle 16"/>
          <p:cNvSpPr/>
          <p:nvPr/>
        </p:nvSpPr>
        <p:spPr>
          <a:xfrm>
            <a:off x="5588000" y="1244600"/>
            <a:ext cx="3556000" cy="46355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F1EBF2"/>
          </a:solidFill>
          <a:ln w="381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drop portrait</a:t>
            </a:r>
          </a:p>
        </p:txBody>
      </p:sp>
      <p:sp>
        <p:nvSpPr>
          <p:cNvPr id="18" name="Oval 17"/>
          <p:cNvSpPr/>
          <p:nvPr/>
        </p:nvSpPr>
        <p:spPr>
          <a:xfrm>
            <a:off x="9461500" y="1816100"/>
            <a:ext cx="1905000" cy="1905000"/>
          </a:xfrm>
          <a:prstGeom prst="ellipse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photo</a:t>
            </a:r>
          </a:p>
        </p:txBody>
      </p:sp>
      <p:sp>
        <p:nvSpPr>
          <p:cNvPr id="19" name="Snip Diagonal Corner Rectangle 18"/>
          <p:cNvSpPr/>
          <p:nvPr/>
        </p:nvSpPr>
        <p:spPr>
          <a:xfrm rot="300000">
            <a:off x="9525000" y="4102100"/>
            <a:ext cx="1841500" cy="1587500"/>
          </a:xfrm>
          <a:prstGeom prst="snip2DiagRect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photo</a:t>
            </a:r>
          </a:p>
        </p:txBody>
      </p:sp>
      <p:pic>
        <p:nvPicPr>
          <p:cNvPr id="20" name="Picture 19" descr="butterfly_p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6500" y="1562100"/>
            <a:ext cx="952500" cy="952500"/>
          </a:xfrm>
          <a:prstGeom prst="rect">
            <a:avLst/>
          </a:prstGeom>
        </p:spPr>
      </p:pic>
      <p:pic>
        <p:nvPicPr>
          <p:cNvPr id="21" name="Picture 20" descr="butterfly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8900" y="1270000"/>
            <a:ext cx="635000" cy="635000"/>
          </a:xfrm>
          <a:prstGeom prst="rect">
            <a:avLst/>
          </a:prstGeom>
        </p:spPr>
      </p:pic>
      <p:pic>
        <p:nvPicPr>
          <p:cNvPr id="22" name="Picture 21" descr="gem_he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8100" y="3683000"/>
            <a:ext cx="406400" cy="406400"/>
          </a:xfrm>
          <a:prstGeom prst="rect">
            <a:avLst/>
          </a:prstGeom>
        </p:spPr>
      </p:pic>
      <p:pic>
        <p:nvPicPr>
          <p:cNvPr id="23" name="Picture 22" descr="gem_marquise_ro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5100" y="4381500"/>
            <a:ext cx="342900" cy="342900"/>
          </a:xfrm>
          <a:prstGeom prst="rect">
            <a:avLst/>
          </a:prstGeom>
        </p:spPr>
      </p:pic>
      <p:pic>
        <p:nvPicPr>
          <p:cNvPr id="24" name="Picture 23" descr="gem_roun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200" y="5676900"/>
            <a:ext cx="279400" cy="279400"/>
          </a:xfrm>
          <a:prstGeom prst="rect">
            <a:avLst/>
          </a:prstGeom>
        </p:spPr>
      </p:pic>
      <p:pic>
        <p:nvPicPr>
          <p:cNvPr id="25" name="Picture 24" descr="pearl_st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0" y="1905000"/>
            <a:ext cx="1587500" cy="242794"/>
          </a:xfrm>
          <a:prstGeom prst="rect">
            <a:avLst/>
          </a:prstGeom>
        </p:spPr>
      </p:pic>
      <p:pic>
        <p:nvPicPr>
          <p:cNvPr id="26" name="Picture 25" descr="pearl_st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7500" y="1092200"/>
            <a:ext cx="1460500" cy="223371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588000" y="6110288"/>
            <a:ext cx="342900" cy="9525"/>
          </a:xfrm>
          <a:prstGeom prst="rect">
            <a:avLst/>
          </a:prstGeom>
          <a:solidFill>
            <a:srgbClr val="7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94400" y="6019800"/>
            <a:ext cx="2032000" cy="156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 spc="300">
                <a:solidFill>
                  <a:srgbClr val="7A6478"/>
                </a:solidFill>
                <a:latin typeface="Oswald"/>
              </a:rPr>
              <a:t>PORTFOLIO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100" y="1168400"/>
            <a:ext cx="10795000" cy="310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FF2E93"/>
                </a:solidFill>
                <a:latin typeface="Oswald"/>
              </a:rPr>
              <a:t>ABOUT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1542256"/>
            <a:ext cx="107950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 spc="600">
                <a:solidFill>
                  <a:srgbClr val="100A16"/>
                </a:solidFill>
                <a:latin typeface="Italiana"/>
              </a:rPr>
              <a:t>HI, I'M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224881"/>
            <a:ext cx="10795000" cy="15609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800" b="0" i="0">
                <a:solidFill>
                  <a:srgbClr val="FF2E93"/>
                </a:solidFill>
                <a:latin typeface="Great Vibes"/>
              </a:rPr>
              <a:t>Zahra.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3849291"/>
            <a:ext cx="2540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2500" y="3914378"/>
            <a:ext cx="381000" cy="9525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7000" y="3823891"/>
            <a:ext cx="3937000" cy="156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 spc="300">
                <a:solidFill>
                  <a:srgbClr val="FF2E93"/>
                </a:solidFill>
                <a:latin typeface="Oswald"/>
              </a:rPr>
              <a:t>CONTENT · CREATIVE ·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128691"/>
            <a:ext cx="3937000" cy="1938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850" b="0" i="0">
                <a:solidFill>
                  <a:srgbClr val="2A1F30"/>
                </a:solidFill>
                <a:latin typeface="Poppins"/>
              </a:rPr>
              <a:t>I work across content, creative, and communication — from developing visual ideas and social media content to supporting events, campaigns, and brand collaborations.</a:t>
            </a:r>
          </a:p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850" b="0" i="0">
                <a:solidFill>
                  <a:srgbClr val="2A1F30"/>
                </a:solidFill>
                <a:latin typeface="Poppins"/>
              </a:rPr>
              <a:t>I enjoy the hands-on side of creative work: preparing, creating, editing, organizing, and turning an idea into something ready to share.</a:t>
            </a:r>
          </a:p>
        </p:txBody>
      </p:sp>
      <p:sp>
        <p:nvSpPr>
          <p:cNvPr id="14" name="Round Same Side Corner Rectangle 13"/>
          <p:cNvSpPr/>
          <p:nvPr/>
        </p:nvSpPr>
        <p:spPr>
          <a:xfrm>
            <a:off x="5588000" y="1206500"/>
            <a:ext cx="3175000" cy="43815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F1EBF2"/>
          </a:solidFill>
          <a:ln w="381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drop portrait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0" y="1587500"/>
            <a:ext cx="2095500" cy="2095500"/>
          </a:xfrm>
          <a:prstGeom prst="ellipse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photo</a:t>
            </a:r>
          </a:p>
        </p:txBody>
      </p:sp>
      <p:sp>
        <p:nvSpPr>
          <p:cNvPr id="16" name="Hexagon 15"/>
          <p:cNvSpPr/>
          <p:nvPr/>
        </p:nvSpPr>
        <p:spPr>
          <a:xfrm>
            <a:off x="9207500" y="3924300"/>
            <a:ext cx="1968500" cy="1778000"/>
          </a:xfrm>
          <a:prstGeom prst="hexagon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photo</a:t>
            </a:r>
          </a:p>
        </p:txBody>
      </p:sp>
      <p:pic>
        <p:nvPicPr>
          <p:cNvPr id="17" name="Picture 16" descr="butterfly_p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0" y="3784600"/>
            <a:ext cx="762000" cy="762000"/>
          </a:xfrm>
          <a:prstGeom prst="rect">
            <a:avLst/>
          </a:prstGeom>
        </p:spPr>
      </p:pic>
      <p:pic>
        <p:nvPicPr>
          <p:cNvPr id="18" name="Picture 17" descr="gem_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4600" y="1117600"/>
            <a:ext cx="355600" cy="355600"/>
          </a:xfrm>
          <a:prstGeom prst="rect">
            <a:avLst/>
          </a:prstGeom>
        </p:spPr>
      </p:pic>
      <p:pic>
        <p:nvPicPr>
          <p:cNvPr id="19" name="Picture 18" descr="gem_round_r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6700" y="1308100"/>
            <a:ext cx="292100" cy="292100"/>
          </a:xfrm>
          <a:prstGeom prst="rect">
            <a:avLst/>
          </a:prstGeom>
        </p:spPr>
      </p:pic>
      <p:pic>
        <p:nvPicPr>
          <p:cNvPr id="20" name="Picture 19" descr="pearl_str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3708400"/>
            <a:ext cx="1460500" cy="2233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100" y="1168400"/>
            <a:ext cx="10795000" cy="310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FF2E93"/>
                </a:solidFill>
                <a:latin typeface="Oswald"/>
              </a:rPr>
              <a:t>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1542256"/>
            <a:ext cx="107950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 spc="600">
                <a:solidFill>
                  <a:srgbClr val="100A16"/>
                </a:solidFill>
                <a:latin typeface="Italiana"/>
              </a:rPr>
              <a:t>FROM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268696"/>
            <a:ext cx="10795000" cy="1423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200" b="0" i="0">
                <a:solidFill>
                  <a:srgbClr val="FF2E93"/>
                </a:solidFill>
                <a:latin typeface="Great Vibes"/>
              </a:rPr>
              <a:t>to publish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7100" y="3857784"/>
            <a:ext cx="1244600" cy="584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177800" dist="50800" dir="5400000" rotWithShape="0">
              <a:srgbClr val="C4568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7100" y="3857784"/>
            <a:ext cx="1244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50" b="0" i="0" spc="300">
                <a:solidFill>
                  <a:srgbClr val="100A16"/>
                </a:solidFill>
                <a:latin typeface="Oswald"/>
              </a:rPr>
              <a:t>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3667284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01</a:t>
            </a:r>
          </a:p>
        </p:txBody>
      </p:sp>
      <p:pic>
        <p:nvPicPr>
          <p:cNvPr id="13" name="Picture 12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4048284"/>
            <a:ext cx="190500" cy="190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425700" y="4137184"/>
            <a:ext cx="1244600" cy="584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177800" dist="50800" dir="5400000" rotWithShape="0">
              <a:srgbClr val="C4568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5700" y="4137184"/>
            <a:ext cx="1244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50" b="0" i="0" spc="300">
                <a:solidFill>
                  <a:srgbClr val="100A16"/>
                </a:solidFill>
                <a:latin typeface="Oswald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3800" y="3946684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02</a:t>
            </a:r>
          </a:p>
        </p:txBody>
      </p:sp>
      <p:pic>
        <p:nvPicPr>
          <p:cNvPr id="17" name="Picture 16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8400" y="4327684"/>
            <a:ext cx="190500" cy="1905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924300" y="3857784"/>
            <a:ext cx="1244600" cy="584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177800" dist="50800" dir="5400000" rotWithShape="0">
              <a:srgbClr val="C4568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24300" y="3857784"/>
            <a:ext cx="1244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50" b="0" i="0" spc="300">
                <a:solidFill>
                  <a:srgbClr val="100A16"/>
                </a:solidFill>
                <a:latin typeface="Oswald"/>
              </a:rPr>
              <a:t>PREPARE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2400" y="3667284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03</a:t>
            </a:r>
          </a:p>
        </p:txBody>
      </p:sp>
      <p:pic>
        <p:nvPicPr>
          <p:cNvPr id="21" name="Picture 20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000" y="4048284"/>
            <a:ext cx="190500" cy="1905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422900" y="4137184"/>
            <a:ext cx="1244600" cy="584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177800" dist="50800" dir="5400000" rotWithShape="0">
              <a:srgbClr val="C4568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22900" y="4137184"/>
            <a:ext cx="1244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50" b="0" i="0" spc="300">
                <a:solidFill>
                  <a:srgbClr val="100A16"/>
                </a:solidFill>
                <a:latin typeface="Oswald"/>
              </a:rPr>
              <a:t>PRODUCE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1000" y="3946684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04</a:t>
            </a:r>
          </a:p>
        </p:txBody>
      </p:sp>
      <p:pic>
        <p:nvPicPr>
          <p:cNvPr id="25" name="Picture 24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4327684"/>
            <a:ext cx="190500" cy="1905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921500" y="3857784"/>
            <a:ext cx="1244600" cy="584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177800" dist="50800" dir="5400000" rotWithShape="0">
              <a:srgbClr val="C4568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1500" y="3857784"/>
            <a:ext cx="1244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50" b="0" i="0" spc="300">
                <a:solidFill>
                  <a:srgbClr val="100A16"/>
                </a:solidFill>
                <a:latin typeface="Oswald"/>
              </a:rPr>
              <a:t>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9600" y="3667284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05</a:t>
            </a:r>
          </a:p>
        </p:txBody>
      </p:sp>
      <p:pic>
        <p:nvPicPr>
          <p:cNvPr id="29" name="Picture 28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200" y="4048284"/>
            <a:ext cx="190500" cy="1905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420100" y="4137184"/>
            <a:ext cx="1244600" cy="584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177800" dist="50800" dir="5400000" rotWithShape="0">
              <a:srgbClr val="C4568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0100" y="4137184"/>
            <a:ext cx="1244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50" b="0" i="0" spc="300">
                <a:solidFill>
                  <a:srgbClr val="100A16"/>
                </a:solidFill>
                <a:latin typeface="Oswald"/>
              </a:rPr>
              <a:t>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946684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06</a:t>
            </a:r>
          </a:p>
        </p:txBody>
      </p:sp>
      <p:pic>
        <p:nvPicPr>
          <p:cNvPr id="33" name="Picture 32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2800" y="4327684"/>
            <a:ext cx="190500" cy="1905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918700" y="3857784"/>
            <a:ext cx="1244600" cy="584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F2E93"/>
            </a:solidFill>
          </a:ln>
          <a:effectLst>
            <a:outerShdw blurRad="177800" dist="50800" dir="5400000" rotWithShape="0">
              <a:srgbClr val="C4568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8700" y="3857784"/>
            <a:ext cx="1244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50" b="0" i="0" spc="300">
                <a:solidFill>
                  <a:srgbClr val="100A16"/>
                </a:solidFill>
                <a:latin typeface="Oswald"/>
              </a:rPr>
              <a:t>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6800" y="3667284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" y="4861084"/>
            <a:ext cx="4191000" cy="1064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950" b="0" i="0">
                <a:solidFill>
                  <a:srgbClr val="2A1F30"/>
                </a:solidFill>
                <a:latin typeface="Poppins"/>
              </a:rPr>
              <a:t>Good content is not only about the final visual.</a:t>
            </a: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950" b="0" i="0">
                <a:solidFill>
                  <a:srgbClr val="2A1F30"/>
                </a:solidFill>
                <a:latin typeface="Poppins"/>
              </a:rPr>
              <a:t>It is also about the details behind it — preparation, consistency, timing, and making sure everything is ready before it goes live.</a:t>
            </a:r>
          </a:p>
        </p:txBody>
      </p:sp>
      <p:sp>
        <p:nvSpPr>
          <p:cNvPr id="38" name="Oval 37"/>
          <p:cNvSpPr/>
          <p:nvPr/>
        </p:nvSpPr>
        <p:spPr>
          <a:xfrm>
            <a:off x="5588000" y="4607084"/>
            <a:ext cx="1333500" cy="1333500"/>
          </a:xfrm>
          <a:prstGeom prst="ellipse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photo</a:t>
            </a:r>
          </a:p>
        </p:txBody>
      </p:sp>
      <p:sp>
        <p:nvSpPr>
          <p:cNvPr id="39" name="Round Same Side Corner Rectangle 38"/>
          <p:cNvSpPr/>
          <p:nvPr/>
        </p:nvSpPr>
        <p:spPr>
          <a:xfrm>
            <a:off x="7200900" y="4480084"/>
            <a:ext cx="1778000" cy="1524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F1EBF2"/>
          </a:solidFill>
          <a:ln w="381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photo</a:t>
            </a:r>
          </a:p>
        </p:txBody>
      </p:sp>
      <p:sp>
        <p:nvSpPr>
          <p:cNvPr id="40" name="Snip Diagonal Corner Rectangle 39"/>
          <p:cNvSpPr/>
          <p:nvPr/>
        </p:nvSpPr>
        <p:spPr>
          <a:xfrm rot="21360000">
            <a:off x="9245600" y="4632484"/>
            <a:ext cx="1524000" cy="1333500"/>
          </a:xfrm>
          <a:prstGeom prst="snip2DiagRect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photo</a:t>
            </a:r>
          </a:p>
        </p:txBody>
      </p:sp>
      <p:pic>
        <p:nvPicPr>
          <p:cNvPr id="41" name="Picture 40" descr="butterfly_r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6600" y="1346200"/>
            <a:ext cx="673100" cy="673100"/>
          </a:xfrm>
          <a:prstGeom prst="rect">
            <a:avLst/>
          </a:prstGeom>
        </p:spPr>
      </p:pic>
      <p:pic>
        <p:nvPicPr>
          <p:cNvPr id="42" name="Picture 41" descr="gem_he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000" y="1308100"/>
            <a:ext cx="355600" cy="355600"/>
          </a:xfrm>
          <a:prstGeom prst="rect">
            <a:avLst/>
          </a:prstGeom>
        </p:spPr>
      </p:pic>
      <p:pic>
        <p:nvPicPr>
          <p:cNvPr id="43" name="Picture 42" descr="pearl_str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1181100"/>
            <a:ext cx="1460500" cy="2233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100" y="1130300"/>
            <a:ext cx="10795000" cy="310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FF2E93"/>
                </a:solidFill>
                <a:latin typeface="Oswald"/>
              </a:rPr>
              <a:t>WHAT I WORK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1504156"/>
            <a:ext cx="107950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 spc="500">
                <a:solidFill>
                  <a:srgbClr val="100A16"/>
                </a:solidFill>
                <a:latin typeface="Italiana"/>
              </a:rPr>
              <a:t>CONTENT,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186781"/>
            <a:ext cx="10795000" cy="1195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200" b="0" i="0">
                <a:solidFill>
                  <a:srgbClr val="FF2E93"/>
                </a:solidFill>
                <a:latin typeface="Great Vibes"/>
              </a:rPr>
              <a:t>different forms.</a:t>
            </a:r>
          </a:p>
        </p:txBody>
      </p:sp>
      <p:sp>
        <p:nvSpPr>
          <p:cNvPr id="10" name="Oval 9"/>
          <p:cNvSpPr/>
          <p:nvPr/>
        </p:nvSpPr>
        <p:spPr>
          <a:xfrm>
            <a:off x="927100" y="3471466"/>
            <a:ext cx="1587500" cy="1054100"/>
          </a:xfrm>
          <a:prstGeom prst="ellipse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100" y="4652566"/>
            <a:ext cx="107950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spc="500">
                <a:solidFill>
                  <a:srgbClr val="FF2E93"/>
                </a:solidFill>
                <a:latin typeface="Oswald"/>
              </a:rPr>
              <a:t>SOCIAL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5070475"/>
            <a:ext cx="1333500" cy="8890"/>
          </a:xfrm>
          <a:prstGeom prst="rect">
            <a:avLst/>
          </a:prstGeom>
          <a:solidFill>
            <a:srgbClr val="E8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514667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Instagram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800" y="536892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559117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Promotional posts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581342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Campaign content</a:t>
            </a:r>
          </a:p>
        </p:txBody>
      </p:sp>
      <p:pic>
        <p:nvPicPr>
          <p:cNvPr id="17" name="Picture 16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8700" y="3331766"/>
            <a:ext cx="241300" cy="241300"/>
          </a:xfrm>
          <a:prstGeom prst="rect">
            <a:avLst/>
          </a:prstGeom>
        </p:spPr>
      </p:pic>
      <p:sp>
        <p:nvSpPr>
          <p:cNvPr id="18" name="Hexagon 17"/>
          <p:cNvSpPr/>
          <p:nvPr/>
        </p:nvSpPr>
        <p:spPr>
          <a:xfrm>
            <a:off x="3594100" y="3471466"/>
            <a:ext cx="1587500" cy="1054100"/>
          </a:xfrm>
          <a:prstGeom prst="hexagon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4100" y="4652566"/>
            <a:ext cx="107950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spc="500">
                <a:solidFill>
                  <a:srgbClr val="FF2E93"/>
                </a:solidFill>
                <a:latin typeface="Oswald"/>
              </a:rPr>
              <a:t>VISUAL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6800" y="5070475"/>
            <a:ext cx="1333500" cy="8890"/>
          </a:xfrm>
          <a:prstGeom prst="rect">
            <a:avLst/>
          </a:prstGeom>
          <a:solidFill>
            <a:srgbClr val="E8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6800" y="514667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Graphic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6800" y="536892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Layout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6800" y="559117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Visual 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6800" y="581342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Brand materials</a:t>
            </a:r>
          </a:p>
        </p:txBody>
      </p:sp>
      <p:pic>
        <p:nvPicPr>
          <p:cNvPr id="25" name="Picture 24" descr="gem_marqui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700" y="3331766"/>
            <a:ext cx="241300" cy="241300"/>
          </a:xfrm>
          <a:prstGeom prst="rect">
            <a:avLst/>
          </a:prstGeom>
        </p:spPr>
      </p:pic>
      <p:sp>
        <p:nvSpPr>
          <p:cNvPr id="26" name="Round Same Side Corner Rectangle 25"/>
          <p:cNvSpPr/>
          <p:nvPr/>
        </p:nvSpPr>
        <p:spPr>
          <a:xfrm>
            <a:off x="6261100" y="3471466"/>
            <a:ext cx="1587500" cy="10541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1100" y="4652566"/>
            <a:ext cx="107950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spc="500">
                <a:solidFill>
                  <a:srgbClr val="FF2E93"/>
                </a:solidFill>
                <a:latin typeface="Oswald"/>
              </a:rPr>
              <a:t>PRODUCTION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3800" y="5070475"/>
            <a:ext cx="1333500" cy="8890"/>
          </a:xfrm>
          <a:prstGeom prst="rect">
            <a:avLst/>
          </a:prstGeom>
          <a:solidFill>
            <a:srgbClr val="E8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3800" y="514667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Event documentation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536892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Content preparation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559117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Creative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581342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Production support</a:t>
            </a:r>
          </a:p>
        </p:txBody>
      </p:sp>
      <p:pic>
        <p:nvPicPr>
          <p:cNvPr id="33" name="Picture 32" descr="gem_he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2700" y="3331766"/>
            <a:ext cx="241300" cy="241300"/>
          </a:xfrm>
          <a:prstGeom prst="rect">
            <a:avLst/>
          </a:prstGeom>
        </p:spPr>
      </p:pic>
      <p:sp>
        <p:nvSpPr>
          <p:cNvPr id="34" name="Snip Diagonal Corner Rectangle 33"/>
          <p:cNvSpPr/>
          <p:nvPr/>
        </p:nvSpPr>
        <p:spPr>
          <a:xfrm>
            <a:off x="8928100" y="3471466"/>
            <a:ext cx="1587500" cy="1054100"/>
          </a:xfrm>
          <a:prstGeom prst="snip2DiagRect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8100" y="4652566"/>
            <a:ext cx="107950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spc="500">
                <a:solidFill>
                  <a:srgbClr val="FF2E93"/>
                </a:solidFill>
                <a:latin typeface="Oswald"/>
              </a:rPr>
              <a:t>EDITING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0800" y="5070475"/>
            <a:ext cx="1333500" cy="8890"/>
          </a:xfrm>
          <a:prstGeom prst="rect">
            <a:avLst/>
          </a:prstGeom>
          <a:solidFill>
            <a:srgbClr val="E8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40800" y="514667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Photo editing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0800" y="536892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Video editing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0800" y="559117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Short-form content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0800" y="5813425"/>
            <a:ext cx="2159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Final asset preparation</a:t>
            </a:r>
          </a:p>
        </p:txBody>
      </p:sp>
      <p:pic>
        <p:nvPicPr>
          <p:cNvPr id="41" name="Picture 40" descr="gem_round_ro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9700" y="3331766"/>
            <a:ext cx="241300" cy="241300"/>
          </a:xfrm>
          <a:prstGeom prst="rect">
            <a:avLst/>
          </a:prstGeom>
        </p:spPr>
      </p:pic>
      <p:pic>
        <p:nvPicPr>
          <p:cNvPr id="42" name="Picture 41" descr="butterfly_p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98200" y="1244600"/>
            <a:ext cx="685800" cy="685800"/>
          </a:xfrm>
          <a:prstGeom prst="rect">
            <a:avLst/>
          </a:prstGeom>
        </p:spPr>
      </p:pic>
      <p:pic>
        <p:nvPicPr>
          <p:cNvPr id="43" name="Picture 42" descr="pearl_st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0000" y="1092200"/>
            <a:ext cx="1460500" cy="2233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100" y="1155700"/>
            <a:ext cx="10795000" cy="310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FF2E93"/>
                </a:solidFill>
                <a:latin typeface="Oswald"/>
              </a:rPr>
              <a:t>SELECTED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1529556"/>
            <a:ext cx="4572000" cy="8324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 i="0" spc="400">
                <a:solidFill>
                  <a:srgbClr val="100A16"/>
                </a:solidFill>
                <a:latin typeface="Italiana"/>
              </a:rPr>
              <a:t>SAWALA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438241"/>
            <a:ext cx="4183360" cy="273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400">
                <a:solidFill>
                  <a:srgbClr val="FF2E93"/>
                </a:solidFill>
                <a:latin typeface="Oswald"/>
              </a:rPr>
              <a:t>WELLNESS COMMUNITY &amp; EVENT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813685"/>
            <a:ext cx="2159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2966085"/>
            <a:ext cx="3683000" cy="183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As a co-founder, I work across the creative side of Sawala Space — developing event concepts, creating promotional content, managing social media materials, communicating with brand partners, and supporting event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500" y="4928235"/>
            <a:ext cx="962008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100A16"/>
                </a:solidFill>
                <a:latin typeface="Oswald"/>
              </a:rPr>
              <a:t>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90708" y="4928235"/>
            <a:ext cx="954674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100A16"/>
                </a:solidFill>
                <a:latin typeface="Oswald"/>
              </a:rPr>
              <a:t>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21582" y="4928235"/>
            <a:ext cx="819327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100A16"/>
                </a:solidFill>
                <a:latin typeface="Oswald"/>
              </a:rPr>
              <a:t>SOCIAL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500" y="5296535"/>
            <a:ext cx="1073521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100A16"/>
                </a:solidFill>
                <a:latin typeface="Oswald"/>
              </a:rPr>
              <a:t>CAMPAIGN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2221" y="5296535"/>
            <a:ext cx="722265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100A16"/>
                </a:solidFill>
                <a:latin typeface="Oswald"/>
              </a:rPr>
              <a:t>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0686" y="5296535"/>
            <a:ext cx="1356834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100A16"/>
                </a:solidFill>
                <a:latin typeface="Oswald"/>
              </a:rPr>
              <a:t>PARTNERSHIP</a:t>
            </a:r>
          </a:p>
        </p:txBody>
      </p:sp>
      <p:sp>
        <p:nvSpPr>
          <p:cNvPr id="18" name="Round Same Side Corner Rectangle 17"/>
          <p:cNvSpPr/>
          <p:nvPr/>
        </p:nvSpPr>
        <p:spPr>
          <a:xfrm>
            <a:off x="5080000" y="1244600"/>
            <a:ext cx="2857500" cy="3937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F1EBF2"/>
          </a:solidFill>
          <a:ln w="381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event visual</a:t>
            </a:r>
          </a:p>
        </p:txBody>
      </p:sp>
      <p:sp>
        <p:nvSpPr>
          <p:cNvPr id="19" name="Oval 18"/>
          <p:cNvSpPr/>
          <p:nvPr/>
        </p:nvSpPr>
        <p:spPr>
          <a:xfrm>
            <a:off x="8255000" y="1308100"/>
            <a:ext cx="1651000" cy="1651000"/>
          </a:xfrm>
          <a:prstGeom prst="ellipse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promo content</a:t>
            </a:r>
          </a:p>
        </p:txBody>
      </p:sp>
      <p:sp>
        <p:nvSpPr>
          <p:cNvPr id="20" name="Snip Diagonal Corner Rectangle 19"/>
          <p:cNvSpPr/>
          <p:nvPr/>
        </p:nvSpPr>
        <p:spPr>
          <a:xfrm rot="240000">
            <a:off x="10121900" y="1549400"/>
            <a:ext cx="1333500" cy="1206500"/>
          </a:xfrm>
          <a:prstGeom prst="snip2DiagRect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social post</a:t>
            </a:r>
          </a:p>
        </p:txBody>
      </p:sp>
      <p:sp>
        <p:nvSpPr>
          <p:cNvPr id="21" name="Hexagon 20"/>
          <p:cNvSpPr/>
          <p:nvPr/>
        </p:nvSpPr>
        <p:spPr>
          <a:xfrm>
            <a:off x="8204200" y="3238500"/>
            <a:ext cx="1587500" cy="1460500"/>
          </a:xfrm>
          <a:prstGeom prst="hexagon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campaign material</a:t>
            </a:r>
          </a:p>
        </p:txBody>
      </p:sp>
      <p:sp>
        <p:nvSpPr>
          <p:cNvPr id="22" name="Rounded Rectangle 21"/>
          <p:cNvSpPr/>
          <p:nvPr/>
        </p:nvSpPr>
        <p:spPr>
          <a:xfrm rot="21360000">
            <a:off x="10058400" y="3149600"/>
            <a:ext cx="1397000" cy="1587500"/>
          </a:xfrm>
          <a:prstGeom prst="roundRect">
            <a:avLst>
              <a:gd name="adj" fmla="val 30000"/>
            </a:avLst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event 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0" y="5462588"/>
            <a:ext cx="342900" cy="9525"/>
          </a:xfrm>
          <a:prstGeom prst="rect">
            <a:avLst/>
          </a:prstGeom>
          <a:solidFill>
            <a:srgbClr val="7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5372100"/>
            <a:ext cx="2032000" cy="156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 spc="300">
                <a:solidFill>
                  <a:srgbClr val="7A6478"/>
                </a:solidFill>
                <a:latin typeface="Oswald"/>
              </a:rPr>
              <a:t>CONCEPT → CONTENT → EVENT</a:t>
            </a:r>
          </a:p>
        </p:txBody>
      </p:sp>
      <p:pic>
        <p:nvPicPr>
          <p:cNvPr id="25" name="Picture 24" descr="butterfly_ro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100" y="1054100"/>
            <a:ext cx="635000" cy="635000"/>
          </a:xfrm>
          <a:prstGeom prst="rect">
            <a:avLst/>
          </a:prstGeom>
        </p:spPr>
      </p:pic>
      <p:pic>
        <p:nvPicPr>
          <p:cNvPr id="26" name="Picture 25" descr="gem_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0" y="4356100"/>
            <a:ext cx="355600" cy="355600"/>
          </a:xfrm>
          <a:prstGeom prst="rect">
            <a:avLst/>
          </a:prstGeom>
        </p:spPr>
      </p:pic>
      <p:pic>
        <p:nvPicPr>
          <p:cNvPr id="27" name="Picture 26" descr="pearl_str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0" y="4965700"/>
            <a:ext cx="1524000" cy="2330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100" y="1117600"/>
            <a:ext cx="10795000" cy="310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FF2E93"/>
                </a:solidFill>
                <a:latin typeface="Oswald"/>
              </a:rPr>
              <a:t>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1491456"/>
            <a:ext cx="9525000" cy="1419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 i="0" spc="400">
                <a:solidFill>
                  <a:srgbClr val="100A16"/>
                </a:solidFill>
                <a:latin typeface="Italiana"/>
              </a:rPr>
              <a:t>MAKING CONTENT THAT HAS SOMEWHERE TO GO.</a:t>
            </a:r>
          </a:p>
        </p:txBody>
      </p:sp>
      <p:sp>
        <p:nvSpPr>
          <p:cNvPr id="9" name="Round Same Side Corner Rectangle 8"/>
          <p:cNvSpPr/>
          <p:nvPr/>
        </p:nvSpPr>
        <p:spPr>
          <a:xfrm rot="21420000">
            <a:off x="927100" y="3126962"/>
            <a:ext cx="1524000" cy="12446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0800" y="3114262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0800" y="330476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400">
                <a:solidFill>
                  <a:srgbClr val="FF2E93"/>
                </a:solidFill>
                <a:latin typeface="Oswald"/>
              </a:rPr>
              <a:t>EVENT PROMOTION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3500" y="3947065"/>
            <a:ext cx="1587500" cy="654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concept · design · copy · social content</a:t>
            </a:r>
          </a:p>
        </p:txBody>
      </p:sp>
      <p:sp>
        <p:nvSpPr>
          <p:cNvPr id="13" name="Oval 12"/>
          <p:cNvSpPr/>
          <p:nvPr/>
        </p:nvSpPr>
        <p:spPr>
          <a:xfrm>
            <a:off x="4394200" y="3126962"/>
            <a:ext cx="1524000" cy="1244600"/>
          </a:xfrm>
          <a:prstGeom prst="ellipse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7900" y="3114262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7900" y="330476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400">
                <a:solidFill>
                  <a:srgbClr val="FF2E93"/>
                </a:solidFill>
                <a:latin typeface="Oswald"/>
              </a:rPr>
              <a:t>CAMPAIGN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0600" y="3947065"/>
            <a:ext cx="1587500" cy="654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visual direction · promotional assets</a:t>
            </a:r>
          </a:p>
        </p:txBody>
      </p:sp>
      <p:sp>
        <p:nvSpPr>
          <p:cNvPr id="17" name="Snip Diagonal Corner Rectangle 16"/>
          <p:cNvSpPr/>
          <p:nvPr/>
        </p:nvSpPr>
        <p:spPr>
          <a:xfrm rot="180000">
            <a:off x="7861300" y="3126962"/>
            <a:ext cx="1524000" cy="1244600"/>
          </a:xfrm>
          <a:prstGeom prst="snip2DiagRect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0" y="3114262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0" y="330476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400">
                <a:solidFill>
                  <a:srgbClr val="FF2E93"/>
                </a:solidFill>
                <a:latin typeface="Oswald"/>
              </a:rPr>
              <a:t>SOCIAL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700" y="3947065"/>
            <a:ext cx="1587500" cy="949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design · copywriting · publishing preparation</a:t>
            </a:r>
          </a:p>
        </p:txBody>
      </p:sp>
      <p:sp>
        <p:nvSpPr>
          <p:cNvPr id="21" name="Hexagon 20"/>
          <p:cNvSpPr/>
          <p:nvPr/>
        </p:nvSpPr>
        <p:spPr>
          <a:xfrm rot="21420000">
            <a:off x="927100" y="4879562"/>
            <a:ext cx="1524000" cy="1244600"/>
          </a:xfrm>
          <a:prstGeom prst="hexagon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0800" y="4866862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0800" y="505736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400">
                <a:solidFill>
                  <a:srgbClr val="FF2E93"/>
                </a:solidFill>
                <a:latin typeface="Oswald"/>
              </a:rPr>
              <a:t>EVENT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3500" y="5699665"/>
            <a:ext cx="1587500" cy="654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photography · documentation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4200" y="4879562"/>
            <a:ext cx="1524000" cy="1244600"/>
          </a:xfrm>
          <a:prstGeom prst="roundRect">
            <a:avLst>
              <a:gd name="adj" fmla="val 30000"/>
            </a:avLst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7900" y="4866862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7900" y="505736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400">
                <a:solidFill>
                  <a:srgbClr val="FF2E93"/>
                </a:solidFill>
                <a:latin typeface="Oswald"/>
              </a:rPr>
              <a:t>ORGANISATIONAL COMMS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0600" y="5699665"/>
            <a:ext cx="1587500" cy="654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visual materials · social media</a:t>
            </a:r>
          </a:p>
        </p:txBody>
      </p:sp>
      <p:sp>
        <p:nvSpPr>
          <p:cNvPr id="29" name="Octagon 28"/>
          <p:cNvSpPr/>
          <p:nvPr/>
        </p:nvSpPr>
        <p:spPr>
          <a:xfrm rot="180000">
            <a:off x="7861300" y="4879562"/>
            <a:ext cx="1524000" cy="1244600"/>
          </a:xfrm>
          <a:prstGeom prst="octagon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0" y="4866862"/>
            <a:ext cx="10795000" cy="264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200">
                <a:solidFill>
                  <a:srgbClr val="FF8FC5"/>
                </a:solidFill>
                <a:latin typeface="Italiana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0" y="505736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400">
                <a:solidFill>
                  <a:srgbClr val="FF2E93"/>
                </a:solidFill>
                <a:latin typeface="Oswald"/>
              </a:rPr>
              <a:t>EVENT VISUALS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700" y="5699665"/>
            <a:ext cx="1587500" cy="949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2A1F30"/>
                </a:solidFill>
                <a:latin typeface="Poppins"/>
              </a:rPr>
              <a:t>promotional materials · coordination</a:t>
            </a:r>
          </a:p>
        </p:txBody>
      </p:sp>
      <p:pic>
        <p:nvPicPr>
          <p:cNvPr id="33" name="Picture 32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3190462"/>
            <a:ext cx="254000" cy="254000"/>
          </a:xfrm>
          <a:prstGeom prst="rect">
            <a:avLst/>
          </a:prstGeom>
        </p:spPr>
      </p:pic>
      <p:pic>
        <p:nvPicPr>
          <p:cNvPr id="34" name="Picture 33" descr="butterfly_p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0" y="5031962"/>
            <a:ext cx="6350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sp>
        <p:nvSpPr>
          <p:cNvPr id="7" name="Round Same Side Corner Rectangle 6"/>
          <p:cNvSpPr/>
          <p:nvPr/>
        </p:nvSpPr>
        <p:spPr>
          <a:xfrm>
            <a:off x="927100" y="1333500"/>
            <a:ext cx="2794000" cy="41275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F1EBF2"/>
          </a:solidFill>
          <a:ln w="381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event poster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0" y="1219200"/>
            <a:ext cx="10795000" cy="310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FF2E93"/>
                </a:solidFill>
                <a:latin typeface="Oswald"/>
              </a:rPr>
              <a:t>WELLNESS × SOCIAL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5600" y="1593056"/>
            <a:ext cx="6096000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0" i="0" spc="400">
                <a:solidFill>
                  <a:srgbClr val="100A16"/>
                </a:solidFill>
                <a:latin typeface="Italiana"/>
              </a:rPr>
              <a:t>STRETCH FOR STRAY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1000" y="2583656"/>
            <a:ext cx="1905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1000" y="2736056"/>
            <a:ext cx="4191000" cy="83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2A1F30"/>
                </a:solidFill>
                <a:latin typeface="Poppins"/>
              </a:rPr>
              <a:t>A wellness event combining movement, community, and support for animal welfare.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0" y="3686016"/>
            <a:ext cx="10795000" cy="310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FF2E93"/>
                </a:solidFill>
                <a:latin typeface="Oswald"/>
              </a:rPr>
              <a:t>MY CONTRIBUTION</a:t>
            </a:r>
          </a:p>
        </p:txBody>
      </p:sp>
      <p:pic>
        <p:nvPicPr>
          <p:cNvPr id="13" name="Picture 12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700" y="4148772"/>
            <a:ext cx="165100" cy="165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57700" y="4085272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Campaign concept</a:t>
            </a:r>
          </a:p>
        </p:txBody>
      </p:sp>
      <p:pic>
        <p:nvPicPr>
          <p:cNvPr id="15" name="Picture 14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4478972"/>
            <a:ext cx="165100" cy="165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57700" y="4415472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Promotional content</a:t>
            </a:r>
          </a:p>
        </p:txBody>
      </p:sp>
      <p:pic>
        <p:nvPicPr>
          <p:cNvPr id="17" name="Picture 16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700" y="4809172"/>
            <a:ext cx="165100" cy="165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57700" y="4745672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Social media communication</a:t>
            </a:r>
          </a:p>
        </p:txBody>
      </p:sp>
      <p:pic>
        <p:nvPicPr>
          <p:cNvPr id="19" name="Picture 18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39372"/>
            <a:ext cx="165100" cy="165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57700" y="5075872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Partnership communication</a:t>
            </a:r>
          </a:p>
        </p:txBody>
      </p:sp>
      <p:pic>
        <p:nvPicPr>
          <p:cNvPr id="21" name="Picture 20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700" y="5469572"/>
            <a:ext cx="165100" cy="165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57700" y="5406072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Event coordination</a:t>
            </a:r>
          </a:p>
        </p:txBody>
      </p:sp>
      <p:pic>
        <p:nvPicPr>
          <p:cNvPr id="23" name="Picture 22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799772"/>
            <a:ext cx="165100" cy="165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57700" y="5736272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Event-day support</a:t>
            </a:r>
          </a:p>
        </p:txBody>
      </p:sp>
      <p:sp>
        <p:nvSpPr>
          <p:cNvPr id="25" name="Oval 24"/>
          <p:cNvSpPr/>
          <p:nvPr/>
        </p:nvSpPr>
        <p:spPr>
          <a:xfrm>
            <a:off x="8191500" y="2984500"/>
            <a:ext cx="1524000" cy="1524000"/>
          </a:xfrm>
          <a:prstGeom prst="ellipse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social announcement</a:t>
            </a:r>
          </a:p>
        </p:txBody>
      </p:sp>
      <p:sp>
        <p:nvSpPr>
          <p:cNvPr id="26" name="Snip Diagonal Corner Rectangle 25"/>
          <p:cNvSpPr/>
          <p:nvPr/>
        </p:nvSpPr>
        <p:spPr>
          <a:xfrm rot="300000">
            <a:off x="9918700" y="3086100"/>
            <a:ext cx="1460500" cy="1333500"/>
          </a:xfrm>
          <a:prstGeom prst="snip2DiagRect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event documentation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5000" y="4787900"/>
            <a:ext cx="3111500" cy="952500"/>
          </a:xfrm>
          <a:prstGeom prst="roundRect">
            <a:avLst>
              <a:gd name="adj" fmla="val 30000"/>
            </a:avLst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campaign visual</a:t>
            </a:r>
          </a:p>
        </p:txBody>
      </p:sp>
      <p:pic>
        <p:nvPicPr>
          <p:cNvPr id="28" name="Picture 27" descr="butterfly_p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900" y="1308100"/>
            <a:ext cx="736600" cy="736600"/>
          </a:xfrm>
          <a:prstGeom prst="rect">
            <a:avLst/>
          </a:prstGeom>
        </p:spPr>
      </p:pic>
      <p:pic>
        <p:nvPicPr>
          <p:cNvPr id="29" name="Picture 28" descr="gem_he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0" y="1905000"/>
            <a:ext cx="368300" cy="368300"/>
          </a:xfrm>
          <a:prstGeom prst="rect">
            <a:avLst/>
          </a:prstGeom>
        </p:spPr>
      </p:pic>
      <p:pic>
        <p:nvPicPr>
          <p:cNvPr id="30" name="Picture 29" descr="pearl_str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0" y="2540000"/>
            <a:ext cx="1524000" cy="2330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100" y="1130300"/>
            <a:ext cx="10795000" cy="310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FF2E93"/>
                </a:solidFill>
                <a:latin typeface="Oswald"/>
              </a:rPr>
              <a:t>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1504156"/>
            <a:ext cx="6858000" cy="744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 spc="400">
                <a:solidFill>
                  <a:srgbClr val="100A16"/>
                </a:solidFill>
                <a:latin typeface="Italiana"/>
              </a:rPr>
              <a:t>BEHIND THE FINAL POST.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7100" y="2401411"/>
            <a:ext cx="917411" cy="254000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FFFFFF"/>
                </a:solidFill>
                <a:latin typeface="Oswald"/>
              </a:rPr>
              <a:t>PREPARE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8011" y="2401411"/>
            <a:ext cx="800721" cy="254000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FFFFFF"/>
                </a:solidFill>
                <a:latin typeface="Oswald"/>
              </a:rPr>
              <a:t>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2232" y="2401411"/>
            <a:ext cx="563675" cy="254000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FFFFFF"/>
                </a:solidFill>
                <a:latin typeface="Oswald"/>
              </a:rPr>
              <a:t>EDIT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9407" y="2401411"/>
            <a:ext cx="771279" cy="254000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FFFFFF"/>
                </a:solidFill>
                <a:latin typeface="Oswald"/>
              </a:rPr>
              <a:t>REFINE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4186" y="2401411"/>
            <a:ext cx="940814" cy="254000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0" spc="300">
                <a:solidFill>
                  <a:srgbClr val="FFFFFF"/>
                </a:solidFill>
                <a:latin typeface="Oswald"/>
              </a:rPr>
              <a:t>FINALIZE</a:t>
            </a:r>
          </a:p>
        </p:txBody>
      </p:sp>
      <p:sp>
        <p:nvSpPr>
          <p:cNvPr id="14" name="Snip Diagonal Corner Rectangle 13"/>
          <p:cNvSpPr/>
          <p:nvPr/>
        </p:nvSpPr>
        <p:spPr>
          <a:xfrm rot="21420000">
            <a:off x="927100" y="2820511"/>
            <a:ext cx="2387600" cy="1181100"/>
          </a:xfrm>
          <a:prstGeom prst="snip2DiagRect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content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065111"/>
            <a:ext cx="10795000" cy="255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400">
                <a:solidFill>
                  <a:srgbClr val="FF2E93"/>
                </a:solidFill>
                <a:latin typeface="Oswald"/>
              </a:rPr>
              <a:t>PREPARE</a:t>
            </a:r>
          </a:p>
        </p:txBody>
      </p:sp>
      <p:sp>
        <p:nvSpPr>
          <p:cNvPr id="16" name="Oval 15"/>
          <p:cNvSpPr/>
          <p:nvPr/>
        </p:nvSpPr>
        <p:spPr>
          <a:xfrm rot="120000">
            <a:off x="3619500" y="2820511"/>
            <a:ext cx="2387600" cy="1181100"/>
          </a:xfrm>
          <a:prstGeom prst="ellipse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visual 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2200" y="4065111"/>
            <a:ext cx="10795000" cy="255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400">
                <a:solidFill>
                  <a:srgbClr val="FF2E93"/>
                </a:solidFill>
                <a:latin typeface="Oswald"/>
              </a:rPr>
              <a:t>CREATE</a:t>
            </a:r>
          </a:p>
        </p:txBody>
      </p:sp>
      <p:sp>
        <p:nvSpPr>
          <p:cNvPr id="18" name="Rounded Rectangle 17"/>
          <p:cNvSpPr/>
          <p:nvPr/>
        </p:nvSpPr>
        <p:spPr>
          <a:xfrm rot="21480000">
            <a:off x="6311900" y="2820511"/>
            <a:ext cx="2387600" cy="1181100"/>
          </a:xfrm>
          <a:prstGeom prst="roundRect">
            <a:avLst>
              <a:gd name="adj" fmla="val 30000"/>
            </a:avLst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design versions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4065111"/>
            <a:ext cx="10795000" cy="255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400">
                <a:solidFill>
                  <a:srgbClr val="FF2E93"/>
                </a:solidFill>
                <a:latin typeface="Oswald"/>
              </a:rPr>
              <a:t>REFINE</a:t>
            </a:r>
          </a:p>
        </p:txBody>
      </p:sp>
      <p:sp>
        <p:nvSpPr>
          <p:cNvPr id="20" name="Hexagon 19"/>
          <p:cNvSpPr/>
          <p:nvPr/>
        </p:nvSpPr>
        <p:spPr>
          <a:xfrm rot="180000">
            <a:off x="9004300" y="2820511"/>
            <a:ext cx="2387600" cy="1181100"/>
          </a:xfrm>
          <a:prstGeom prst="hexagon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photography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0" y="4065111"/>
            <a:ext cx="10795000" cy="255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400">
                <a:solidFill>
                  <a:srgbClr val="FF2E93"/>
                </a:solidFill>
                <a:latin typeface="Oswald"/>
              </a:rPr>
              <a:t>CREATE</a:t>
            </a:r>
          </a:p>
        </p:txBody>
      </p:sp>
      <p:sp>
        <p:nvSpPr>
          <p:cNvPr id="22" name="Round Same Side Corner Rectangle 21"/>
          <p:cNvSpPr/>
          <p:nvPr/>
        </p:nvSpPr>
        <p:spPr>
          <a:xfrm rot="21420000">
            <a:off x="927100" y="4458811"/>
            <a:ext cx="2387600" cy="11811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editing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800" y="5703411"/>
            <a:ext cx="10795000" cy="255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400">
                <a:solidFill>
                  <a:srgbClr val="FF2E93"/>
                </a:solidFill>
                <a:latin typeface="Oswald"/>
              </a:rPr>
              <a:t>EDIT</a:t>
            </a:r>
          </a:p>
        </p:txBody>
      </p:sp>
      <p:sp>
        <p:nvSpPr>
          <p:cNvPr id="24" name="Snip Single Corner Rectangle 23"/>
          <p:cNvSpPr/>
          <p:nvPr/>
        </p:nvSpPr>
        <p:spPr>
          <a:xfrm rot="120000">
            <a:off x="3619500" y="4458811"/>
            <a:ext cx="2387600" cy="1181100"/>
          </a:xfrm>
          <a:prstGeom prst="snip1Rect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final 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2200" y="5703411"/>
            <a:ext cx="10795000" cy="255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400">
                <a:solidFill>
                  <a:srgbClr val="FF2E93"/>
                </a:solidFill>
                <a:latin typeface="Oswald"/>
              </a:rPr>
              <a:t>FINALIZE</a:t>
            </a:r>
          </a:p>
        </p:txBody>
      </p:sp>
      <p:sp>
        <p:nvSpPr>
          <p:cNvPr id="26" name="Octagon 25"/>
          <p:cNvSpPr/>
          <p:nvPr/>
        </p:nvSpPr>
        <p:spPr>
          <a:xfrm rot="21480000">
            <a:off x="6311900" y="4458811"/>
            <a:ext cx="2387600" cy="1181100"/>
          </a:xfrm>
          <a:prstGeom prst="octagon">
            <a:avLst/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behind the scenes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600" y="5703411"/>
            <a:ext cx="10795000" cy="255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400">
                <a:solidFill>
                  <a:srgbClr val="FF2E93"/>
                </a:solidFill>
                <a:latin typeface="Oswald"/>
              </a:rPr>
              <a:t>PREPARE</a:t>
            </a:r>
          </a:p>
        </p:txBody>
      </p:sp>
      <p:sp>
        <p:nvSpPr>
          <p:cNvPr id="28" name="Rounded Rectangle 27"/>
          <p:cNvSpPr/>
          <p:nvPr/>
        </p:nvSpPr>
        <p:spPr>
          <a:xfrm rot="180000">
            <a:off x="9004300" y="4458811"/>
            <a:ext cx="2387600" cy="1181100"/>
          </a:xfrm>
          <a:prstGeom prst="roundRect">
            <a:avLst>
              <a:gd name="adj" fmla="val 30000"/>
            </a:avLst>
          </a:prstGeom>
          <a:solidFill>
            <a:srgbClr val="F1EBF2"/>
          </a:solidFill>
          <a:ln w="2794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event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7000" y="5703411"/>
            <a:ext cx="10795000" cy="255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400">
                <a:solidFill>
                  <a:srgbClr val="FF2E93"/>
                </a:solidFill>
                <a:latin typeface="Oswald"/>
              </a:rPr>
              <a:t>CREATE</a:t>
            </a:r>
          </a:p>
        </p:txBody>
      </p:sp>
      <p:pic>
        <p:nvPicPr>
          <p:cNvPr id="30" name="Picture 29" descr="gem_marqui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200" y="2566511"/>
            <a:ext cx="266700" cy="266700"/>
          </a:xfrm>
          <a:prstGeom prst="rect">
            <a:avLst/>
          </a:prstGeom>
        </p:spPr>
      </p:pic>
      <p:pic>
        <p:nvPicPr>
          <p:cNvPr id="31" name="Picture 30" descr="butterfly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7600" y="5727700"/>
            <a:ext cx="5842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100" y="1168400"/>
            <a:ext cx="10795000" cy="310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FF2E93"/>
                </a:solidFill>
                <a:latin typeface="Oswald"/>
              </a:rPr>
              <a:t>TOOLS +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" y="1542256"/>
            <a:ext cx="107950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 spc="600">
                <a:solidFill>
                  <a:srgbClr val="100A16"/>
                </a:solidFill>
                <a:latin typeface="Italiana"/>
              </a:rPr>
              <a:t>THE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268696"/>
            <a:ext cx="10795000" cy="1332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0" i="0">
                <a:solidFill>
                  <a:srgbClr val="FF2E93"/>
                </a:solidFill>
                <a:latin typeface="Great Vibes"/>
              </a:rPr>
              <a:t>i work with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100" y="3753802"/>
            <a:ext cx="107950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spc="600">
                <a:solidFill>
                  <a:srgbClr val="FF2E93"/>
                </a:solidFill>
                <a:latin typeface="Oswald"/>
              </a:rPr>
              <a:t>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9800" y="4197112"/>
            <a:ext cx="1841500" cy="8890"/>
          </a:xfrm>
          <a:prstGeom prst="rect">
            <a:avLst/>
          </a:prstGeom>
          <a:solidFill>
            <a:srgbClr val="E8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7100" y="4336812"/>
            <a:ext cx="2540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4432062"/>
            <a:ext cx="165100" cy="165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400" y="4336812"/>
            <a:ext cx="203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Canva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100" y="4768612"/>
            <a:ext cx="2540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4863862"/>
            <a:ext cx="165100" cy="165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95400" y="4768612"/>
            <a:ext cx="203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Adobe Illustrator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100" y="5200412"/>
            <a:ext cx="2540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5295662"/>
            <a:ext cx="165100" cy="165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95400" y="5200412"/>
            <a:ext cx="203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Adobe Photoshop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3753802"/>
            <a:ext cx="107950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spc="600">
                <a:solidFill>
                  <a:srgbClr val="FF2E93"/>
                </a:solidFill>
                <a:latin typeface="Oswald"/>
              </a:rPr>
              <a:t>VIDEO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11600" y="4197112"/>
            <a:ext cx="1841500" cy="8890"/>
          </a:xfrm>
          <a:prstGeom prst="rect">
            <a:avLst/>
          </a:prstGeom>
          <a:solidFill>
            <a:srgbClr val="E8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98900" y="4336812"/>
            <a:ext cx="2540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0" y="4432062"/>
            <a:ext cx="165100" cy="1651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267200" y="4336812"/>
            <a:ext cx="203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CapCut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0700" y="3753802"/>
            <a:ext cx="107950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spc="600">
                <a:solidFill>
                  <a:srgbClr val="FF2E93"/>
                </a:solidFill>
                <a:latin typeface="Oswald"/>
              </a:rPr>
              <a:t>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83400" y="4197112"/>
            <a:ext cx="1841500" cy="8890"/>
          </a:xfrm>
          <a:prstGeom prst="rect">
            <a:avLst/>
          </a:prstGeom>
          <a:solidFill>
            <a:srgbClr val="E8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70700" y="4336812"/>
            <a:ext cx="2540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gem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4432062"/>
            <a:ext cx="165100" cy="1651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39000" y="4336812"/>
            <a:ext cx="203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Google Workspace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70700" y="4768612"/>
            <a:ext cx="2540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FF8F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2" name="Picture 31" descr="gem_round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4863862"/>
            <a:ext cx="165100" cy="1651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39000" y="4768612"/>
            <a:ext cx="2032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2A1F30"/>
                </a:solidFill>
                <a:latin typeface="Poppins"/>
              </a:rPr>
              <a:t>Microsoft Office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" y="5537200"/>
            <a:ext cx="7493000" cy="654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1">
                <a:solidFill>
                  <a:srgbClr val="7A6478"/>
                </a:solidFill>
                <a:latin typeface="Poppins"/>
              </a:rPr>
              <a:t>I'm comfortable learning new digital tools and adapting my workflow depending on the content, platform, and project.</a:t>
            </a:r>
          </a:p>
        </p:txBody>
      </p:sp>
      <p:sp>
        <p:nvSpPr>
          <p:cNvPr id="35" name="Round Same Side Corner Rectangle 34"/>
          <p:cNvSpPr/>
          <p:nvPr/>
        </p:nvSpPr>
        <p:spPr>
          <a:xfrm>
            <a:off x="9944100" y="3880802"/>
            <a:ext cx="1460500" cy="2032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F1EBF2"/>
          </a:solidFill>
          <a:ln w="381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A08FA8"/>
                </a:solidFill>
                <a:latin typeface="Poppins"/>
              </a:rPr>
              <a:t>photo</a:t>
            </a:r>
          </a:p>
        </p:txBody>
      </p:sp>
      <p:pic>
        <p:nvPicPr>
          <p:cNvPr id="36" name="Picture 35" descr="butterfly_p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1500" y="1270000"/>
            <a:ext cx="736600" cy="736600"/>
          </a:xfrm>
          <a:prstGeom prst="rect">
            <a:avLst/>
          </a:prstGeom>
        </p:spPr>
      </p:pic>
      <p:pic>
        <p:nvPicPr>
          <p:cNvPr id="37" name="Picture 36" descr="pearl_str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0" y="5308600"/>
            <a:ext cx="1460500" cy="2233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DDEE"/>
              </a:gs>
              <a:gs pos="100000">
                <a:srgbClr val="FFF4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leopar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4" name="Picture 3" descr="lace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0400"/>
            <a:ext cx="12192000" cy="317500"/>
          </a:xfrm>
          <a:prstGeom prst="rect">
            <a:avLst/>
          </a:prstGeom>
        </p:spPr>
      </p:pic>
      <p:pic>
        <p:nvPicPr>
          <p:cNvPr id="5" name="Picture 4" descr="leopard_ba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6500"/>
            <a:ext cx="12192000" cy="711200"/>
          </a:xfrm>
          <a:prstGeom prst="rect">
            <a:avLst/>
          </a:prstGeom>
        </p:spPr>
      </p:pic>
      <p:pic>
        <p:nvPicPr>
          <p:cNvPr id="6" name="Picture 5" descr="lace_band_f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07100"/>
            <a:ext cx="12192000" cy="317500"/>
          </a:xfrm>
          <a:prstGeom prst="rect">
            <a:avLst/>
          </a:prstGeom>
        </p:spPr>
      </p:pic>
      <p:pic>
        <p:nvPicPr>
          <p:cNvPr id="7" name="Picture 6" descr="gem_heart_pav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200" y="1181100"/>
            <a:ext cx="1143000" cy="10492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2514600"/>
            <a:ext cx="121920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0" i="0" spc="600">
                <a:solidFill>
                  <a:srgbClr val="100A16"/>
                </a:solidFill>
                <a:latin typeface="Italiana"/>
              </a:rPr>
              <a:t>LET'S MAKE SOMETHING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253740"/>
            <a:ext cx="12192000" cy="1387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6000" b="0" i="0">
                <a:solidFill>
                  <a:srgbClr val="FF2E93"/>
                </a:solidFill>
                <a:latin typeface="Great Vibes"/>
              </a:rPr>
              <a:t>worth sharing.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0" y="4742815"/>
            <a:ext cx="1143000" cy="12700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4895215"/>
            <a:ext cx="12192000" cy="481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0" i="0" spc="800">
                <a:solidFill>
                  <a:srgbClr val="100A16"/>
                </a:solidFill>
                <a:latin typeface="Italiana"/>
              </a:rPr>
              <a:t>ZAHRA LEVINA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415280"/>
            <a:ext cx="12192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 spc="400">
                <a:solidFill>
                  <a:srgbClr val="FF2E93"/>
                </a:solidFill>
                <a:latin typeface="Oswald"/>
              </a:rPr>
              <a:t>CONTENT PRODUCTION  ·  CREATIVE · SOCIAL MEDIA · VISUAL COMMUNICATION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7000" y="5868908"/>
            <a:ext cx="2006600" cy="55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FF8FC5"/>
            </a:solidFill>
          </a:ln>
          <a:effectLst>
            <a:outerShdw blurRad="177800" dist="50800" dir="5400000" rotWithShape="0">
              <a:srgbClr val="C4568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7000" y="5983208"/>
            <a:ext cx="20066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 spc="400">
                <a:solidFill>
                  <a:srgbClr val="FF2E93"/>
                </a:solidFill>
                <a:latin typeface="Oswald"/>
              </a:rPr>
              <a:t>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0" y="6173708"/>
            <a:ext cx="20066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Poppins"/>
              </a:rPr>
              <a:t>+62 8xx-xxxx-xxxx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4600" y="5868908"/>
            <a:ext cx="2006600" cy="55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FF8FC5"/>
            </a:solidFill>
          </a:ln>
          <a:effectLst>
            <a:outerShdw blurRad="177800" dist="50800" dir="5400000" rotWithShape="0">
              <a:srgbClr val="C4568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4600" y="5983208"/>
            <a:ext cx="20066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 spc="400">
                <a:solidFill>
                  <a:srgbClr val="FF2E93"/>
                </a:solidFill>
                <a:latin typeface="Oswald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4600" y="6173708"/>
            <a:ext cx="20066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Poppins"/>
              </a:rPr>
              <a:t>hello@email.com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2200" y="5868908"/>
            <a:ext cx="2006600" cy="55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FF8FC5"/>
            </a:solidFill>
          </a:ln>
          <a:effectLst>
            <a:outerShdw blurRad="177800" dist="50800" dir="5400000" rotWithShape="0">
              <a:srgbClr val="C4568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2200" y="5983208"/>
            <a:ext cx="20066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 spc="400">
                <a:solidFill>
                  <a:srgbClr val="FF2E93"/>
                </a:solidFill>
                <a:latin typeface="Oswald"/>
              </a:rPr>
              <a:t>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2200" y="6173708"/>
            <a:ext cx="20066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Poppins"/>
              </a:rPr>
              <a:t>linkedin.com/in/username</a:t>
            </a:r>
          </a:p>
        </p:txBody>
      </p:sp>
      <p:pic>
        <p:nvPicPr>
          <p:cNvPr id="22" name="Picture 21" descr="butterfly_p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2984500"/>
            <a:ext cx="749300" cy="749300"/>
          </a:xfrm>
          <a:prstGeom prst="rect">
            <a:avLst/>
          </a:prstGeom>
        </p:spPr>
      </p:pic>
      <p:pic>
        <p:nvPicPr>
          <p:cNvPr id="23" name="Picture 22" descr="butterfly_r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7600" y="2984500"/>
            <a:ext cx="622300" cy="622300"/>
          </a:xfrm>
          <a:prstGeom prst="rect">
            <a:avLst/>
          </a:prstGeom>
        </p:spPr>
      </p:pic>
      <p:pic>
        <p:nvPicPr>
          <p:cNvPr id="24" name="Picture 23" descr="gem_marqui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1500" y="1435100"/>
            <a:ext cx="317500" cy="317500"/>
          </a:xfrm>
          <a:prstGeom prst="rect">
            <a:avLst/>
          </a:prstGeom>
        </p:spPr>
      </p:pic>
      <p:pic>
        <p:nvPicPr>
          <p:cNvPr id="25" name="Picture 24" descr="gem_round_ro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2400" y="4330700"/>
            <a:ext cx="266700" cy="266700"/>
          </a:xfrm>
          <a:prstGeom prst="rect">
            <a:avLst/>
          </a:prstGeom>
        </p:spPr>
      </p:pic>
      <p:pic>
        <p:nvPicPr>
          <p:cNvPr id="26" name="Picture 25" descr="pearl_st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3200" y="1562100"/>
            <a:ext cx="1524000" cy="233082"/>
          </a:xfrm>
          <a:prstGeom prst="rect">
            <a:avLst/>
          </a:prstGeom>
        </p:spPr>
      </p:pic>
      <p:pic>
        <p:nvPicPr>
          <p:cNvPr id="27" name="Picture 26" descr="pearl_str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4394200"/>
            <a:ext cx="1524000" cy="2330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