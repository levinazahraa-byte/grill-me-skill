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937000"/>
            <a:ext cx="4953000" cy="3556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17000" y="-1016000"/>
            <a:ext cx="4445000" cy="33020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698500"/>
            <a:ext cx="9906000" cy="5143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58800" dist="190500" dir="5400000" rotWithShape="0">
              <a:srgbClr val="24405E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5700" y="711200"/>
            <a:ext cx="9880600" cy="3683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95400" y="831850"/>
            <a:ext cx="101600" cy="1016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0500" y="831850"/>
            <a:ext cx="101600" cy="1016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25600" y="83185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17700" y="787400"/>
            <a:ext cx="83566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17700" y="787400"/>
            <a:ext cx="8356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www.zahralevina.com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2900" y="1371600"/>
            <a:ext cx="10795000" cy="328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 spc="500">
                <a:solidFill>
                  <a:srgbClr val="8B93A1"/>
                </a:solidFill>
                <a:latin typeface="Space Mono"/>
              </a:rPr>
              <a:t>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74800" y="2140953"/>
            <a:ext cx="2916039" cy="473903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12900" y="1776412"/>
            <a:ext cx="3937000" cy="11391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200" b="0" i="0">
                <a:solidFill>
                  <a:srgbClr val="0D0D10"/>
                </a:solidFill>
                <a:latin typeface="Archivo Black"/>
              </a:rPr>
              <a:t>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2900" y="2915602"/>
            <a:ext cx="4220666" cy="10844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950" b="0" i="0">
                <a:solidFill>
                  <a:srgbClr val="0D0D10"/>
                </a:solidFill>
                <a:latin typeface="Archivo Black"/>
              </a:rPr>
              <a:t>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2900" y="4000024"/>
            <a:ext cx="10795000" cy="1139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200" b="0" i="0">
                <a:solidFill>
                  <a:srgbClr val="0D0D10"/>
                </a:solidFill>
                <a:latin typeface="Archivo Black"/>
              </a:rPr>
              <a:t>portfolio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12900" y="5278914"/>
            <a:ext cx="952500" cy="38100"/>
          </a:xfrm>
          <a:prstGeom prst="rect">
            <a:avLst/>
          </a:prstGeom>
          <a:solidFill>
            <a:srgbClr val="0D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12900" y="5431314"/>
            <a:ext cx="10795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0D0D10"/>
                </a:solidFill>
                <a:latin typeface="Archivo Black"/>
              </a:rPr>
              <a:t>Zahra Levina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5600" y="5932964"/>
            <a:ext cx="3429000" cy="713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050" b="0" i="0">
                <a:solidFill>
                  <a:srgbClr val="8B93A1"/>
                </a:solidFill>
                <a:latin typeface="Space Mono"/>
              </a:rPr>
              <a:t>content production · social media · visual storytelling</a:t>
            </a:r>
          </a:p>
        </p:txBody>
      </p:sp>
      <p:sp>
        <p:nvSpPr>
          <p:cNvPr id="20" name="Round Same Side Corner Rectangle 19"/>
          <p:cNvSpPr/>
          <p:nvPr/>
        </p:nvSpPr>
        <p:spPr>
          <a:xfrm>
            <a:off x="6477000" y="1422400"/>
            <a:ext cx="2794000" cy="3556000"/>
          </a:xfrm>
          <a:prstGeom prst="round2SameRect">
            <a:avLst>
              <a:gd name="adj1" fmla="val 5000"/>
              <a:gd name="adj2" fmla="val 0"/>
            </a:avLst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drop portrait</a:t>
            </a:r>
          </a:p>
        </p:txBody>
      </p:sp>
      <p:sp>
        <p:nvSpPr>
          <p:cNvPr id="21" name="Rounded Rectangle 20"/>
          <p:cNvSpPr/>
          <p:nvPr/>
        </p:nvSpPr>
        <p:spPr>
          <a:xfrm rot="360000">
            <a:off x="8636000" y="3492500"/>
            <a:ext cx="1651000" cy="1524000"/>
          </a:xfrm>
          <a:prstGeom prst="roundRect">
            <a:avLst>
              <a:gd name="adj" fmla="val 5000"/>
            </a:avLst>
          </a:prstGeom>
          <a:solidFill>
            <a:srgbClr val="FFD3E4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photo</a:t>
            </a:r>
          </a:p>
        </p:txBody>
      </p:sp>
      <p:sp>
        <p:nvSpPr>
          <p:cNvPr id="22" name="Oval 21"/>
          <p:cNvSpPr/>
          <p:nvPr/>
        </p:nvSpPr>
        <p:spPr>
          <a:xfrm>
            <a:off x="5842000" y="3810000"/>
            <a:ext cx="1270000" cy="1270000"/>
          </a:xfrm>
          <a:prstGeom prst="ellipse">
            <a:avLst/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photo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4699000"/>
            <a:ext cx="533400" cy="127000"/>
          </a:xfrm>
          <a:prstGeom prst="rect">
            <a:avLst/>
          </a:prstGeom>
          <a:solidFill>
            <a:srgbClr val="FF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600" y="4813300"/>
            <a:ext cx="1270000" cy="749300"/>
          </a:xfrm>
          <a:prstGeom prst="rect">
            <a:avLst/>
          </a:prstGeom>
          <a:solidFill>
            <a:srgbClr val="FF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200" y="4813300"/>
            <a:ext cx="1066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0D0D10"/>
                </a:solidFill>
                <a:latin typeface="Space Mono"/>
              </a:rPr>
              <a:t>editing.jpg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33100" y="1587500"/>
            <a:ext cx="533400" cy="127000"/>
          </a:xfrm>
          <a:prstGeom prst="rect">
            <a:avLst/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33100" y="1701800"/>
            <a:ext cx="1270000" cy="762000"/>
          </a:xfrm>
          <a:prstGeom prst="rect">
            <a:avLst/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34700" y="1701800"/>
            <a:ext cx="1066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0D0D10"/>
                </a:solidFill>
                <a:latin typeface="Space Mono"/>
              </a:rPr>
              <a:t>shoot.png</a:t>
            </a:r>
          </a:p>
        </p:txBody>
      </p:sp>
      <p:sp>
        <p:nvSpPr>
          <p:cNvPr id="29" name="Rectangle 28"/>
          <p:cNvSpPr/>
          <p:nvPr/>
        </p:nvSpPr>
        <p:spPr>
          <a:xfrm rot="180000">
            <a:off x="10541000" y="4064000"/>
            <a:ext cx="1460500" cy="952500"/>
          </a:xfrm>
          <a:prstGeom prst="rect">
            <a:avLst/>
          </a:prstGeom>
          <a:solidFill>
            <a:srgbClr val="FFE45C"/>
          </a:solidFill>
          <a:ln>
            <a:noFill/>
          </a:ln>
          <a:effectLst>
            <a:outerShdw blurRad="177800" dist="63500" dir="5400000" rotWithShape="0">
              <a:srgbClr val="24405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55300" y="4152900"/>
            <a:ext cx="1231900" cy="77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0D0D10"/>
                </a:solidFill>
                <a:latin typeface="Space Mono"/>
              </a:rPr>
              <a:t>prep → shoot →
edit → publish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5000" y="6261100"/>
            <a:ext cx="3302000" cy="4826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>
            <a:outerShdw blurRad="330200" dist="101600" dir="5400000" rotWithShape="0">
              <a:srgbClr val="24405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10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118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26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34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42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150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937000"/>
            <a:ext cx="4953000" cy="3556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17000" y="-1016000"/>
            <a:ext cx="4445000" cy="33020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2500" y="762000"/>
            <a:ext cx="10287000" cy="5143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58800" dist="190500" dir="5400000" rotWithShape="0">
              <a:srgbClr val="24405E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5200" y="774700"/>
            <a:ext cx="10261600" cy="3683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4900" y="895350"/>
            <a:ext cx="101600" cy="1016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70000" y="895350"/>
            <a:ext cx="101600" cy="1016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35100" y="89535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27200" y="850900"/>
            <a:ext cx="87376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27200" y="850900"/>
            <a:ext cx="8737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www.zahralevina.com/about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7000" y="1435100"/>
            <a:ext cx="10795000" cy="744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 i="0">
                <a:solidFill>
                  <a:srgbClr val="8B93A1"/>
                </a:solidFill>
                <a:latin typeface="Archivo Black"/>
              </a:rPr>
              <a:t>hi! i'm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58900" y="2568575"/>
            <a:ext cx="2254945" cy="455676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7000" y="2218055"/>
            <a:ext cx="3810000" cy="1095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000" b="0" i="0">
                <a:solidFill>
                  <a:srgbClr val="0D0D10"/>
                </a:solidFill>
                <a:latin typeface="Archivo Black"/>
              </a:rPr>
              <a:t>zahra.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3478530"/>
            <a:ext cx="4445000" cy="2143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  <a:spcAft>
                <a:spcPts val="1800"/>
              </a:spcAft>
            </a:pPr>
            <a:r>
              <a:rPr sz="1050" b="0" i="0">
                <a:solidFill>
                  <a:srgbClr val="2B3038"/>
                </a:solidFill>
                <a:latin typeface="Inter"/>
              </a:rPr>
              <a:t>I work across content, creative, and communication — from developing visual ideas and social media content to supporting events, campaigns, and brand collaborations.</a:t>
            </a:r>
          </a:p>
          <a:p>
            <a:pPr algn="l">
              <a:lnSpc>
                <a:spcPct val="180000"/>
              </a:lnSpc>
              <a:spcAft>
                <a:spcPts val="1800"/>
              </a:spcAft>
            </a:pPr>
            <a:r>
              <a:rPr sz="1050" b="0" i="0">
                <a:solidFill>
                  <a:srgbClr val="2B3038"/>
                </a:solidFill>
                <a:latin typeface="Inter"/>
              </a:rPr>
              <a:t>I enjoy the hands-on side of creative work: preparing, creating, editing, organizing, and turning an idea into something ready to share.</a:t>
            </a:r>
          </a:p>
        </p:txBody>
      </p:sp>
      <p:sp>
        <p:nvSpPr>
          <p:cNvPr id="16" name="Round Same Side Corner Rectangle 15"/>
          <p:cNvSpPr/>
          <p:nvPr/>
        </p:nvSpPr>
        <p:spPr>
          <a:xfrm>
            <a:off x="6540500" y="1422400"/>
            <a:ext cx="3048000" cy="3683000"/>
          </a:xfrm>
          <a:prstGeom prst="round2SameRect">
            <a:avLst>
              <a:gd name="adj1" fmla="val 5000"/>
              <a:gd name="adj2" fmla="val 0"/>
            </a:avLst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drop portrait</a:t>
            </a:r>
          </a:p>
        </p:txBody>
      </p:sp>
      <p:sp>
        <p:nvSpPr>
          <p:cNvPr id="17" name="Oval 16"/>
          <p:cNvSpPr/>
          <p:nvPr/>
        </p:nvSpPr>
        <p:spPr>
          <a:xfrm>
            <a:off x="9207500" y="1905000"/>
            <a:ext cx="1460500" cy="1460500"/>
          </a:xfrm>
          <a:prstGeom prst="ellipse">
            <a:avLst/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photo</a:t>
            </a:r>
          </a:p>
        </p:txBody>
      </p:sp>
      <p:sp>
        <p:nvSpPr>
          <p:cNvPr id="18" name="Snip Diagonal Corner Rectangle 17"/>
          <p:cNvSpPr/>
          <p:nvPr/>
        </p:nvSpPr>
        <p:spPr>
          <a:xfrm rot="21300000">
            <a:off x="9144000" y="3683000"/>
            <a:ext cx="1587500" cy="1397000"/>
          </a:xfrm>
          <a:prstGeom prst="snip2DiagRect">
            <a:avLst/>
          </a:prstGeom>
          <a:solidFill>
            <a:srgbClr val="D7F0E2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photo</a:t>
            </a:r>
          </a:p>
        </p:txBody>
      </p:sp>
      <p:sp>
        <p:nvSpPr>
          <p:cNvPr id="19" name="Rectangle 18"/>
          <p:cNvSpPr/>
          <p:nvPr/>
        </p:nvSpPr>
        <p:spPr>
          <a:xfrm rot="21480000">
            <a:off x="1460500" y="4927600"/>
            <a:ext cx="1905000" cy="762000"/>
          </a:xfrm>
          <a:prstGeom prst="rect">
            <a:avLst/>
          </a:prstGeom>
          <a:solidFill>
            <a:srgbClr val="FFE45C"/>
          </a:solidFill>
          <a:ln>
            <a:noFill/>
          </a:ln>
          <a:effectLst>
            <a:outerShdw blurRad="177800" dist="63500" dir="5400000" rotWithShape="0">
              <a:srgbClr val="24405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74800" y="5016500"/>
            <a:ext cx="16764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0D0D10"/>
                </a:solidFill>
                <a:latin typeface="Space Mono"/>
              </a:rPr>
              <a:t>content · creative ·
communication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85500" y="4064000"/>
            <a:ext cx="480060" cy="127000"/>
          </a:xfrm>
          <a:prstGeom prst="rect">
            <a:avLst/>
          </a:prstGeom>
          <a:solidFill>
            <a:srgbClr val="FF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85500" y="4178300"/>
            <a:ext cx="1143000" cy="698500"/>
          </a:xfrm>
          <a:prstGeom prst="rect">
            <a:avLst/>
          </a:prstGeom>
          <a:solidFill>
            <a:srgbClr val="FF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87100" y="4178300"/>
            <a:ext cx="939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0D0D10"/>
                </a:solidFill>
                <a:latin typeface="Space Mono"/>
              </a:rPr>
              <a:t>me.jpg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40500" y="5360988"/>
            <a:ext cx="317500" cy="9525"/>
          </a:xfrm>
          <a:prstGeom prst="rect">
            <a:avLst/>
          </a:prstGeom>
          <a:solidFill>
            <a:srgbClr val="8B9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21500" y="5270500"/>
            <a:ext cx="2032000" cy="156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 spc="300">
                <a:solidFill>
                  <a:srgbClr val="8B93A1"/>
                </a:solidFill>
                <a:latin typeface="Space Mono"/>
              </a:rPr>
              <a:t>SELECTED FRAMES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937000"/>
            <a:ext cx="4953000" cy="3556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17000" y="-1016000"/>
            <a:ext cx="4445000" cy="33020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2500" y="762000"/>
            <a:ext cx="10287000" cy="5143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58800" dist="190500" dir="5400000" rotWithShape="0">
              <a:srgbClr val="24405E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5200" y="774700"/>
            <a:ext cx="10261600" cy="3683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4900" y="895350"/>
            <a:ext cx="101600" cy="1016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70000" y="895350"/>
            <a:ext cx="101600" cy="1016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35100" y="89535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27200" y="850900"/>
            <a:ext cx="87376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27200" y="850900"/>
            <a:ext cx="8737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www.zahralevina.com/process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58900" y="1659890"/>
            <a:ext cx="5320605" cy="341757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7000" y="1397000"/>
            <a:ext cx="5715000" cy="8215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750" b="0" i="0">
                <a:solidFill>
                  <a:srgbClr val="0D0D10"/>
                </a:solidFill>
                <a:latin typeface="Archivo Black"/>
              </a:rPr>
              <a:t>from idea to publish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97000" y="2396331"/>
            <a:ext cx="1143000" cy="5842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97000" y="2396331"/>
            <a:ext cx="1143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 i="0" spc="300">
                <a:solidFill>
                  <a:srgbClr val="0D0D10"/>
                </a:solidFill>
                <a:latin typeface="Space Mono"/>
              </a:rPr>
              <a:t>IDEA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2400" y="2218531"/>
            <a:ext cx="635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2700" y="2574131"/>
            <a:ext cx="165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8B93A1"/>
                </a:solidFill>
                <a:latin typeface="Inter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17800" y="2396331"/>
            <a:ext cx="1143000" cy="5842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17800" y="2396331"/>
            <a:ext cx="1143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 i="0" spc="300">
                <a:solidFill>
                  <a:srgbClr val="0D0D10"/>
                </a:solidFill>
                <a:latin typeface="Space Mono"/>
              </a:rPr>
              <a:t>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218531"/>
            <a:ext cx="635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3500" y="2574131"/>
            <a:ext cx="165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8B93A1"/>
                </a:solidFill>
                <a:latin typeface="Inter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38600" y="2396331"/>
            <a:ext cx="1143000" cy="5842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38600" y="2396331"/>
            <a:ext cx="1143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 i="0" spc="300">
                <a:solidFill>
                  <a:srgbClr val="0D0D10"/>
                </a:solidFill>
                <a:latin typeface="Space Mono"/>
              </a:rPr>
              <a:t>PREPARE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4000" y="2218531"/>
            <a:ext cx="635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4300" y="2574131"/>
            <a:ext cx="165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8B93A1"/>
                </a:solidFill>
                <a:latin typeface="Inter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59400" y="2396331"/>
            <a:ext cx="1143000" cy="5842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59400" y="2396331"/>
            <a:ext cx="1143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 i="0" spc="300">
                <a:solidFill>
                  <a:srgbClr val="0D0D10"/>
                </a:solidFill>
                <a:latin typeface="Space Mono"/>
              </a:rPr>
              <a:t>PRODUCE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84800" y="2218531"/>
            <a:ext cx="635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100" y="2574131"/>
            <a:ext cx="165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8B93A1"/>
                </a:solidFill>
                <a:latin typeface="Inter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80200" y="2396331"/>
            <a:ext cx="1143000" cy="5842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80200" y="2396331"/>
            <a:ext cx="1143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 i="0" spc="300">
                <a:solidFill>
                  <a:srgbClr val="0D0D10"/>
                </a:solidFill>
                <a:latin typeface="Space Mono"/>
              </a:rPr>
              <a:t>EDIT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5600" y="2218531"/>
            <a:ext cx="635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35900" y="2574131"/>
            <a:ext cx="165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8B93A1"/>
                </a:solidFill>
                <a:latin typeface="Inter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2396331"/>
            <a:ext cx="1143000" cy="5842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2396331"/>
            <a:ext cx="1143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 i="0" spc="300">
                <a:solidFill>
                  <a:srgbClr val="0D0D10"/>
                </a:solidFill>
                <a:latin typeface="Space Mono"/>
              </a:rPr>
              <a:t>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6400" y="2218531"/>
            <a:ext cx="635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6700" y="2574131"/>
            <a:ext cx="165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8B93A1"/>
                </a:solidFill>
                <a:latin typeface="Inter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21800" y="2396331"/>
            <a:ext cx="1143000" cy="5842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1800" y="2396331"/>
            <a:ext cx="1143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0" i="0" spc="300">
                <a:solidFill>
                  <a:srgbClr val="0D0D10"/>
                </a:solidFill>
                <a:latin typeface="Space Mono"/>
              </a:rPr>
              <a:t>PUBLISH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7200" y="2218531"/>
            <a:ext cx="635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97000" y="3221831"/>
            <a:ext cx="4826000" cy="1235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  <a:spcAft>
                <a:spcPts val="1400"/>
              </a:spcAft>
            </a:pPr>
            <a:r>
              <a:rPr sz="1150" b="0" i="0">
                <a:solidFill>
                  <a:srgbClr val="2B3038"/>
                </a:solidFill>
                <a:latin typeface="Inter"/>
              </a:rPr>
              <a:t>Good content is not only about the final visual.</a:t>
            </a:r>
          </a:p>
          <a:p>
            <a:pPr algn="l">
              <a:lnSpc>
                <a:spcPct val="180000"/>
              </a:lnSpc>
              <a:spcAft>
                <a:spcPts val="1400"/>
              </a:spcAft>
            </a:pPr>
            <a:r>
              <a:rPr sz="1150" b="0" i="0">
                <a:solidFill>
                  <a:srgbClr val="2B3038"/>
                </a:solidFill>
                <a:latin typeface="Inter"/>
              </a:rPr>
              <a:t>It is also about the details behind it — preparation, consistency, timing, and making sure everything is ready before it goes live.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67500" y="3158331"/>
            <a:ext cx="1905000" cy="133350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content prep</a:t>
            </a:r>
          </a:p>
        </p:txBody>
      </p:sp>
      <p:sp>
        <p:nvSpPr>
          <p:cNvPr id="43" name="Oval 42"/>
          <p:cNvSpPr/>
          <p:nvPr/>
        </p:nvSpPr>
        <p:spPr>
          <a:xfrm>
            <a:off x="8763000" y="3158331"/>
            <a:ext cx="1333500" cy="1333500"/>
          </a:xfrm>
          <a:prstGeom prst="ellipse">
            <a:avLst/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photo</a:t>
            </a:r>
          </a:p>
        </p:txBody>
      </p:sp>
      <p:sp>
        <p:nvSpPr>
          <p:cNvPr id="44" name="Snip Diagonal Corner Rectangle 43"/>
          <p:cNvSpPr/>
          <p:nvPr/>
        </p:nvSpPr>
        <p:spPr>
          <a:xfrm rot="240000">
            <a:off x="8826500" y="4618831"/>
            <a:ext cx="1905000" cy="1016000"/>
          </a:xfrm>
          <a:prstGeom prst="snip2DiagRect">
            <a:avLst/>
          </a:prstGeom>
          <a:solidFill>
            <a:srgbClr val="FFD3E4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photo</a:t>
            </a:r>
          </a:p>
        </p:txBody>
      </p:sp>
      <p:sp>
        <p:nvSpPr>
          <p:cNvPr id="45" name="Rectangle 44"/>
          <p:cNvSpPr/>
          <p:nvPr/>
        </p:nvSpPr>
        <p:spPr>
          <a:xfrm rot="21480000">
            <a:off x="6667500" y="4682331"/>
            <a:ext cx="1905000" cy="952500"/>
          </a:xfrm>
          <a:prstGeom prst="rect">
            <a:avLst/>
          </a:prstGeom>
          <a:solidFill>
            <a:srgbClr val="FFE45C"/>
          </a:solidFill>
          <a:ln>
            <a:noFill/>
          </a:ln>
          <a:effectLst>
            <a:outerShdw blurRad="177800" dist="63500" dir="5400000" rotWithShape="0">
              <a:srgbClr val="24405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81800" y="4771231"/>
            <a:ext cx="1676400" cy="77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0D0D10"/>
                </a:solidFill>
                <a:latin typeface="Space Mono"/>
              </a:rPr>
              <a:t>check before publish:
caption · crop · date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45000" y="6261100"/>
            <a:ext cx="3302000" cy="4826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>
            <a:outerShdw blurRad="330200" dist="101600" dir="5400000" rotWithShape="0">
              <a:srgbClr val="24405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610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118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626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134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642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150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937000"/>
            <a:ext cx="4953000" cy="3556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17000" y="-1016000"/>
            <a:ext cx="4445000" cy="33020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2500" y="762000"/>
            <a:ext cx="10287000" cy="5143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58800" dist="190500" dir="5400000" rotWithShape="0">
              <a:srgbClr val="24405E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5200" y="774700"/>
            <a:ext cx="10261600" cy="3683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4900" y="895350"/>
            <a:ext cx="101600" cy="1016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70000" y="895350"/>
            <a:ext cx="101600" cy="1016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35100" y="89535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27200" y="850900"/>
            <a:ext cx="87376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27200" y="850900"/>
            <a:ext cx="8737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www.zahralevina.com/work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58900" y="1609954"/>
            <a:ext cx="6484441" cy="309860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7000" y="1371600"/>
            <a:ext cx="6985000" cy="7448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0" i="0">
                <a:solidFill>
                  <a:srgbClr val="0D0D10"/>
                </a:solidFill>
                <a:latin typeface="Archivo Black"/>
              </a:rPr>
              <a:t>content, in different forms.</a:t>
            </a:r>
          </a:p>
        </p:txBody>
      </p:sp>
      <p:sp>
        <p:nvSpPr>
          <p:cNvPr id="14" name="Oval 13"/>
          <p:cNvSpPr/>
          <p:nvPr/>
        </p:nvSpPr>
        <p:spPr>
          <a:xfrm>
            <a:off x="1397000" y="2281555"/>
            <a:ext cx="1524000" cy="1143000"/>
          </a:xfrm>
          <a:prstGeom prst="ellipse">
            <a:avLst/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7000" y="3564255"/>
            <a:ext cx="10795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0D0D10"/>
                </a:solidFill>
                <a:latin typeface="Archivo Black"/>
              </a:rPr>
              <a:t>social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97000" y="4065905"/>
            <a:ext cx="1270000" cy="889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7000" y="41675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Instagram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7000" y="44215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Stories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7000" y="46755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Promotional posts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7000" y="49295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Campaign content</a:t>
            </a:r>
          </a:p>
        </p:txBody>
      </p:sp>
      <p:sp>
        <p:nvSpPr>
          <p:cNvPr id="21" name="Hexagon 20"/>
          <p:cNvSpPr/>
          <p:nvPr/>
        </p:nvSpPr>
        <p:spPr>
          <a:xfrm>
            <a:off x="3759200" y="2281555"/>
            <a:ext cx="1524000" cy="1143000"/>
          </a:xfrm>
          <a:prstGeom prst="hexagon">
            <a:avLst/>
          </a:prstGeom>
          <a:solidFill>
            <a:srgbClr val="FFD3E4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59200" y="3564255"/>
            <a:ext cx="10795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0D0D10"/>
                </a:solidFill>
                <a:latin typeface="Archivo Black"/>
              </a:rPr>
              <a:t>visual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59200" y="4065905"/>
            <a:ext cx="1270000" cy="889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59200" y="41675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Graphic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59200" y="44215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Layout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59200" y="46755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Visual direction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59200" y="49295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Brand materials</a:t>
            </a:r>
          </a:p>
        </p:txBody>
      </p:sp>
      <p:sp>
        <p:nvSpPr>
          <p:cNvPr id="28" name="Round Same Side Corner Rectangle 27"/>
          <p:cNvSpPr/>
          <p:nvPr/>
        </p:nvSpPr>
        <p:spPr>
          <a:xfrm>
            <a:off x="6121400" y="2281555"/>
            <a:ext cx="1524000" cy="1143000"/>
          </a:xfrm>
          <a:prstGeom prst="round2SameRect">
            <a:avLst>
              <a:gd name="adj1" fmla="val 5000"/>
              <a:gd name="adj2" fmla="val 0"/>
            </a:avLst>
          </a:prstGeom>
          <a:solidFill>
            <a:srgbClr val="D7F0E2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1400" y="3564255"/>
            <a:ext cx="10795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0D0D10"/>
                </a:solidFill>
                <a:latin typeface="Archivo Black"/>
              </a:rPr>
              <a:t>production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1400" y="4065905"/>
            <a:ext cx="1270000" cy="889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1400" y="41675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Event documentation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1400" y="44215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Content preparation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1400" y="46755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Creative coordination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1400" y="49295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Production support</a:t>
            </a:r>
          </a:p>
        </p:txBody>
      </p:sp>
      <p:sp>
        <p:nvSpPr>
          <p:cNvPr id="35" name="Snip Diagonal Corner Rectangle 34"/>
          <p:cNvSpPr/>
          <p:nvPr/>
        </p:nvSpPr>
        <p:spPr>
          <a:xfrm>
            <a:off x="8483600" y="2281555"/>
            <a:ext cx="1524000" cy="1143000"/>
          </a:xfrm>
          <a:prstGeom prst="snip2DiagRect">
            <a:avLst/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3600" y="3564255"/>
            <a:ext cx="10795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0D0D10"/>
                </a:solidFill>
                <a:latin typeface="Archivo Black"/>
              </a:rPr>
              <a:t>editing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83600" y="4065905"/>
            <a:ext cx="1270000" cy="889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83600" y="41675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Photo editing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3600" y="44215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Video editing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83600" y="46755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Short-form content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3600" y="4929505"/>
            <a:ext cx="203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Final asset preparation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049000" y="1905000"/>
            <a:ext cx="453390" cy="127000"/>
          </a:xfrm>
          <a:prstGeom prst="rect">
            <a:avLst/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049000" y="2019300"/>
            <a:ext cx="1079500" cy="698500"/>
          </a:xfrm>
          <a:prstGeom prst="rect">
            <a:avLst/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50600" y="2019300"/>
            <a:ext cx="8763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0D0D10"/>
                </a:solidFill>
                <a:latin typeface="Space Mono"/>
              </a:rPr>
              <a:t>assets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937000"/>
            <a:ext cx="4953000" cy="3556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17000" y="-1016000"/>
            <a:ext cx="4445000" cy="33020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2500" y="762000"/>
            <a:ext cx="10287000" cy="5143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58800" dist="190500" dir="5400000" rotWithShape="0">
              <a:srgbClr val="24405E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5200" y="774700"/>
            <a:ext cx="10261600" cy="3683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4900" y="895350"/>
            <a:ext cx="101600" cy="1016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70000" y="895350"/>
            <a:ext cx="101600" cy="1016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35100" y="89535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27200" y="850900"/>
            <a:ext cx="87376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27200" y="850900"/>
            <a:ext cx="8737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sawalaspace — project</a:t>
            </a:r>
          </a:p>
        </p:txBody>
      </p:sp>
      <p:sp>
        <p:nvSpPr>
          <p:cNvPr id="12" name="Round Same Side Corner Rectangle 11"/>
          <p:cNvSpPr/>
          <p:nvPr/>
        </p:nvSpPr>
        <p:spPr>
          <a:xfrm>
            <a:off x="1333500" y="1435100"/>
            <a:ext cx="3302000" cy="3302000"/>
          </a:xfrm>
          <a:prstGeom prst="round2SameRect">
            <a:avLst>
              <a:gd name="adj1" fmla="val 5000"/>
              <a:gd name="adj2" fmla="val 0"/>
            </a:avLst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event visual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33500" y="4864100"/>
            <a:ext cx="1524000" cy="95250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promo content</a:t>
            </a:r>
          </a:p>
        </p:txBody>
      </p:sp>
      <p:sp>
        <p:nvSpPr>
          <p:cNvPr id="14" name="Oval 13"/>
          <p:cNvSpPr/>
          <p:nvPr/>
        </p:nvSpPr>
        <p:spPr>
          <a:xfrm>
            <a:off x="3048000" y="4864100"/>
            <a:ext cx="952500" cy="952500"/>
          </a:xfrm>
          <a:prstGeom prst="ellipse">
            <a:avLst/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social 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0" y="1422400"/>
            <a:ext cx="10795000" cy="30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spc="500">
                <a:solidFill>
                  <a:srgbClr val="8B93A1"/>
                </a:solidFill>
                <a:latin typeface="Space Mono"/>
              </a:rPr>
              <a:t>selected project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1900" y="2092944"/>
            <a:ext cx="3931841" cy="364541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0000" y="1812528"/>
            <a:ext cx="4445000" cy="876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0" i="0">
                <a:solidFill>
                  <a:srgbClr val="0D0D10"/>
                </a:solidFill>
                <a:latin typeface="Archivo Black"/>
              </a:rPr>
              <a:t>sawala 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0" y="2777728"/>
            <a:ext cx="10795000" cy="319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038"/>
                </a:solidFill>
                <a:latin typeface="Inter"/>
              </a:rPr>
              <a:t>wellness community &amp; event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0" y="3224212"/>
            <a:ext cx="4826000" cy="1526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  <a:spcAft>
                <a:spcPts val="0"/>
              </a:spcAft>
            </a:pPr>
            <a:r>
              <a:rPr sz="1250" b="0" i="0">
                <a:solidFill>
                  <a:srgbClr val="5B6472"/>
                </a:solidFill>
                <a:latin typeface="Inter"/>
              </a:rPr>
              <a:t>As a co-founder, I work across the creative side of Sawala Space — developing event concepts, creating promotional content, managing social media materials, communicating with brand partners, and supporting event execution.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0000" y="4852352"/>
            <a:ext cx="910621" cy="2921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100">
                <a:solidFill>
                  <a:srgbClr val="0D0D10"/>
                </a:solidFill>
                <a:latin typeface="Inter"/>
              </a:rPr>
              <a:t>concept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6821" y="4852352"/>
            <a:ext cx="868884" cy="2921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100">
                <a:solidFill>
                  <a:srgbClr val="0D0D10"/>
                </a:solidFill>
                <a:latin typeface="Inter"/>
              </a:rPr>
              <a:t>content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11906" y="4852352"/>
            <a:ext cx="728145" cy="2921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100">
                <a:solidFill>
                  <a:srgbClr val="0D0D10"/>
                </a:solidFill>
                <a:latin typeface="Inter"/>
              </a:rPr>
              <a:t>social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80000" y="5220652"/>
            <a:ext cx="1044998" cy="2921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100">
                <a:solidFill>
                  <a:srgbClr val="0D0D10"/>
                </a:solidFill>
                <a:latin typeface="Inter"/>
              </a:rPr>
              <a:t>campaign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1198" y="5220652"/>
            <a:ext cx="693634" cy="2921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100">
                <a:solidFill>
                  <a:srgbClr val="0D0D10"/>
                </a:solidFill>
                <a:latin typeface="Inter"/>
              </a:rPr>
              <a:t>event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71032" y="5220652"/>
            <a:ext cx="1204611" cy="2921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100">
                <a:solidFill>
                  <a:srgbClr val="0D0D10"/>
                </a:solidFill>
                <a:latin typeface="Inter"/>
              </a:rPr>
              <a:t>partnership</a:t>
            </a:r>
          </a:p>
        </p:txBody>
      </p:sp>
      <p:sp>
        <p:nvSpPr>
          <p:cNvPr id="26" name="Snip Diagonal Corner Rectangle 25"/>
          <p:cNvSpPr/>
          <p:nvPr/>
        </p:nvSpPr>
        <p:spPr>
          <a:xfrm rot="21360000">
            <a:off x="8826500" y="4699000"/>
            <a:ext cx="1905000" cy="1143000"/>
          </a:xfrm>
          <a:prstGeom prst="snip2DiagRect">
            <a:avLst/>
          </a:prstGeom>
          <a:solidFill>
            <a:srgbClr val="FFD3E4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campaign material</a:t>
            </a:r>
          </a:p>
        </p:txBody>
      </p:sp>
      <p:sp>
        <p:nvSpPr>
          <p:cNvPr id="27" name="Rectangle 26"/>
          <p:cNvSpPr/>
          <p:nvPr/>
        </p:nvSpPr>
        <p:spPr>
          <a:xfrm rot="21480000">
            <a:off x="9144000" y="1422400"/>
            <a:ext cx="1587500" cy="698500"/>
          </a:xfrm>
          <a:prstGeom prst="rect">
            <a:avLst/>
          </a:prstGeom>
          <a:solidFill>
            <a:srgbClr val="FFE45C"/>
          </a:solidFill>
          <a:ln>
            <a:noFill/>
          </a:ln>
          <a:effectLst>
            <a:outerShdw blurRad="177800" dist="63500" dir="5400000" rotWithShape="0">
              <a:srgbClr val="24405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58300" y="1511300"/>
            <a:ext cx="1358900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0D0D10"/>
                </a:solidFill>
                <a:latin typeface="Space Mono"/>
              </a:rPr>
              <a:t>concept → content
→ event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937000"/>
            <a:ext cx="4953000" cy="3556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17000" y="-1016000"/>
            <a:ext cx="4445000" cy="33020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698500"/>
            <a:ext cx="10668000" cy="5270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58800" dist="190500" dir="5400000" rotWithShape="0">
              <a:srgbClr val="24405E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4700" y="711200"/>
            <a:ext cx="10642600" cy="3683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831850"/>
            <a:ext cx="101600" cy="1016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9500" y="831850"/>
            <a:ext cx="101600" cy="1016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44600" y="83185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36700" y="787400"/>
            <a:ext cx="91186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36700" y="787400"/>
            <a:ext cx="9118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www.zahralevina.com/content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4900" y="1484681"/>
            <a:ext cx="8184654" cy="246065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1295400"/>
            <a:ext cx="8890000" cy="5915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0" i="0">
                <a:solidFill>
                  <a:srgbClr val="0D0D10"/>
                </a:solidFill>
                <a:latin typeface="Archivo Black"/>
              </a:rPr>
              <a:t>making content that has somewhere to go.</a:t>
            </a:r>
          </a:p>
        </p:txBody>
      </p:sp>
      <p:sp>
        <p:nvSpPr>
          <p:cNvPr id="14" name="Round Same Side Corner Rectangle 13"/>
          <p:cNvSpPr/>
          <p:nvPr/>
        </p:nvSpPr>
        <p:spPr>
          <a:xfrm rot="21420000">
            <a:off x="1143000" y="2052002"/>
            <a:ext cx="1524000" cy="1270000"/>
          </a:xfrm>
          <a:prstGeom prst="round2SameRect">
            <a:avLst>
              <a:gd name="adj1" fmla="val 5000"/>
              <a:gd name="adj2" fmla="val 0"/>
            </a:avLst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4000" y="2052002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4000" y="2242502"/>
            <a:ext cx="1587500" cy="591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0D0D10"/>
                </a:solidFill>
                <a:latin typeface="Archivo Black"/>
              </a:rPr>
              <a:t>event promotion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4000" y="2897505"/>
            <a:ext cx="15875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0">
                <a:solidFill>
                  <a:srgbClr val="5B6472"/>
                </a:solidFill>
                <a:latin typeface="Inter"/>
              </a:rPr>
              <a:t>concept · design · copy · social content</a:t>
            </a:r>
          </a:p>
        </p:txBody>
      </p:sp>
      <p:sp>
        <p:nvSpPr>
          <p:cNvPr id="18" name="Oval 17"/>
          <p:cNvSpPr/>
          <p:nvPr/>
        </p:nvSpPr>
        <p:spPr>
          <a:xfrm>
            <a:off x="4495800" y="2052002"/>
            <a:ext cx="1524000" cy="1270000"/>
          </a:xfrm>
          <a:prstGeom prst="ellipse">
            <a:avLst/>
          </a:prstGeom>
          <a:solidFill>
            <a:srgbClr val="FFD3E4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6800" y="2052002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6800" y="2242502"/>
            <a:ext cx="1587500" cy="591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0D0D10"/>
                </a:solidFill>
                <a:latin typeface="Archivo Black"/>
              </a:rPr>
              <a:t>campaign 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6800" y="2897505"/>
            <a:ext cx="15875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0">
                <a:solidFill>
                  <a:srgbClr val="5B6472"/>
                </a:solidFill>
                <a:latin typeface="Inter"/>
              </a:rPr>
              <a:t>visual direction · promotional assets</a:t>
            </a:r>
          </a:p>
        </p:txBody>
      </p:sp>
      <p:sp>
        <p:nvSpPr>
          <p:cNvPr id="22" name="Snip Diagonal Corner Rectangle 21"/>
          <p:cNvSpPr/>
          <p:nvPr/>
        </p:nvSpPr>
        <p:spPr>
          <a:xfrm rot="180000">
            <a:off x="7848600" y="2052002"/>
            <a:ext cx="1524000" cy="1270000"/>
          </a:xfrm>
          <a:prstGeom prst="snip2DiagRect">
            <a:avLst/>
          </a:prstGeom>
          <a:solidFill>
            <a:srgbClr val="D7F0E2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9600" y="2052002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9600" y="2242502"/>
            <a:ext cx="1587500" cy="591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0D0D10"/>
                </a:solidFill>
                <a:latin typeface="Archivo Black"/>
              </a:rPr>
              <a:t>social 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9600" y="2897505"/>
            <a:ext cx="1587500" cy="86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0">
                <a:solidFill>
                  <a:srgbClr val="5B6472"/>
                </a:solidFill>
                <a:latin typeface="Inter"/>
              </a:rPr>
              <a:t>design · copywriting · publishing preparation</a:t>
            </a:r>
          </a:p>
        </p:txBody>
      </p:sp>
      <p:sp>
        <p:nvSpPr>
          <p:cNvPr id="26" name="Hexagon 25"/>
          <p:cNvSpPr/>
          <p:nvPr/>
        </p:nvSpPr>
        <p:spPr>
          <a:xfrm rot="21420000">
            <a:off x="1143000" y="3868102"/>
            <a:ext cx="1524000" cy="1270000"/>
          </a:xfrm>
          <a:prstGeom prst="hexagon">
            <a:avLst/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4000" y="3868102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94000" y="4058602"/>
            <a:ext cx="1587500" cy="591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0D0D10"/>
                </a:solidFill>
                <a:latin typeface="Archivo Black"/>
              </a:rPr>
              <a:t>event documentation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94000" y="4713605"/>
            <a:ext cx="15875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0">
                <a:solidFill>
                  <a:srgbClr val="5B6472"/>
                </a:solidFill>
                <a:latin typeface="Inter"/>
              </a:rPr>
              <a:t>photography · documentation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95800" y="3868102"/>
            <a:ext cx="1524000" cy="1270000"/>
          </a:xfrm>
          <a:prstGeom prst="roundRect">
            <a:avLst>
              <a:gd name="adj" fmla="val 5000"/>
            </a:avLst>
          </a:prstGeom>
          <a:solidFill>
            <a:srgbClr val="FFD3E4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6800" y="3868102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6800" y="4058602"/>
            <a:ext cx="1587500" cy="591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0D0D10"/>
                </a:solidFill>
                <a:latin typeface="Archivo Black"/>
              </a:rPr>
              <a:t>organisational comms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6800" y="4713605"/>
            <a:ext cx="15875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0">
                <a:solidFill>
                  <a:srgbClr val="5B6472"/>
                </a:solidFill>
                <a:latin typeface="Inter"/>
              </a:rPr>
              <a:t>visual materials · social media</a:t>
            </a:r>
          </a:p>
        </p:txBody>
      </p:sp>
      <p:sp>
        <p:nvSpPr>
          <p:cNvPr id="34" name="Octagon 33"/>
          <p:cNvSpPr/>
          <p:nvPr/>
        </p:nvSpPr>
        <p:spPr>
          <a:xfrm rot="180000">
            <a:off x="7848600" y="3868102"/>
            <a:ext cx="1524000" cy="1270000"/>
          </a:xfrm>
          <a:prstGeom prst="octagon">
            <a:avLst/>
          </a:prstGeom>
          <a:solidFill>
            <a:srgbClr val="D7F0E2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9600" y="3868102"/>
            <a:ext cx="508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99600" y="4058602"/>
            <a:ext cx="1587500" cy="328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0D0D10"/>
                </a:solidFill>
                <a:latin typeface="Archivo Black"/>
              </a:rPr>
              <a:t>event visuals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99600" y="4450715"/>
            <a:ext cx="15875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 i="0">
                <a:solidFill>
                  <a:srgbClr val="5B6472"/>
                </a:solidFill>
                <a:latin typeface="Inter"/>
              </a:rPr>
              <a:t>promotional materials · coordination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937000"/>
            <a:ext cx="4953000" cy="3556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17000" y="-1016000"/>
            <a:ext cx="4445000" cy="33020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2500" y="762000"/>
            <a:ext cx="10287000" cy="5143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58800" dist="190500" dir="5400000" rotWithShape="0">
              <a:srgbClr val="24405E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5200" y="774700"/>
            <a:ext cx="10261600" cy="3683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4900" y="895350"/>
            <a:ext cx="101600" cy="1016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70000" y="895350"/>
            <a:ext cx="101600" cy="1016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35100" y="89535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27200" y="850900"/>
            <a:ext cx="87376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27200" y="850900"/>
            <a:ext cx="8737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www.zahralevina.com/stretch-for-stray</a:t>
            </a:r>
          </a:p>
        </p:txBody>
      </p:sp>
      <p:sp>
        <p:nvSpPr>
          <p:cNvPr id="12" name="Round Same Side Corner Rectangle 11"/>
          <p:cNvSpPr/>
          <p:nvPr/>
        </p:nvSpPr>
        <p:spPr>
          <a:xfrm>
            <a:off x="1308100" y="1435100"/>
            <a:ext cx="2921000" cy="3556000"/>
          </a:xfrm>
          <a:prstGeom prst="round2SameRect">
            <a:avLst>
              <a:gd name="adj1" fmla="val 5000"/>
              <a:gd name="adj2" fmla="val 0"/>
            </a:avLst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event poster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5500" y="1422400"/>
            <a:ext cx="10795000" cy="30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spc="500">
                <a:solidFill>
                  <a:srgbClr val="8B93A1"/>
                </a:solidFill>
                <a:latin typeface="Space Mono"/>
              </a:rPr>
              <a:t>wellness × social 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97400" y="2080244"/>
            <a:ext cx="4640858" cy="364541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5500" y="1799828"/>
            <a:ext cx="5461000" cy="876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0" i="0">
                <a:solidFill>
                  <a:srgbClr val="0D0D10"/>
                </a:solidFill>
                <a:latin typeface="Archivo Black"/>
              </a:rPr>
              <a:t>stretch for stray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5500" y="2790428"/>
            <a:ext cx="457200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50" b="0" i="0">
                <a:solidFill>
                  <a:srgbClr val="2B3038"/>
                </a:solidFill>
                <a:latin typeface="Inter"/>
              </a:rPr>
              <a:t>A wellness event combining movement, community, and support for animal welfare.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5500" y="3633708"/>
            <a:ext cx="10795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 spc="500">
                <a:solidFill>
                  <a:srgbClr val="8B93A1"/>
                </a:solidFill>
                <a:latin typeface="Space Mono"/>
              </a:rPr>
              <a:t>my contribution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5500" y="4090908"/>
            <a:ext cx="101600" cy="101600"/>
          </a:xfrm>
          <a:prstGeom prst="roundRect">
            <a:avLst>
              <a:gd name="adj" fmla="val 40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6800" y="4014708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2B3038"/>
                </a:solidFill>
                <a:latin typeface="Inter"/>
              </a:rPr>
              <a:t>Campaign concept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5500" y="4395708"/>
            <a:ext cx="101600" cy="101600"/>
          </a:xfrm>
          <a:prstGeom prst="roundRect">
            <a:avLst>
              <a:gd name="adj" fmla="val 40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800" y="4319508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2B3038"/>
                </a:solidFill>
                <a:latin typeface="Inter"/>
              </a:rPr>
              <a:t>Promotional content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35500" y="4700508"/>
            <a:ext cx="101600" cy="101600"/>
          </a:xfrm>
          <a:prstGeom prst="roundRect">
            <a:avLst>
              <a:gd name="adj" fmla="val 40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800" y="4624308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2B3038"/>
                </a:solidFill>
                <a:latin typeface="Inter"/>
              </a:rPr>
              <a:t>Social media communication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35500" y="5005308"/>
            <a:ext cx="101600" cy="101600"/>
          </a:xfrm>
          <a:prstGeom prst="roundRect">
            <a:avLst>
              <a:gd name="adj" fmla="val 40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6800" y="4929108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2B3038"/>
                </a:solidFill>
                <a:latin typeface="Inter"/>
              </a:rPr>
              <a:t>Partnership communication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35500" y="5310108"/>
            <a:ext cx="101600" cy="101600"/>
          </a:xfrm>
          <a:prstGeom prst="roundRect">
            <a:avLst>
              <a:gd name="adj" fmla="val 40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76800" y="5233908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2B3038"/>
                </a:solidFill>
                <a:latin typeface="Inter"/>
              </a:rPr>
              <a:t>Event coordination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35500" y="5614908"/>
            <a:ext cx="101600" cy="101600"/>
          </a:xfrm>
          <a:prstGeom prst="roundRect">
            <a:avLst>
              <a:gd name="adj" fmla="val 40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6800" y="5538708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2B3038"/>
                </a:solidFill>
                <a:latin typeface="Inter"/>
              </a:rPr>
              <a:t>Event-day support</a:t>
            </a:r>
          </a:p>
        </p:txBody>
      </p:sp>
      <p:sp>
        <p:nvSpPr>
          <p:cNvPr id="30" name="Rounded Rectangle 29"/>
          <p:cNvSpPr/>
          <p:nvPr/>
        </p:nvSpPr>
        <p:spPr>
          <a:xfrm rot="240000">
            <a:off x="8572500" y="3238500"/>
            <a:ext cx="2032000" cy="1270000"/>
          </a:xfrm>
          <a:prstGeom prst="roundRect">
            <a:avLst>
              <a:gd name="adj" fmla="val 5000"/>
            </a:avLst>
          </a:prstGeom>
          <a:solidFill>
            <a:srgbClr val="FFD3E4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social announcement</a:t>
            </a:r>
          </a:p>
        </p:txBody>
      </p:sp>
      <p:sp>
        <p:nvSpPr>
          <p:cNvPr id="31" name="Oval 30"/>
          <p:cNvSpPr/>
          <p:nvPr/>
        </p:nvSpPr>
        <p:spPr>
          <a:xfrm>
            <a:off x="8763000" y="4699000"/>
            <a:ext cx="1143000" cy="1143000"/>
          </a:xfrm>
          <a:prstGeom prst="ellipse">
            <a:avLst/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event documentation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023600" y="4191000"/>
            <a:ext cx="453390" cy="127000"/>
          </a:xfrm>
          <a:prstGeom prst="rect">
            <a:avLst/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023600" y="4305300"/>
            <a:ext cx="1079500" cy="698500"/>
          </a:xfrm>
          <a:prstGeom prst="rect">
            <a:avLst/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25200" y="4305300"/>
            <a:ext cx="8763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0D0D10"/>
                </a:solidFill>
                <a:latin typeface="Space Mono"/>
              </a:rPr>
              <a:t>docs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937000"/>
            <a:ext cx="4953000" cy="3556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17000" y="-1016000"/>
            <a:ext cx="4445000" cy="33020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8500" y="698500"/>
            <a:ext cx="10795000" cy="533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58800" dist="190500" dir="5400000" rotWithShape="0">
              <a:srgbClr val="24405E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1200" y="711200"/>
            <a:ext cx="10769600" cy="3683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900" y="831850"/>
            <a:ext cx="101600" cy="1016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6000" y="831850"/>
            <a:ext cx="101600" cy="1016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1100" y="83185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73200" y="787400"/>
            <a:ext cx="92456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73200" y="787400"/>
            <a:ext cx="9245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process — camera roll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7900" y="1502664"/>
            <a:ext cx="5239048" cy="318973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6000" y="1257300"/>
            <a:ext cx="6985000" cy="7667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500" b="0" i="0">
                <a:solidFill>
                  <a:srgbClr val="0D0D10"/>
                </a:solidFill>
                <a:latin typeface="Archivo Black"/>
              </a:rPr>
              <a:t>behind the final post.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6000" y="2138362"/>
            <a:ext cx="1072606" cy="2794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200">
                <a:solidFill>
                  <a:srgbClr val="0D0D10"/>
                </a:solidFill>
                <a:latin typeface="Space Mono"/>
              </a:rPr>
              <a:t>prepare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64806" y="2138362"/>
            <a:ext cx="952034" cy="2794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200">
                <a:solidFill>
                  <a:srgbClr val="0D0D10"/>
                </a:solidFill>
                <a:latin typeface="Space Mono"/>
              </a:rPr>
              <a:t>create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93041" y="2138362"/>
            <a:ext cx="710889" cy="2794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200">
                <a:solidFill>
                  <a:srgbClr val="0D0D10"/>
                </a:solidFill>
                <a:latin typeface="Space Mono"/>
              </a:rPr>
              <a:t>edit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80130" y="2138362"/>
            <a:ext cx="952034" cy="2794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200">
                <a:solidFill>
                  <a:srgbClr val="0D0D10"/>
                </a:solidFill>
                <a:latin typeface="Space Mono"/>
              </a:rPr>
              <a:t>refine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08364" y="2138362"/>
            <a:ext cx="1193179" cy="2794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200">
                <a:solidFill>
                  <a:srgbClr val="0D0D10"/>
                </a:solidFill>
                <a:latin typeface="Space Mono"/>
              </a:rPr>
              <a:t>finalize</a:t>
            </a:r>
          </a:p>
        </p:txBody>
      </p:sp>
      <p:sp>
        <p:nvSpPr>
          <p:cNvPr id="19" name="Snip Diagonal Corner Rectangle 18"/>
          <p:cNvSpPr/>
          <p:nvPr/>
        </p:nvSpPr>
        <p:spPr>
          <a:xfrm rot="21420000">
            <a:off x="1016000" y="2532062"/>
            <a:ext cx="2286000" cy="1206500"/>
          </a:xfrm>
          <a:prstGeom prst="snip2DiagRect">
            <a:avLst/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content preparation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" y="3802062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prepare</a:t>
            </a:r>
          </a:p>
        </p:txBody>
      </p:sp>
      <p:sp>
        <p:nvSpPr>
          <p:cNvPr id="21" name="Oval 20"/>
          <p:cNvSpPr/>
          <p:nvPr/>
        </p:nvSpPr>
        <p:spPr>
          <a:xfrm rot="120000">
            <a:off x="3568700" y="2532062"/>
            <a:ext cx="2286000" cy="1206500"/>
          </a:xfrm>
          <a:prstGeom prst="ellipse">
            <a:avLst/>
          </a:prstGeom>
          <a:solidFill>
            <a:srgbClr val="FFD3E4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visual draft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1400" y="3802062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create</a:t>
            </a:r>
          </a:p>
        </p:txBody>
      </p:sp>
      <p:sp>
        <p:nvSpPr>
          <p:cNvPr id="23" name="Rounded Rectangle 22"/>
          <p:cNvSpPr/>
          <p:nvPr/>
        </p:nvSpPr>
        <p:spPr>
          <a:xfrm rot="21480000">
            <a:off x="6121400" y="2532062"/>
            <a:ext cx="2286000" cy="1206500"/>
          </a:xfrm>
          <a:prstGeom prst="roundRect">
            <a:avLst>
              <a:gd name="adj" fmla="val 5000"/>
            </a:avLst>
          </a:prstGeom>
          <a:solidFill>
            <a:srgbClr val="D7F0E2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design versions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4100" y="3802062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refine</a:t>
            </a:r>
          </a:p>
        </p:txBody>
      </p:sp>
      <p:sp>
        <p:nvSpPr>
          <p:cNvPr id="25" name="Hexagon 24"/>
          <p:cNvSpPr/>
          <p:nvPr/>
        </p:nvSpPr>
        <p:spPr>
          <a:xfrm rot="180000">
            <a:off x="8674100" y="2532062"/>
            <a:ext cx="2286000" cy="1206500"/>
          </a:xfrm>
          <a:prstGeom prst="hexagon">
            <a:avLst/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photography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802062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create</a:t>
            </a:r>
          </a:p>
        </p:txBody>
      </p:sp>
      <p:sp>
        <p:nvSpPr>
          <p:cNvPr id="27" name="Round Same Side Corner Rectangle 26"/>
          <p:cNvSpPr/>
          <p:nvPr/>
        </p:nvSpPr>
        <p:spPr>
          <a:xfrm rot="21420000">
            <a:off x="1016000" y="4170362"/>
            <a:ext cx="2286000" cy="1206500"/>
          </a:xfrm>
          <a:prstGeom prst="round2SameRect">
            <a:avLst>
              <a:gd name="adj1" fmla="val 5000"/>
              <a:gd name="adj2" fmla="val 0"/>
            </a:avLst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editing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" y="5440362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edit</a:t>
            </a:r>
          </a:p>
        </p:txBody>
      </p:sp>
      <p:sp>
        <p:nvSpPr>
          <p:cNvPr id="29" name="Snip Single Corner Rectangle 28"/>
          <p:cNvSpPr/>
          <p:nvPr/>
        </p:nvSpPr>
        <p:spPr>
          <a:xfrm rot="120000">
            <a:off x="3568700" y="4170362"/>
            <a:ext cx="2286000" cy="1206500"/>
          </a:xfrm>
          <a:prstGeom prst="snip1Rect">
            <a:avLst/>
          </a:prstGeom>
          <a:solidFill>
            <a:srgbClr val="FFD3E4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final asset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1400" y="5440362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finalize</a:t>
            </a:r>
          </a:p>
        </p:txBody>
      </p:sp>
      <p:sp>
        <p:nvSpPr>
          <p:cNvPr id="31" name="Octagon 30"/>
          <p:cNvSpPr/>
          <p:nvPr/>
        </p:nvSpPr>
        <p:spPr>
          <a:xfrm rot="21480000">
            <a:off x="6121400" y="4170362"/>
            <a:ext cx="2286000" cy="1206500"/>
          </a:xfrm>
          <a:prstGeom prst="octagon">
            <a:avLst/>
          </a:prstGeom>
          <a:solidFill>
            <a:srgbClr val="D7F0E2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behind the scenes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34100" y="5440362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prepare</a:t>
            </a:r>
          </a:p>
        </p:txBody>
      </p:sp>
      <p:sp>
        <p:nvSpPr>
          <p:cNvPr id="33" name="Rounded Rectangle 32"/>
          <p:cNvSpPr/>
          <p:nvPr/>
        </p:nvSpPr>
        <p:spPr>
          <a:xfrm rot="180000">
            <a:off x="8674100" y="4170362"/>
            <a:ext cx="2286000" cy="120650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event documentation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440362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8B93A1"/>
                </a:solidFill>
                <a:latin typeface="Space Mono"/>
              </a:rPr>
              <a:t>create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937000"/>
            <a:ext cx="4953000" cy="3556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17000" y="-1016000"/>
            <a:ext cx="4445000" cy="33020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2500" y="762000"/>
            <a:ext cx="10287000" cy="5143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58800" dist="190500" dir="5400000" rotWithShape="0">
              <a:srgbClr val="24405E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5200" y="774700"/>
            <a:ext cx="10261600" cy="3683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4900" y="895350"/>
            <a:ext cx="101600" cy="1016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70000" y="895350"/>
            <a:ext cx="101600" cy="1016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35100" y="89535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27200" y="850900"/>
            <a:ext cx="87376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27200" y="850900"/>
            <a:ext cx="8737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www.zahralevina.com/tools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58900" y="1623974"/>
            <a:ext cx="5289252" cy="328087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7000" y="1371600"/>
            <a:ext cx="5715000" cy="788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0" i="0">
                <a:solidFill>
                  <a:srgbClr val="0D0D10"/>
                </a:solidFill>
                <a:latin typeface="Archivo Black"/>
              </a:rPr>
              <a:t>the tools i work with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7000" y="2350770"/>
            <a:ext cx="10795000" cy="30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spc="500">
                <a:solidFill>
                  <a:srgbClr val="8B93A1"/>
                </a:solidFill>
                <a:latin typeface="Space Mono"/>
              </a:rPr>
              <a:t>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7000" y="2728198"/>
            <a:ext cx="2667000" cy="889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397000" y="2855198"/>
            <a:ext cx="2667000" cy="3937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524000" y="2950448"/>
            <a:ext cx="203200" cy="203200"/>
          </a:xfrm>
          <a:prstGeom prst="roundRect">
            <a:avLst>
              <a:gd name="adj" fmla="val 22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1500" y="2855198"/>
            <a:ext cx="2095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0D0D10"/>
                </a:solidFill>
                <a:latin typeface="Inter"/>
              </a:rPr>
              <a:t>Canva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97000" y="3337798"/>
            <a:ext cx="2667000" cy="3937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24000" y="3433048"/>
            <a:ext cx="203200" cy="203200"/>
          </a:xfrm>
          <a:prstGeom prst="roundRect">
            <a:avLst>
              <a:gd name="adj" fmla="val 22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41500" y="3337798"/>
            <a:ext cx="2095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0D0D10"/>
                </a:solidFill>
                <a:latin typeface="Inter"/>
              </a:rPr>
              <a:t>Adobe Illustrator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97000" y="3820398"/>
            <a:ext cx="2667000" cy="3937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524000" y="3915648"/>
            <a:ext cx="203200" cy="203200"/>
          </a:xfrm>
          <a:prstGeom prst="roundRect">
            <a:avLst>
              <a:gd name="adj" fmla="val 22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41500" y="3820398"/>
            <a:ext cx="2095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0D0D10"/>
                </a:solidFill>
                <a:latin typeface="Inter"/>
              </a:rPr>
              <a:t>Adobe Photoshop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350770"/>
            <a:ext cx="10795000" cy="30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spc="500">
                <a:solidFill>
                  <a:srgbClr val="8B93A1"/>
                </a:solidFill>
                <a:latin typeface="Space Mono"/>
              </a:rPr>
              <a:t>video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728198"/>
            <a:ext cx="2667000" cy="889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0" y="2855198"/>
            <a:ext cx="2667000" cy="3937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99000" y="2950448"/>
            <a:ext cx="203200" cy="203200"/>
          </a:xfrm>
          <a:prstGeom prst="roundRect">
            <a:avLst>
              <a:gd name="adj" fmla="val 22000"/>
            </a:avLst>
          </a:prstGeom>
          <a:solidFill>
            <a:srgbClr val="FF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16500" y="2855198"/>
            <a:ext cx="2095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0D0D10"/>
                </a:solidFill>
                <a:latin typeface="Inter"/>
              </a:rPr>
              <a:t>CapCut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7000" y="2350770"/>
            <a:ext cx="10795000" cy="30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spc="500">
                <a:solidFill>
                  <a:srgbClr val="8B93A1"/>
                </a:solidFill>
                <a:latin typeface="Space Mono"/>
              </a:rPr>
              <a:t>workflow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47000" y="2728198"/>
            <a:ext cx="2667000" cy="889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47000" y="2855198"/>
            <a:ext cx="2667000" cy="3937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74000" y="2950448"/>
            <a:ext cx="203200" cy="203200"/>
          </a:xfrm>
          <a:prstGeom prst="roundRect">
            <a:avLst>
              <a:gd name="adj" fmla="val 22000"/>
            </a:avLst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1500" y="2855198"/>
            <a:ext cx="2095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0D0D10"/>
                </a:solidFill>
                <a:latin typeface="Inter"/>
              </a:rPr>
              <a:t>Google Workspace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47000" y="3337798"/>
            <a:ext cx="2667000" cy="393700"/>
          </a:xfrm>
          <a:prstGeom prst="roundRect">
            <a:avLst>
              <a:gd name="adj" fmla="val 1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874000" y="3433048"/>
            <a:ext cx="203200" cy="203200"/>
          </a:xfrm>
          <a:prstGeom prst="roundRect">
            <a:avLst>
              <a:gd name="adj" fmla="val 22000"/>
            </a:avLst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91500" y="3337798"/>
            <a:ext cx="2095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0D0D10"/>
                </a:solidFill>
                <a:latin typeface="Inter"/>
              </a:rPr>
              <a:t>Microsoft Office</a:t>
            </a:r>
          </a:p>
        </p:txBody>
      </p:sp>
      <p:sp>
        <p:nvSpPr>
          <p:cNvPr id="38" name="Rectangle 37"/>
          <p:cNvSpPr/>
          <p:nvPr/>
        </p:nvSpPr>
        <p:spPr>
          <a:xfrm rot="21540000">
            <a:off x="1397000" y="4699000"/>
            <a:ext cx="5715000" cy="825500"/>
          </a:xfrm>
          <a:prstGeom prst="rect">
            <a:avLst/>
          </a:prstGeom>
          <a:solidFill>
            <a:srgbClr val="FFE45C"/>
          </a:solidFill>
          <a:ln>
            <a:noFill/>
          </a:ln>
          <a:effectLst>
            <a:outerShdw blurRad="177800" dist="63500" dir="5400000" rotWithShape="0">
              <a:srgbClr val="24405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11300" y="4787900"/>
            <a:ext cx="54864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0D0D10"/>
                </a:solidFill>
                <a:latin typeface="Space Mono"/>
              </a:rPr>
              <a:t>I'm comfortable learning new digital tools and adapting my workflow depending on the content, platform, and project.</a:t>
            </a:r>
          </a:p>
        </p:txBody>
      </p:sp>
      <p:sp>
        <p:nvSpPr>
          <p:cNvPr id="40" name="Round Same Side Corner Rectangle 39"/>
          <p:cNvSpPr/>
          <p:nvPr/>
        </p:nvSpPr>
        <p:spPr>
          <a:xfrm>
            <a:off x="8445500" y="3683000"/>
            <a:ext cx="1905000" cy="1778000"/>
          </a:xfrm>
          <a:prstGeom prst="round2SameRect">
            <a:avLst>
              <a:gd name="adj1" fmla="val 5000"/>
              <a:gd name="adj2" fmla="val 0"/>
            </a:avLst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photo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010900" y="2032000"/>
            <a:ext cx="480060" cy="127000"/>
          </a:xfrm>
          <a:prstGeom prst="rect">
            <a:avLst/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010900" y="2146300"/>
            <a:ext cx="1143000" cy="698500"/>
          </a:xfrm>
          <a:prstGeom prst="rect">
            <a:avLst/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12500" y="2146300"/>
            <a:ext cx="939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0D0D10"/>
                </a:solidFill>
                <a:latin typeface="Space Mono"/>
              </a:rPr>
              <a:t>exports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937000"/>
            <a:ext cx="4953000" cy="355600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17000" y="-1016000"/>
            <a:ext cx="4445000" cy="33020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78000" y="825500"/>
            <a:ext cx="8636000" cy="4699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58800" dist="190500" dir="5400000" rotWithShape="0">
              <a:srgbClr val="24405E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90700" y="838200"/>
            <a:ext cx="8610600" cy="3683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30400" y="958850"/>
            <a:ext cx="101600" cy="1016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95500" y="958850"/>
            <a:ext cx="101600" cy="1016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60600" y="95885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52700" y="914400"/>
            <a:ext cx="70866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52700" y="914400"/>
            <a:ext cx="7086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mail — new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2500" y="1587500"/>
            <a:ext cx="10795000" cy="30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 spc="600">
                <a:solidFill>
                  <a:srgbClr val="8B93A1"/>
                </a:solidFill>
                <a:latin typeface="Space Mono"/>
              </a:rPr>
              <a:t>say hi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84400" y="2227361"/>
            <a:ext cx="4877594" cy="291633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2500" y="2003028"/>
            <a:ext cx="5258594" cy="701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0D0D10"/>
                </a:solidFill>
                <a:latin typeface="Archivo Black"/>
              </a:rPr>
              <a:t>let's make something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2500" y="2704068"/>
            <a:ext cx="5207000" cy="8324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 i="0">
                <a:solidFill>
                  <a:srgbClr val="0D0D10"/>
                </a:solidFill>
                <a:latin typeface="Archivo Black"/>
              </a:rPr>
              <a:t>worth sharing.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2500" y="3676253"/>
            <a:ext cx="10795000" cy="416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 i="0">
                <a:solidFill>
                  <a:srgbClr val="0D0D10"/>
                </a:solidFill>
                <a:latin typeface="Archivo Black"/>
              </a:rPr>
              <a:t>Zahra Levina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2500" y="4130596"/>
            <a:ext cx="10795000" cy="282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spc="200">
                <a:solidFill>
                  <a:srgbClr val="8B93A1"/>
                </a:solidFill>
                <a:latin typeface="Space Mono"/>
              </a:rPr>
              <a:t>Content Production  ·  Creative · Social Media · Visual 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2500" y="4553268"/>
            <a:ext cx="1397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 spc="300">
                <a:solidFill>
                  <a:srgbClr val="8B93A1"/>
                </a:solidFill>
                <a:latin typeface="Space Mono"/>
              </a:rPr>
              <a:t>whatsapp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3000" y="4553268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0D0D10"/>
                </a:solidFill>
                <a:latin typeface="Inter"/>
              </a:rPr>
              <a:t>+62 8xx-xxxx-xxxx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22500" y="4870768"/>
            <a:ext cx="5588000" cy="635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22500" y="4946968"/>
            <a:ext cx="1397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 spc="300">
                <a:solidFill>
                  <a:srgbClr val="8B93A1"/>
                </a:solidFill>
                <a:latin typeface="Space Mono"/>
              </a:rP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3000" y="4946968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0D0D10"/>
                </a:solidFill>
                <a:latin typeface="Inter"/>
              </a:rPr>
              <a:t>hello@email.com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22500" y="5264468"/>
            <a:ext cx="5588000" cy="635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22500" y="5340668"/>
            <a:ext cx="1397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 spc="300">
                <a:solidFill>
                  <a:srgbClr val="8B93A1"/>
                </a:solidFill>
                <a:latin typeface="Space Mono"/>
              </a:rPr>
              <a:t>linkedin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3000" y="5340668"/>
            <a:ext cx="444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0D0D10"/>
                </a:solidFill>
                <a:latin typeface="Inter"/>
              </a:rPr>
              <a:t>linkedin.com/in/username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22500" y="5658168"/>
            <a:ext cx="5588000" cy="635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>
            <a:off x="8509000" y="1841500"/>
            <a:ext cx="1587500" cy="2032000"/>
          </a:xfrm>
          <a:prstGeom prst="round2SameRect">
            <a:avLst>
              <a:gd name="adj1" fmla="val 5000"/>
              <a:gd name="adj2" fmla="val 0"/>
            </a:avLst>
          </a:prstGeom>
          <a:solidFill>
            <a:srgbClr val="F3F5F9"/>
          </a:solidFill>
          <a:ln w="25400">
            <a:solidFill>
              <a:srgbClr val="D5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8B93A1"/>
                </a:solidFill>
                <a:latin typeface="Inter"/>
              </a:rPr>
              <a:t>photo</a:t>
            </a:r>
          </a:p>
        </p:txBody>
      </p:sp>
      <p:sp>
        <p:nvSpPr>
          <p:cNvPr id="28" name="Rectangle 27"/>
          <p:cNvSpPr/>
          <p:nvPr/>
        </p:nvSpPr>
        <p:spPr>
          <a:xfrm rot="120000">
            <a:off x="8509000" y="4064000"/>
            <a:ext cx="1587500" cy="825500"/>
          </a:xfrm>
          <a:prstGeom prst="rect">
            <a:avLst/>
          </a:prstGeom>
          <a:solidFill>
            <a:srgbClr val="FFE45C"/>
          </a:solidFill>
          <a:ln>
            <a:noFill/>
          </a:ln>
          <a:effectLst>
            <a:outerShdw blurRad="177800" dist="63500" dir="5400000" rotWithShape="0">
              <a:srgbClr val="24405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23300" y="4152900"/>
            <a:ext cx="13589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0D0D10"/>
                </a:solidFill>
                <a:latin typeface="Space Mono"/>
              </a:rPr>
              <a:t>open to new
content projects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45000" y="6261100"/>
            <a:ext cx="3302000" cy="4826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>
            <a:outerShdw blurRad="330200" dist="101600" dir="5400000" rotWithShape="0">
              <a:srgbClr val="24405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10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118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26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34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42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150100" y="6343650"/>
            <a:ext cx="317500" cy="317500"/>
          </a:xfrm>
          <a:prstGeom prst="roundRect">
            <a:avLst>
              <a:gd name="adj" fmla="val 26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