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7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700" y="177800"/>
            <a:ext cx="406400" cy="406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1950" y="273050"/>
            <a:ext cx="215900" cy="2159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88900"/>
            <a:ext cx="6985000" cy="8945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00000"/>
                </a:solidFill>
                <a:latin typeface="Anton"/>
              </a:rPr>
              <a:t>zahra levina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80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online now</a:t>
            </a:r>
          </a:p>
        </p:txBody>
      </p:sp>
      <p:sp>
        <p:nvSpPr>
          <p:cNvPr id="9" name="Oval 8"/>
          <p:cNvSpPr/>
          <p:nvPr/>
        </p:nvSpPr>
        <p:spPr>
          <a:xfrm>
            <a:off x="11760200" y="2794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60200" y="38735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60200" y="4953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600" y="6248400"/>
            <a:ext cx="9906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6248400"/>
            <a:ext cx="762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413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712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06450"/>
            <a:ext cx="12192000" cy="52006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8500" y="1054100"/>
            <a:ext cx="3937000" cy="732155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977900" y="1760855"/>
            <a:ext cx="215900" cy="16510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0600" y="1735455"/>
            <a:ext cx="1905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000" y="1168400"/>
            <a:ext cx="3556000" cy="5162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Poppins"/>
              </a:rPr>
              <a:t>hey!! welcome 2 my portfolio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8500" y="2002155"/>
            <a:ext cx="4699000" cy="1047115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 rot="10800000">
            <a:off x="977900" y="3023870"/>
            <a:ext cx="215900" cy="16510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0600" y="2998470"/>
            <a:ext cx="1905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9000" y="2116455"/>
            <a:ext cx="4318000" cy="831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Poppins"/>
              </a:rPr>
              <a:t>content production · social media · visual storytelling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8500" y="3265170"/>
            <a:ext cx="5197466" cy="304800"/>
          </a:xfrm>
          <a:prstGeom prst="roundRect">
            <a:avLst>
              <a:gd name="adj" fmla="val 40000"/>
            </a:avLst>
          </a:prstGeom>
          <a:solidFill>
            <a:srgbClr val="00000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2026  ·  CONTENT PRODUCTION  · 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671570"/>
            <a:ext cx="10795000" cy="12140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 i="0">
                <a:solidFill>
                  <a:srgbClr val="000000"/>
                </a:solidFill>
                <a:latin typeface="Anton"/>
              </a:rPr>
              <a:t>CONTENT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85611"/>
            <a:ext cx="4826000" cy="12140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 i="0">
                <a:solidFill>
                  <a:srgbClr val="000000"/>
                </a:solidFill>
                <a:latin typeface="Anton"/>
              </a:rPr>
              <a:t>PRODUCTION</a:t>
            </a:r>
          </a:p>
        </p:txBody>
      </p:sp>
      <p:sp>
        <p:nvSpPr>
          <p:cNvPr id="30" name="16-Point Star 29"/>
          <p:cNvSpPr/>
          <p:nvPr/>
        </p:nvSpPr>
        <p:spPr>
          <a:xfrm rot="720000">
            <a:off x="6400800" y="914400"/>
            <a:ext cx="1714500" cy="1714500"/>
          </a:xfrm>
          <a:prstGeom prst="star16">
            <a:avLst/>
          </a:prstGeom>
          <a:solidFill>
            <a:srgbClr val="9BE22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 rot="21360000">
            <a:off x="6731000" y="1206500"/>
            <a:ext cx="317500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drop portrait</a:t>
            </a:r>
          </a:p>
        </p:txBody>
      </p:sp>
      <p:sp>
        <p:nvSpPr>
          <p:cNvPr id="32" name="Oval 31"/>
          <p:cNvSpPr/>
          <p:nvPr/>
        </p:nvSpPr>
        <p:spPr>
          <a:xfrm rot="360000">
            <a:off x="9525000" y="3556000"/>
            <a:ext cx="1460500" cy="1460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photo</a:t>
            </a:r>
          </a:p>
        </p:txBody>
      </p:sp>
      <p:sp>
        <p:nvSpPr>
          <p:cNvPr id="33" name="16-Point Star 32"/>
          <p:cNvSpPr/>
          <p:nvPr/>
        </p:nvSpPr>
        <p:spPr>
          <a:xfrm rot="1200000">
            <a:off x="5588000" y="4064000"/>
            <a:ext cx="825500" cy="825500"/>
          </a:xfrm>
          <a:prstGeom prst="star16">
            <a:avLst/>
          </a:prstGeom>
          <a:solidFill>
            <a:srgbClr val="FF3B30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88000" y="4064000"/>
            <a:ext cx="8255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Anton"/>
              </a:rPr>
              <a:t>NEW</a:t>
            </a:r>
          </a:p>
        </p:txBody>
      </p:sp>
      <p:sp>
        <p:nvSpPr>
          <p:cNvPr id="35" name="Oval 34"/>
          <p:cNvSpPr/>
          <p:nvPr/>
        </p:nvSpPr>
        <p:spPr>
          <a:xfrm>
            <a:off x="11049000" y="1333500"/>
            <a:ext cx="419100" cy="4191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141202" y="1425702"/>
            <a:ext cx="234696" cy="234696"/>
          </a:xfrm>
          <a:prstGeom prst="ellipse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7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700" y="177800"/>
            <a:ext cx="406400" cy="406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1950" y="273050"/>
            <a:ext cx="215900" cy="2159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88900"/>
            <a:ext cx="6985000" cy="8945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00000"/>
                </a:solidFill>
                <a:latin typeface="Anton"/>
              </a:rPr>
              <a:t>about 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80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2 new messages</a:t>
            </a:r>
          </a:p>
        </p:txBody>
      </p:sp>
      <p:sp>
        <p:nvSpPr>
          <p:cNvPr id="9" name="Oval 8"/>
          <p:cNvSpPr/>
          <p:nvPr/>
        </p:nvSpPr>
        <p:spPr>
          <a:xfrm>
            <a:off x="11760200" y="2794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60200" y="38735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60200" y="4953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600" y="6248400"/>
            <a:ext cx="9906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6248400"/>
            <a:ext cx="762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413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712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06450"/>
            <a:ext cx="12192000" cy="52006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500" y="990600"/>
            <a:ext cx="5715000" cy="11136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0" i="0">
                <a:solidFill>
                  <a:srgbClr val="000000"/>
                </a:solidFill>
                <a:latin typeface="Anton"/>
              </a:rPr>
              <a:t>HI, I'M ZAHRA.</a:t>
            </a:r>
          </a:p>
        </p:txBody>
      </p:sp>
      <p:sp>
        <p:nvSpPr>
          <p:cNvPr id="20" name="Oval 19"/>
          <p:cNvSpPr/>
          <p:nvPr/>
        </p:nvSpPr>
        <p:spPr>
          <a:xfrm>
            <a:off x="254000" y="1879600"/>
            <a:ext cx="342900" cy="3429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9438" y="1955038"/>
            <a:ext cx="192024" cy="192024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8500" y="1587500"/>
            <a:ext cx="6477000" cy="1430973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977900" y="2993072"/>
            <a:ext cx="215900" cy="16510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0600" y="2967672"/>
            <a:ext cx="1905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000" y="1701800"/>
            <a:ext cx="6096000" cy="12150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Poppins"/>
              </a:rPr>
              <a:t>I work across content, creative, and communication — from developing visual ideas and social media content to supporting events, campaigns, and brand collaborations.</a:t>
            </a:r>
          </a:p>
        </p:txBody>
      </p:sp>
      <p:sp>
        <p:nvSpPr>
          <p:cNvPr id="26" name="Oval 25"/>
          <p:cNvSpPr/>
          <p:nvPr/>
        </p:nvSpPr>
        <p:spPr>
          <a:xfrm>
            <a:off x="254000" y="3526472"/>
            <a:ext cx="342900" cy="3429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29438" y="3601910"/>
            <a:ext cx="192024" cy="192024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8500" y="3234372"/>
            <a:ext cx="6477000" cy="1430973"/>
          </a:xfrm>
          <a:prstGeom prst="roundRect">
            <a:avLst>
              <a:gd name="adj" fmla="val 30000"/>
            </a:avLst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977900" y="4639945"/>
            <a:ext cx="215900" cy="165100"/>
          </a:xfrm>
          <a:prstGeom prst="triangle">
            <a:avLst/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0600" y="4614545"/>
            <a:ext cx="190500" cy="50800"/>
          </a:xfrm>
          <a:prstGeom prst="rect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9000" y="3348672"/>
            <a:ext cx="6096000" cy="121507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350" b="0" i="0">
                <a:solidFill>
                  <a:srgbClr val="000000"/>
                </a:solidFill>
                <a:latin typeface="Poppins"/>
              </a:rPr>
              <a:t>I enjoy the hands-on side of creative work: preparing, creating, editing, organizing, and turning an idea into something ready to share.</a:t>
            </a:r>
          </a:p>
        </p:txBody>
      </p:sp>
      <p:sp>
        <p:nvSpPr>
          <p:cNvPr id="32" name="16-Point Star 31"/>
          <p:cNvSpPr/>
          <p:nvPr/>
        </p:nvSpPr>
        <p:spPr>
          <a:xfrm rot="720000">
            <a:off x="7543800" y="977900"/>
            <a:ext cx="1460500" cy="1460500"/>
          </a:xfrm>
          <a:prstGeom prst="star16">
            <a:avLst/>
          </a:prstGeom>
          <a:solidFill>
            <a:srgbClr val="FF7BC4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 rot="300000">
            <a:off x="7874000" y="1270000"/>
            <a:ext cx="2667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drop portrait</a:t>
            </a:r>
          </a:p>
        </p:txBody>
      </p:sp>
      <p:sp>
        <p:nvSpPr>
          <p:cNvPr id="34" name="Snip Diagonal Corner Rectangle 33"/>
          <p:cNvSpPr/>
          <p:nvPr/>
        </p:nvSpPr>
        <p:spPr>
          <a:xfrm rot="21240000">
            <a:off x="9906000" y="4064000"/>
            <a:ext cx="1651000" cy="1397000"/>
          </a:xfrm>
          <a:prstGeom prst="snip2Diag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photo</a:t>
            </a:r>
          </a:p>
        </p:txBody>
      </p:sp>
      <p:sp>
        <p:nvSpPr>
          <p:cNvPr id="35" name="16-Point Star 34"/>
          <p:cNvSpPr/>
          <p:nvPr/>
        </p:nvSpPr>
        <p:spPr>
          <a:xfrm rot="480000">
            <a:off x="7239000" y="4445000"/>
            <a:ext cx="698500" cy="698500"/>
          </a:xfrm>
          <a:prstGeom prst="star16">
            <a:avLst/>
          </a:prstGeom>
          <a:solidFill>
            <a:srgbClr val="2B6C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7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700" y="177800"/>
            <a:ext cx="406400" cy="406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1950" y="273050"/>
            <a:ext cx="215900" cy="2159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88900"/>
            <a:ext cx="6985000" cy="8945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00000"/>
                </a:solidFill>
                <a:latin typeface="Anton"/>
              </a:rPr>
              <a:t>from idea to publish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80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how it actually goes</a:t>
            </a:r>
          </a:p>
        </p:txBody>
      </p:sp>
      <p:sp>
        <p:nvSpPr>
          <p:cNvPr id="9" name="Oval 8"/>
          <p:cNvSpPr/>
          <p:nvPr/>
        </p:nvSpPr>
        <p:spPr>
          <a:xfrm>
            <a:off x="11760200" y="2794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60200" y="38735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60200" y="4953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600" y="6248400"/>
            <a:ext cx="9906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6248400"/>
            <a:ext cx="762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413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712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06450"/>
            <a:ext cx="12192000" cy="52006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400" y="1206500"/>
            <a:ext cx="14732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400" y="1206500"/>
            <a:ext cx="1473200" cy="330200"/>
          </a:xfrm>
          <a:prstGeom prst="rect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400" y="1517650"/>
            <a:ext cx="14732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400" y="1206500"/>
            <a:ext cx="1473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00" b="0" i="0" spc="200">
                <a:solidFill>
                  <a:srgbClr val="FFFFFF"/>
                </a:solidFill>
                <a:latin typeface="Space Mono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" y="1587500"/>
            <a:ext cx="14732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Anton"/>
              </a:rPr>
              <a:t>IDEA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73300" y="1206500"/>
            <a:ext cx="14732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73300" y="1206500"/>
            <a:ext cx="1473200" cy="330200"/>
          </a:xfrm>
          <a:prstGeom prst="rect">
            <a:avLst/>
          </a:prstGeom>
          <a:solidFill>
            <a:srgbClr val="9BE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73300" y="1517650"/>
            <a:ext cx="14732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73300" y="1206500"/>
            <a:ext cx="1473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00" b="0" i="0" spc="200">
                <a:solidFill>
                  <a:srgbClr val="000000"/>
                </a:solidFill>
                <a:latin typeface="Space Mono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73300" y="1587500"/>
            <a:ext cx="14732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Anton"/>
              </a:rPr>
              <a:t>PLAN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6200" y="1206500"/>
            <a:ext cx="14732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86200" y="1206500"/>
            <a:ext cx="1473200" cy="3302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86200" y="1517650"/>
            <a:ext cx="14732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1206500"/>
            <a:ext cx="1473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00" b="0" i="0" spc="200">
                <a:solidFill>
                  <a:srgbClr val="FFFFFF"/>
                </a:solidFill>
                <a:latin typeface="Space Mono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1587500"/>
            <a:ext cx="14732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Anton"/>
              </a:rPr>
              <a:t>PREPARE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99100" y="1206500"/>
            <a:ext cx="14732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99100" y="1206500"/>
            <a:ext cx="1473200" cy="330200"/>
          </a:xfrm>
          <a:prstGeom prst="rect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99100" y="1517650"/>
            <a:ext cx="14732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99100" y="1206500"/>
            <a:ext cx="1473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00" b="0" i="0" spc="200">
                <a:solidFill>
                  <a:srgbClr val="000000"/>
                </a:solidFill>
                <a:latin typeface="Space Mono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99100" y="1587500"/>
            <a:ext cx="14732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Anton"/>
              </a:rPr>
              <a:t>PRODUCE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12000" y="1206500"/>
            <a:ext cx="14732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12000" y="1206500"/>
            <a:ext cx="1473200" cy="330200"/>
          </a:xfrm>
          <a:prstGeom prst="rect">
            <a:avLst/>
          </a:prstGeom>
          <a:solidFill>
            <a:srgbClr val="FF3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12000" y="1517650"/>
            <a:ext cx="14732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12000" y="1206500"/>
            <a:ext cx="1473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00" b="0" i="0" spc="200">
                <a:solidFill>
                  <a:srgbClr val="FFFFFF"/>
                </a:solidFill>
                <a:latin typeface="Space Mono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2000" y="1587500"/>
            <a:ext cx="14732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Anton"/>
              </a:rPr>
              <a:t>EDIT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24900" y="1206500"/>
            <a:ext cx="14732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24900" y="1206500"/>
            <a:ext cx="1473200" cy="330200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24900" y="1517650"/>
            <a:ext cx="14732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24900" y="1206500"/>
            <a:ext cx="1473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00" b="0" i="0" spc="200">
                <a:solidFill>
                  <a:srgbClr val="000000"/>
                </a:solidFill>
                <a:latin typeface="Space Mono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24900" y="1587500"/>
            <a:ext cx="14732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Anton"/>
              </a:rPr>
              <a:t>CHECK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337800" y="1206500"/>
            <a:ext cx="14732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37800" y="1206500"/>
            <a:ext cx="1473200" cy="330200"/>
          </a:xfrm>
          <a:prstGeom prst="rect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337800" y="1517650"/>
            <a:ext cx="14732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37800" y="1206500"/>
            <a:ext cx="14732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00" b="0" i="0" spc="200">
                <a:solidFill>
                  <a:srgbClr val="FFFFFF"/>
                </a:solidFill>
                <a:latin typeface="Space Mono"/>
              </a:rPr>
              <a:t>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7800" y="1587500"/>
            <a:ext cx="14732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Anton"/>
              </a:rPr>
              <a:t>PUBLISH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8500" y="2451100"/>
            <a:ext cx="6350000" cy="7026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Isosceles Triangle 54"/>
          <p:cNvSpPr/>
          <p:nvPr/>
        </p:nvSpPr>
        <p:spPr>
          <a:xfrm rot="10800000">
            <a:off x="977900" y="3128328"/>
            <a:ext cx="215900" cy="16510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90600" y="3102928"/>
            <a:ext cx="1905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9000" y="2565400"/>
            <a:ext cx="5969000" cy="486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Poppins"/>
              </a:rPr>
              <a:t>Good content is not only about the final visual.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8500" y="3369628"/>
            <a:ext cx="6985000" cy="1066800"/>
          </a:xfrm>
          <a:prstGeom prst="roundRect">
            <a:avLst>
              <a:gd name="adj" fmla="val 30000"/>
            </a:avLst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Isosceles Triangle 58"/>
          <p:cNvSpPr/>
          <p:nvPr/>
        </p:nvSpPr>
        <p:spPr>
          <a:xfrm rot="10800000">
            <a:off x="977900" y="4411028"/>
            <a:ext cx="215900" cy="165100"/>
          </a:xfrm>
          <a:prstGeom prst="triangle">
            <a:avLst/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90600" y="4385628"/>
            <a:ext cx="190500" cy="50800"/>
          </a:xfrm>
          <a:prstGeom prst="rect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89000" y="3483928"/>
            <a:ext cx="6604000" cy="850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It is also about the details behind it — preparation, consistency, timing, and making sure everything is ready before it goes live.</a:t>
            </a:r>
          </a:p>
        </p:txBody>
      </p:sp>
      <p:sp>
        <p:nvSpPr>
          <p:cNvPr id="62" name="16-Point Star 61"/>
          <p:cNvSpPr/>
          <p:nvPr/>
        </p:nvSpPr>
        <p:spPr>
          <a:xfrm rot="720000">
            <a:off x="7670800" y="2247900"/>
            <a:ext cx="1016000" cy="1016000"/>
          </a:xfrm>
          <a:prstGeom prst="star16">
            <a:avLst/>
          </a:prstGeom>
          <a:solidFill>
            <a:srgbClr val="9BE22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 rot="240000">
            <a:off x="8001000" y="2540000"/>
            <a:ext cx="2032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content prep</a:t>
            </a:r>
          </a:p>
        </p:txBody>
      </p:sp>
      <p:sp>
        <p:nvSpPr>
          <p:cNvPr id="64" name="Oval 63"/>
          <p:cNvSpPr/>
          <p:nvPr/>
        </p:nvSpPr>
        <p:spPr>
          <a:xfrm rot="21360000">
            <a:off x="10160000" y="2794000"/>
            <a:ext cx="1270000" cy="1270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photo</a:t>
            </a:r>
          </a:p>
        </p:txBody>
      </p:sp>
      <p:sp>
        <p:nvSpPr>
          <p:cNvPr id="65" name="Snip Diagonal Corner Rectangle 64"/>
          <p:cNvSpPr/>
          <p:nvPr/>
        </p:nvSpPr>
        <p:spPr>
          <a:xfrm rot="120000">
            <a:off x="8255000" y="4191000"/>
            <a:ext cx="2921000" cy="1270000"/>
          </a:xfrm>
          <a:prstGeom prst="snip2Diag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photo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7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700" y="177800"/>
            <a:ext cx="406400" cy="406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1950" y="273050"/>
            <a:ext cx="215900" cy="2159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88900"/>
            <a:ext cx="6985000" cy="8945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00000"/>
                </a:solidFill>
                <a:latin typeface="Anton"/>
              </a:rPr>
              <a:t>content, in different forms.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80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4 buckets</a:t>
            </a:r>
          </a:p>
        </p:txBody>
      </p:sp>
      <p:sp>
        <p:nvSpPr>
          <p:cNvPr id="9" name="Oval 8"/>
          <p:cNvSpPr/>
          <p:nvPr/>
        </p:nvSpPr>
        <p:spPr>
          <a:xfrm>
            <a:off x="11760200" y="2794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60200" y="38735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60200" y="4953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600" y="6248400"/>
            <a:ext cx="9906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6248400"/>
            <a:ext cx="762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413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712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06450"/>
            <a:ext cx="12192000" cy="52006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400" y="1092200"/>
            <a:ext cx="2616200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400" y="1092200"/>
            <a:ext cx="2616200" cy="393700"/>
          </a:xfrm>
          <a:prstGeom prst="rect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400" y="1466850"/>
            <a:ext cx="26162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400" y="1092200"/>
            <a:ext cx="26162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Anton"/>
              </a:rPr>
              <a:t>SOCIAL</a:t>
            </a:r>
          </a:p>
        </p:txBody>
      </p:sp>
      <p:sp>
        <p:nvSpPr>
          <p:cNvPr id="23" name="Oval 22"/>
          <p:cNvSpPr/>
          <p:nvPr/>
        </p:nvSpPr>
        <p:spPr>
          <a:xfrm rot="21420000">
            <a:off x="952500" y="1638300"/>
            <a:ext cx="2032000" cy="1206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8200" y="30480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7900" y="30480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Instagram content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8200" y="36576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900" y="36576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Stories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200" y="42672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7900" y="42672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Promotional posts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8200" y="48768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7900" y="48768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Campaign content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54400" y="1092200"/>
            <a:ext cx="2616200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54400" y="1092200"/>
            <a:ext cx="2616200" cy="393700"/>
          </a:xfrm>
          <a:prstGeom prst="rect">
            <a:avLst/>
          </a:prstGeom>
          <a:solidFill>
            <a:srgbClr val="9BE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54400" y="1466850"/>
            <a:ext cx="26162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54400" y="1092200"/>
            <a:ext cx="26162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Anton"/>
              </a:rPr>
              <a:t>VISUAL</a:t>
            </a:r>
          </a:p>
        </p:txBody>
      </p:sp>
      <p:sp>
        <p:nvSpPr>
          <p:cNvPr id="36" name="Hexagon 35"/>
          <p:cNvSpPr/>
          <p:nvPr/>
        </p:nvSpPr>
        <p:spPr>
          <a:xfrm rot="180000">
            <a:off x="3746500" y="1638300"/>
            <a:ext cx="2032000" cy="1206500"/>
          </a:xfrm>
          <a:prstGeom prst="hexagon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/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32200" y="30480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71900" y="30480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Graphic design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32200" y="36576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71900" y="36576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Layout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32200" y="42672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71900" y="42672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Visual direction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32200" y="48768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71900" y="48768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Brand materials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48400" y="1092200"/>
            <a:ext cx="2616200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48400" y="1092200"/>
            <a:ext cx="2616200" cy="3937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48400" y="1466850"/>
            <a:ext cx="26162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48400" y="1092200"/>
            <a:ext cx="26162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Anton"/>
              </a:rPr>
              <a:t>PRODUCTION</a:t>
            </a:r>
          </a:p>
        </p:txBody>
      </p:sp>
      <p:sp>
        <p:nvSpPr>
          <p:cNvPr id="49" name="Round Same Side Corner Rectangle 48"/>
          <p:cNvSpPr/>
          <p:nvPr/>
        </p:nvSpPr>
        <p:spPr>
          <a:xfrm rot="21420000">
            <a:off x="6540500" y="1638300"/>
            <a:ext cx="2032000" cy="1206500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/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26200" y="30480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65900" y="30480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Event documentation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26200" y="36576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5900" y="36576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Content preparation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26200" y="42672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65900" y="42672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Creative coordination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26200" y="48768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65900" y="48768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Production support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42400" y="1092200"/>
            <a:ext cx="2616200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42400" y="1092200"/>
            <a:ext cx="2616200" cy="393700"/>
          </a:xfrm>
          <a:prstGeom prst="rect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042400" y="1466850"/>
            <a:ext cx="26162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42400" y="1092200"/>
            <a:ext cx="26162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Anton"/>
              </a:rPr>
              <a:t>EDITING</a:t>
            </a:r>
          </a:p>
        </p:txBody>
      </p:sp>
      <p:sp>
        <p:nvSpPr>
          <p:cNvPr id="62" name="Snip Diagonal Corner Rectangle 61"/>
          <p:cNvSpPr/>
          <p:nvPr/>
        </p:nvSpPr>
        <p:spPr>
          <a:xfrm rot="180000">
            <a:off x="9334500" y="1638300"/>
            <a:ext cx="2032000" cy="1206500"/>
          </a:xfrm>
          <a:prstGeom prst="snip2Diag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/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20200" y="30480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59900" y="30480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Photo editing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20200" y="36576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59900" y="36576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Video editing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20200" y="42672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59900" y="42672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Short-form content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220200" y="4876800"/>
            <a:ext cx="2260600" cy="4826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59900" y="4876800"/>
            <a:ext cx="20320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000000"/>
                </a:solidFill>
                <a:latin typeface="Poppins"/>
              </a:rPr>
              <a:t>Final asset preparation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7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700" y="177800"/>
            <a:ext cx="406400" cy="406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1950" y="273050"/>
            <a:ext cx="215900" cy="2159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88900"/>
            <a:ext cx="6985000" cy="8945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00000"/>
                </a:solidFill>
                <a:latin typeface="Anton"/>
              </a:rPr>
              <a:t>sawala 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80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wellness community &amp; event project</a:t>
            </a:r>
          </a:p>
        </p:txBody>
      </p:sp>
      <p:sp>
        <p:nvSpPr>
          <p:cNvPr id="9" name="Oval 8"/>
          <p:cNvSpPr/>
          <p:nvPr/>
        </p:nvSpPr>
        <p:spPr>
          <a:xfrm>
            <a:off x="11760200" y="2794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60200" y="38735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60200" y="4953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600" y="6248400"/>
            <a:ext cx="9906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6248400"/>
            <a:ext cx="762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413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712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06450"/>
            <a:ext cx="12192000" cy="52006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16-Point Star 18"/>
          <p:cNvSpPr/>
          <p:nvPr/>
        </p:nvSpPr>
        <p:spPr>
          <a:xfrm rot="720000">
            <a:off x="368300" y="850900"/>
            <a:ext cx="1778000" cy="1778000"/>
          </a:xfrm>
          <a:prstGeom prst="star16">
            <a:avLst/>
          </a:prstGeom>
          <a:solidFill>
            <a:srgbClr val="9BE22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 rot="21360000">
            <a:off x="698500" y="1143000"/>
            <a:ext cx="35560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event visual</a:t>
            </a:r>
          </a:p>
        </p:txBody>
      </p:sp>
      <p:sp>
        <p:nvSpPr>
          <p:cNvPr id="21" name="Oval 20"/>
          <p:cNvSpPr/>
          <p:nvPr/>
        </p:nvSpPr>
        <p:spPr>
          <a:xfrm rot="240000">
            <a:off x="825500" y="4381500"/>
            <a:ext cx="1270000" cy="1270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promo content</a:t>
            </a:r>
          </a:p>
        </p:txBody>
      </p:sp>
      <p:sp>
        <p:nvSpPr>
          <p:cNvPr id="22" name="Snip Diagonal Corner Rectangle 21"/>
          <p:cNvSpPr/>
          <p:nvPr/>
        </p:nvSpPr>
        <p:spPr>
          <a:xfrm rot="21420000">
            <a:off x="2286000" y="4381500"/>
            <a:ext cx="1905000" cy="1270000"/>
          </a:xfrm>
          <a:prstGeom prst="snip2Diag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social 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5500" y="977900"/>
            <a:ext cx="6350000" cy="11592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0" i="0">
                <a:solidFill>
                  <a:srgbClr val="000000"/>
                </a:solidFill>
                <a:latin typeface="Anton"/>
              </a:rPr>
              <a:t>SAWALA SPACE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5500" y="2213372"/>
            <a:ext cx="6667500" cy="1854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10800000">
            <a:off x="4914900" y="4042172"/>
            <a:ext cx="215900" cy="16510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27600" y="4016772"/>
            <a:ext cx="1905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6000" y="2327672"/>
            <a:ext cx="62865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As a co-founder, I work across the creative side of Sawala Space — developing event concepts, creating promotional content, managing social media materials, communicating with brand partners, and supporting event execution.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5500" y="4321572"/>
            <a:ext cx="10795000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 spc="300">
                <a:solidFill>
                  <a:srgbClr val="000000"/>
                </a:solidFill>
                <a:latin typeface="Space Mono"/>
              </a:rPr>
              <a:t>MY ROLE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35500" y="4775597"/>
            <a:ext cx="1098006" cy="304800"/>
          </a:xfrm>
          <a:prstGeom prst="roundRect">
            <a:avLst>
              <a:gd name="adj" fmla="val 40000"/>
            </a:avLst>
          </a:prstGeom>
          <a:solidFill>
            <a:srgbClr val="FF7BC4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CONCEPT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9706" y="4775597"/>
            <a:ext cx="1098006" cy="304800"/>
          </a:xfrm>
          <a:prstGeom prst="roundRect">
            <a:avLst>
              <a:gd name="adj" fmla="val 40000"/>
            </a:avLst>
          </a:prstGeom>
          <a:solidFill>
            <a:srgbClr val="9BE22B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CONTENT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83913" y="4775597"/>
            <a:ext cx="977434" cy="304800"/>
          </a:xfrm>
          <a:prstGeom prst="roundRect">
            <a:avLst>
              <a:gd name="adj" fmla="val 40000"/>
            </a:avLst>
          </a:prstGeom>
          <a:solidFill>
            <a:srgbClr val="FFE83D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SOCIAL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35500" y="5169297"/>
            <a:ext cx="1218579" cy="304800"/>
          </a:xfrm>
          <a:prstGeom prst="roundRect">
            <a:avLst>
              <a:gd name="adj" fmla="val 40000"/>
            </a:avLst>
          </a:prstGeom>
          <a:solidFill>
            <a:srgbClr val="2B6C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CAMPAIGN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30279" y="5169297"/>
            <a:ext cx="856862" cy="304800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EVENT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63341" y="5169297"/>
            <a:ext cx="1580296" cy="304800"/>
          </a:xfrm>
          <a:prstGeom prst="roundRect">
            <a:avLst>
              <a:gd name="adj" fmla="val 40000"/>
            </a:avLst>
          </a:prstGeom>
          <a:solidFill>
            <a:srgbClr val="FF3B3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0" spc="200">
                <a:solidFill>
                  <a:srgbClr val="FFFFFF"/>
                </a:solidFill>
                <a:latin typeface="Space Mono"/>
              </a:rPr>
              <a:t>PARTNERSHIP</a:t>
            </a:r>
          </a:p>
        </p:txBody>
      </p:sp>
      <p:sp>
        <p:nvSpPr>
          <p:cNvPr id="35" name="Rounded Rectangle 34"/>
          <p:cNvSpPr/>
          <p:nvPr/>
        </p:nvSpPr>
        <p:spPr>
          <a:xfrm rot="180000">
            <a:off x="8445500" y="4381500"/>
            <a:ext cx="2794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campaign material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7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700" y="177800"/>
            <a:ext cx="406400" cy="406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1950" y="273050"/>
            <a:ext cx="215900" cy="2159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88900"/>
            <a:ext cx="6985000" cy="8945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00000"/>
                </a:solidFill>
                <a:latin typeface="Anton"/>
              </a:rPr>
              <a:t>content in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80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making content that has somewhere to go.</a:t>
            </a:r>
          </a:p>
        </p:txBody>
      </p:sp>
      <p:sp>
        <p:nvSpPr>
          <p:cNvPr id="9" name="Oval 8"/>
          <p:cNvSpPr/>
          <p:nvPr/>
        </p:nvSpPr>
        <p:spPr>
          <a:xfrm>
            <a:off x="11760200" y="2794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60200" y="38735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60200" y="4953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600" y="6248400"/>
            <a:ext cx="9906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6248400"/>
            <a:ext cx="762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413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712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06450"/>
            <a:ext cx="12192000" cy="52006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400" y="1117600"/>
            <a:ext cx="3619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400" y="1117600"/>
            <a:ext cx="3619500" cy="355600"/>
          </a:xfrm>
          <a:prstGeom prst="rect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400" y="1454150"/>
            <a:ext cx="36195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400" y="1117600"/>
            <a:ext cx="3365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 spc="200">
                <a:solidFill>
                  <a:srgbClr val="FFFFFF"/>
                </a:solidFill>
                <a:latin typeface="Space Mono"/>
              </a:rPr>
              <a:t>EVENT PROMOTION</a:t>
            </a:r>
          </a:p>
        </p:txBody>
      </p:sp>
      <p:sp>
        <p:nvSpPr>
          <p:cNvPr id="23" name="Round Same Side Corner Rectangle 22"/>
          <p:cNvSpPr/>
          <p:nvPr/>
        </p:nvSpPr>
        <p:spPr>
          <a:xfrm rot="21420000">
            <a:off x="812800" y="1612900"/>
            <a:ext cx="1587500" cy="1549400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5400" y="1701800"/>
            <a:ext cx="1587500" cy="1130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Poppins"/>
              </a:rPr>
              <a:t>concept · design · copy · social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5400" y="27940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C9C9C9"/>
                </a:solidFill>
                <a:latin typeface="Anton"/>
              </a:rPr>
              <a:t>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70400" y="1117600"/>
            <a:ext cx="3619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70400" y="1117600"/>
            <a:ext cx="3619500" cy="355600"/>
          </a:xfrm>
          <a:prstGeom prst="rect">
            <a:avLst/>
          </a:prstGeom>
          <a:solidFill>
            <a:srgbClr val="9BE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70400" y="1454150"/>
            <a:ext cx="36195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7400" y="1117600"/>
            <a:ext cx="3365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 spc="200">
                <a:solidFill>
                  <a:srgbClr val="000000"/>
                </a:solidFill>
                <a:latin typeface="Space Mono"/>
              </a:rPr>
              <a:t>CAMPAIGN CONTENT</a:t>
            </a:r>
          </a:p>
        </p:txBody>
      </p:sp>
      <p:sp>
        <p:nvSpPr>
          <p:cNvPr id="30" name="Oval 29"/>
          <p:cNvSpPr/>
          <p:nvPr/>
        </p:nvSpPr>
        <p:spPr>
          <a:xfrm rot="120000">
            <a:off x="4622800" y="1612900"/>
            <a:ext cx="1587500" cy="15494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5400" y="1701800"/>
            <a:ext cx="1587500" cy="1130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Poppins"/>
              </a:rPr>
              <a:t>visual direction · promotional assets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5400" y="27940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C9C9C9"/>
                </a:solidFill>
                <a:latin typeface="Anton"/>
              </a:rPr>
              <a:t>02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80400" y="1117600"/>
            <a:ext cx="3619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80400" y="1117600"/>
            <a:ext cx="3619500" cy="3556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80400" y="1454150"/>
            <a:ext cx="36195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7400" y="1117600"/>
            <a:ext cx="3365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 spc="200">
                <a:solidFill>
                  <a:srgbClr val="FFFFFF"/>
                </a:solidFill>
                <a:latin typeface="Space Mono"/>
              </a:rPr>
              <a:t>SOCIAL CONTENT</a:t>
            </a:r>
          </a:p>
        </p:txBody>
      </p:sp>
      <p:sp>
        <p:nvSpPr>
          <p:cNvPr id="37" name="Snip Diagonal Corner Rectangle 36"/>
          <p:cNvSpPr/>
          <p:nvPr/>
        </p:nvSpPr>
        <p:spPr>
          <a:xfrm rot="21420000">
            <a:off x="8432800" y="1612900"/>
            <a:ext cx="1587500" cy="1549400"/>
          </a:xfrm>
          <a:prstGeom prst="snip2Diag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5400" y="1701800"/>
            <a:ext cx="1587500" cy="148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Poppins"/>
              </a:rPr>
              <a:t>design · copywriting · publishing preparation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5400" y="27940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C9C9C9"/>
                </a:solidFill>
                <a:latin typeface="Anton"/>
              </a:rPr>
              <a:t>03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0400" y="3556000"/>
            <a:ext cx="3619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0400" y="3556000"/>
            <a:ext cx="3619500" cy="355600"/>
          </a:xfrm>
          <a:prstGeom prst="rect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0400" y="3892550"/>
            <a:ext cx="36195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7400" y="3556000"/>
            <a:ext cx="3365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 spc="200">
                <a:solidFill>
                  <a:srgbClr val="FFFFFF"/>
                </a:solidFill>
                <a:latin typeface="Space Mono"/>
              </a:rPr>
              <a:t>EVENT DOCUMENTATION</a:t>
            </a:r>
          </a:p>
        </p:txBody>
      </p:sp>
      <p:sp>
        <p:nvSpPr>
          <p:cNvPr id="44" name="Hexagon 43"/>
          <p:cNvSpPr/>
          <p:nvPr/>
        </p:nvSpPr>
        <p:spPr>
          <a:xfrm rot="120000">
            <a:off x="812800" y="4051300"/>
            <a:ext cx="1587500" cy="1549400"/>
          </a:xfrm>
          <a:prstGeom prst="hexagon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5400" y="4140200"/>
            <a:ext cx="1587500" cy="77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Poppins"/>
              </a:rPr>
              <a:t>photography · documentation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5400" y="52324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C9C9C9"/>
                </a:solidFill>
                <a:latin typeface="Anton"/>
              </a:rPr>
              <a:t>04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70400" y="3556000"/>
            <a:ext cx="3619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70400" y="3556000"/>
            <a:ext cx="3619500" cy="355600"/>
          </a:xfrm>
          <a:prstGeom prst="rect">
            <a:avLst/>
          </a:prstGeom>
          <a:solidFill>
            <a:srgbClr val="9BE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70400" y="3892550"/>
            <a:ext cx="36195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97400" y="3556000"/>
            <a:ext cx="3365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 spc="200">
                <a:solidFill>
                  <a:srgbClr val="000000"/>
                </a:solidFill>
                <a:latin typeface="Space Mono"/>
              </a:rPr>
              <a:t>ORGANISATIONAL COMMS</a:t>
            </a:r>
          </a:p>
        </p:txBody>
      </p:sp>
      <p:sp>
        <p:nvSpPr>
          <p:cNvPr id="51" name="Rounded Rectangle 50"/>
          <p:cNvSpPr/>
          <p:nvPr/>
        </p:nvSpPr>
        <p:spPr>
          <a:xfrm rot="21420000">
            <a:off x="4622800" y="4051300"/>
            <a:ext cx="1587500" cy="1549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75400" y="4140200"/>
            <a:ext cx="1587500" cy="774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Poppins"/>
              </a:rPr>
              <a:t>visual materials · social media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75400" y="52324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C9C9C9"/>
                </a:solidFill>
                <a:latin typeface="Anton"/>
              </a:rPr>
              <a:t>05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80400" y="3556000"/>
            <a:ext cx="36195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80400" y="3556000"/>
            <a:ext cx="3619500" cy="3556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80400" y="3892550"/>
            <a:ext cx="36195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07400" y="3556000"/>
            <a:ext cx="3365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 spc="200">
                <a:solidFill>
                  <a:srgbClr val="FFFFFF"/>
                </a:solidFill>
                <a:latin typeface="Space Mono"/>
              </a:rPr>
              <a:t>EVENT VISUALS</a:t>
            </a:r>
          </a:p>
        </p:txBody>
      </p:sp>
      <p:sp>
        <p:nvSpPr>
          <p:cNvPr id="58" name="Octagon 57"/>
          <p:cNvSpPr/>
          <p:nvPr/>
        </p:nvSpPr>
        <p:spPr>
          <a:xfrm rot="120000">
            <a:off x="8432800" y="4051300"/>
            <a:ext cx="1587500" cy="1549400"/>
          </a:xfrm>
          <a:prstGeom prst="octagon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85400" y="4140200"/>
            <a:ext cx="1587500" cy="1130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Poppins"/>
              </a:rPr>
              <a:t>promotional materials · coordination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85400" y="5232400"/>
            <a:ext cx="1587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2200" b="0" i="0">
                <a:solidFill>
                  <a:srgbClr val="C9C9C9"/>
                </a:solidFill>
                <a:latin typeface="Anton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7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700" y="177800"/>
            <a:ext cx="406400" cy="406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1950" y="273050"/>
            <a:ext cx="215900" cy="2159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88900"/>
            <a:ext cx="6985000" cy="8945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00000"/>
                </a:solidFill>
                <a:latin typeface="Anton"/>
              </a:rPr>
              <a:t>stretch for stray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80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wellness × social impact</a:t>
            </a:r>
          </a:p>
        </p:txBody>
      </p:sp>
      <p:sp>
        <p:nvSpPr>
          <p:cNvPr id="9" name="Oval 8"/>
          <p:cNvSpPr/>
          <p:nvPr/>
        </p:nvSpPr>
        <p:spPr>
          <a:xfrm>
            <a:off x="11760200" y="2794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60200" y="38735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60200" y="4953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600" y="6248400"/>
            <a:ext cx="9906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6248400"/>
            <a:ext cx="762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413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712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06450"/>
            <a:ext cx="12192000" cy="52006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16-Point Star 18"/>
          <p:cNvSpPr/>
          <p:nvPr/>
        </p:nvSpPr>
        <p:spPr>
          <a:xfrm rot="720000">
            <a:off x="368300" y="850900"/>
            <a:ext cx="1778000" cy="1778000"/>
          </a:xfrm>
          <a:prstGeom prst="star16">
            <a:avLst/>
          </a:prstGeom>
          <a:solidFill>
            <a:srgbClr val="9BE22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 rot="21300000">
            <a:off x="698500" y="1143000"/>
            <a:ext cx="2921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event poster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500" y="965200"/>
            <a:ext cx="7112000" cy="12779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0" i="0">
                <a:solidFill>
                  <a:srgbClr val="000000"/>
                </a:solidFill>
                <a:latin typeface="Anton"/>
              </a:rPr>
              <a:t>STRETCH FOR STRAY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500" y="2319338"/>
            <a:ext cx="6985000" cy="1125855"/>
          </a:xfrm>
          <a:prstGeom prst="roundRect">
            <a:avLst>
              <a:gd name="adj" fmla="val 30000"/>
            </a:avLst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10800000">
            <a:off x="4279900" y="3419792"/>
            <a:ext cx="215900" cy="165100"/>
          </a:xfrm>
          <a:prstGeom prst="triangle">
            <a:avLst/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2600" y="3394392"/>
            <a:ext cx="190500" cy="50800"/>
          </a:xfrm>
          <a:prstGeom prst="rect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91000" y="2433638"/>
            <a:ext cx="6604000" cy="9099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Poppins"/>
              </a:rPr>
              <a:t>A wellness event combining movement, community, and support for animal welfare.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0500" y="3686492"/>
            <a:ext cx="10795000" cy="365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 spc="300">
                <a:solidFill>
                  <a:srgbClr val="000000"/>
                </a:solidFill>
                <a:latin typeface="Space Mono"/>
              </a:rPr>
              <a:t>MY CONTRIBUTION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00500" y="4153217"/>
            <a:ext cx="39370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4229418"/>
            <a:ext cx="152400" cy="152400"/>
          </a:xfrm>
          <a:prstGeom prst="ellipse">
            <a:avLst/>
          </a:prstGeom>
          <a:solidFill>
            <a:srgbClr val="FF7BC4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1500" y="4153217"/>
            <a:ext cx="330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Poppins"/>
              </a:rPr>
              <a:t>Campaign concept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00500" y="4521518"/>
            <a:ext cx="39370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14800" y="4597718"/>
            <a:ext cx="152400" cy="152400"/>
          </a:xfrm>
          <a:prstGeom prst="ellipse">
            <a:avLst/>
          </a:prstGeom>
          <a:solidFill>
            <a:srgbClr val="9BE22B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1500" y="4521518"/>
            <a:ext cx="330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Poppins"/>
              </a:rPr>
              <a:t>Promotional content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00500" y="4889818"/>
            <a:ext cx="39370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114800" y="4966018"/>
            <a:ext cx="152400" cy="152400"/>
          </a:xfrm>
          <a:prstGeom prst="ellipse">
            <a:avLst/>
          </a:prstGeom>
          <a:solidFill>
            <a:srgbClr val="2B6C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1500" y="4889818"/>
            <a:ext cx="330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Poppins"/>
              </a:rPr>
              <a:t>Social media communication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00500" y="5258118"/>
            <a:ext cx="39370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114800" y="5334318"/>
            <a:ext cx="152400" cy="152400"/>
          </a:xfrm>
          <a:prstGeom prst="ellipse">
            <a:avLst/>
          </a:prstGeom>
          <a:solidFill>
            <a:srgbClr val="FFE83D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1500" y="5258118"/>
            <a:ext cx="330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Poppins"/>
              </a:rPr>
              <a:t>Partnership communication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00500" y="5626418"/>
            <a:ext cx="39370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114800" y="5702618"/>
            <a:ext cx="152400" cy="152400"/>
          </a:xfrm>
          <a:prstGeom prst="ellipse">
            <a:avLst/>
          </a:prstGeom>
          <a:solidFill>
            <a:srgbClr val="34C759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1500" y="5626418"/>
            <a:ext cx="330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Poppins"/>
              </a:rPr>
              <a:t>Event coordination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00500" y="5994718"/>
            <a:ext cx="3937000" cy="3048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114800" y="6070918"/>
            <a:ext cx="152400" cy="152400"/>
          </a:xfrm>
          <a:prstGeom prst="ellipse">
            <a:avLst/>
          </a:prstGeom>
          <a:solidFill>
            <a:srgbClr val="FF3B30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1500" y="5994718"/>
            <a:ext cx="330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Poppins"/>
              </a:rPr>
              <a:t>Event-day support</a:t>
            </a:r>
          </a:p>
        </p:txBody>
      </p:sp>
      <p:sp>
        <p:nvSpPr>
          <p:cNvPr id="45" name="16-Point Star 44"/>
          <p:cNvSpPr/>
          <p:nvPr/>
        </p:nvSpPr>
        <p:spPr>
          <a:xfrm rot="720000">
            <a:off x="8051800" y="3263900"/>
            <a:ext cx="1365250" cy="1365250"/>
          </a:xfrm>
          <a:prstGeom prst="star16">
            <a:avLst/>
          </a:prstGeom>
          <a:solidFill>
            <a:srgbClr val="FF7BC4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Snip Diagonal Corner Rectangle 45"/>
          <p:cNvSpPr/>
          <p:nvPr/>
        </p:nvSpPr>
        <p:spPr>
          <a:xfrm rot="240000">
            <a:off x="8382000" y="3556000"/>
            <a:ext cx="2730500" cy="1905000"/>
          </a:xfrm>
          <a:prstGeom prst="snip2Diag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social announcement</a:t>
            </a:r>
          </a:p>
        </p:txBody>
      </p:sp>
      <p:sp>
        <p:nvSpPr>
          <p:cNvPr id="47" name="Oval 46"/>
          <p:cNvSpPr/>
          <p:nvPr/>
        </p:nvSpPr>
        <p:spPr>
          <a:xfrm rot="180000">
            <a:off x="825500" y="4889500"/>
            <a:ext cx="1143000" cy="762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event documentation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7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700" y="177800"/>
            <a:ext cx="406400" cy="406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1950" y="273050"/>
            <a:ext cx="215900" cy="2159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88900"/>
            <a:ext cx="6985000" cy="8945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00000"/>
                </a:solidFill>
                <a:latin typeface="Anton"/>
              </a:rPr>
              <a:t>behind the final post.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80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process, unfiltered</a:t>
            </a:r>
          </a:p>
        </p:txBody>
      </p:sp>
      <p:sp>
        <p:nvSpPr>
          <p:cNvPr id="9" name="Oval 8"/>
          <p:cNvSpPr/>
          <p:nvPr/>
        </p:nvSpPr>
        <p:spPr>
          <a:xfrm>
            <a:off x="11760200" y="2794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60200" y="38735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60200" y="4953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600" y="6248400"/>
            <a:ext cx="9906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6248400"/>
            <a:ext cx="762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413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712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06450"/>
            <a:ext cx="12192000" cy="52006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400" y="1066800"/>
            <a:ext cx="1156891" cy="304800"/>
          </a:xfrm>
          <a:prstGeom prst="roundRect">
            <a:avLst>
              <a:gd name="adj" fmla="val 40000"/>
            </a:avLst>
          </a:prstGeom>
          <a:solidFill>
            <a:srgbClr val="FF7BC4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Space Mono"/>
              </a:rPr>
              <a:t>PREPARE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06191" y="1066800"/>
            <a:ext cx="1027906" cy="304800"/>
          </a:xfrm>
          <a:prstGeom prst="roundRect">
            <a:avLst>
              <a:gd name="adj" fmla="val 40000"/>
            </a:avLst>
          </a:prstGeom>
          <a:solidFill>
            <a:srgbClr val="9BE22B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Space Mono"/>
              </a:rPr>
              <a:t>CREATE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22997" y="1066800"/>
            <a:ext cx="769938" cy="304800"/>
          </a:xfrm>
          <a:prstGeom prst="roundRect">
            <a:avLst>
              <a:gd name="adj" fmla="val 40000"/>
            </a:avLst>
          </a:prstGeom>
          <a:solidFill>
            <a:srgbClr val="2B6C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Space Mono"/>
              </a:rPr>
              <a:t>EDIT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1834" y="1066800"/>
            <a:ext cx="1027906" cy="304800"/>
          </a:xfrm>
          <a:prstGeom prst="roundRect">
            <a:avLst>
              <a:gd name="adj" fmla="val 40000"/>
            </a:avLst>
          </a:prstGeom>
          <a:solidFill>
            <a:srgbClr val="FFE83D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Space Mono"/>
              </a:rPr>
              <a:t>REFINE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8641" y="1066800"/>
            <a:ext cx="1285875" cy="304800"/>
          </a:xfrm>
          <a:prstGeom prst="roundRect">
            <a:avLst>
              <a:gd name="adj" fmla="val 40000"/>
            </a:avLst>
          </a:prstGeom>
          <a:solidFill>
            <a:srgbClr val="FF3B30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0" spc="200">
                <a:solidFill>
                  <a:srgbClr val="FFFFFF"/>
                </a:solidFill>
                <a:latin typeface="Space Mono"/>
              </a:rPr>
              <a:t>FINALIZE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400" y="1638300"/>
            <a:ext cx="2565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Snip Diagonal Corner Rectangle 24"/>
          <p:cNvSpPr/>
          <p:nvPr/>
        </p:nvSpPr>
        <p:spPr>
          <a:xfrm rot="21420000">
            <a:off x="800100" y="1765300"/>
            <a:ext cx="2286000" cy="1270000"/>
          </a:xfrm>
          <a:prstGeom prst="snip2Diag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content preparation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800" y="31623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200">
                <a:solidFill>
                  <a:srgbClr val="000000"/>
                </a:solidFill>
                <a:latin typeface="Space Mono"/>
              </a:rPr>
              <a:t>PREPARE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1638300"/>
            <a:ext cx="2565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 rot="120000">
            <a:off x="3568700" y="1765300"/>
            <a:ext cx="2286000" cy="1270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visual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1400" y="31623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200">
                <a:solidFill>
                  <a:srgbClr val="000000"/>
                </a:solidFill>
                <a:latin typeface="Space Mono"/>
              </a:rPr>
              <a:t>CREATE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7600" y="1638300"/>
            <a:ext cx="2565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 rot="21480000">
            <a:off x="6337300" y="1765300"/>
            <a:ext cx="2286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design versions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0" y="31623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200">
                <a:solidFill>
                  <a:srgbClr val="000000"/>
                </a:solidFill>
                <a:latin typeface="Space Mono"/>
              </a:rPr>
              <a:t>REFINE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6200" y="1638300"/>
            <a:ext cx="2565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Hexagon 33"/>
          <p:cNvSpPr/>
          <p:nvPr/>
        </p:nvSpPr>
        <p:spPr>
          <a:xfrm rot="180000">
            <a:off x="9105900" y="1765300"/>
            <a:ext cx="2286000" cy="1270000"/>
          </a:xfrm>
          <a:prstGeom prst="hexagon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photography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18600" y="31623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200">
                <a:solidFill>
                  <a:srgbClr val="000000"/>
                </a:solidFill>
                <a:latin typeface="Space Mono"/>
              </a:rPr>
              <a:t>CREATE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0400" y="3733800"/>
            <a:ext cx="2565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21420000">
            <a:off x="800100" y="3860800"/>
            <a:ext cx="2286000" cy="1270000"/>
          </a:xfrm>
          <a:prstGeom prst="round2SameRect">
            <a:avLst>
              <a:gd name="adj1" fmla="val 6000"/>
              <a:gd name="adj2" fmla="val 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editing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800" y="5257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200">
                <a:solidFill>
                  <a:srgbClr val="000000"/>
                </a:solidFill>
                <a:latin typeface="Space Mono"/>
              </a:rPr>
              <a:t>EDIT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3733800"/>
            <a:ext cx="2565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Snip Single Corner Rectangle 39"/>
          <p:cNvSpPr/>
          <p:nvPr/>
        </p:nvSpPr>
        <p:spPr>
          <a:xfrm rot="120000">
            <a:off x="3568700" y="3860800"/>
            <a:ext cx="2286000" cy="1270000"/>
          </a:xfrm>
          <a:prstGeom prst="snip1Rect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final asset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81400" y="5257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200">
                <a:solidFill>
                  <a:srgbClr val="000000"/>
                </a:solidFill>
                <a:latin typeface="Space Mono"/>
              </a:rPr>
              <a:t>FINALIZE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7600" y="3733800"/>
            <a:ext cx="2565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ctagon 42"/>
          <p:cNvSpPr/>
          <p:nvPr/>
        </p:nvSpPr>
        <p:spPr>
          <a:xfrm rot="21480000">
            <a:off x="6337300" y="3860800"/>
            <a:ext cx="2286000" cy="1270000"/>
          </a:xfrm>
          <a:prstGeom prst="octagon">
            <a:avLst/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behind the scenes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0000" y="5257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200">
                <a:solidFill>
                  <a:srgbClr val="000000"/>
                </a:solidFill>
                <a:latin typeface="Space Mono"/>
              </a:rPr>
              <a:t>PREPARE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66200" y="3733800"/>
            <a:ext cx="25654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 rot="180000">
            <a:off x="9105900" y="3860800"/>
            <a:ext cx="2286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event documentation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18600" y="52578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 spc="200">
                <a:solidFill>
                  <a:srgbClr val="000000"/>
                </a:solidFill>
                <a:latin typeface="Space Mono"/>
              </a:rPr>
              <a:t>CREATE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7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700" y="177800"/>
            <a:ext cx="406400" cy="406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1950" y="273050"/>
            <a:ext cx="215900" cy="2159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88900"/>
            <a:ext cx="6985000" cy="8945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00000"/>
                </a:solidFill>
                <a:latin typeface="Anton"/>
              </a:rPr>
              <a:t>the tools i work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80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what i build with</a:t>
            </a:r>
          </a:p>
        </p:txBody>
      </p:sp>
      <p:sp>
        <p:nvSpPr>
          <p:cNvPr id="9" name="Oval 8"/>
          <p:cNvSpPr/>
          <p:nvPr/>
        </p:nvSpPr>
        <p:spPr>
          <a:xfrm>
            <a:off x="11760200" y="2794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60200" y="38735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60200" y="4953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600" y="6248400"/>
            <a:ext cx="9906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6248400"/>
            <a:ext cx="762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413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712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06450"/>
            <a:ext cx="12192000" cy="52006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0400" y="1117600"/>
            <a:ext cx="36195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400" y="1117600"/>
            <a:ext cx="3619500" cy="393700"/>
          </a:xfrm>
          <a:prstGeom prst="rect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0400" y="1492250"/>
            <a:ext cx="36195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400" y="1117600"/>
            <a:ext cx="3619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Anton"/>
              </a:rPr>
              <a:t>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8200" y="1663700"/>
            <a:ext cx="3263900" cy="5334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000" y="1663700"/>
            <a:ext cx="2921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Canva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2324100"/>
            <a:ext cx="3263900" cy="5334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6000" y="2324100"/>
            <a:ext cx="2921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Adobe Illustrator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8200" y="2984500"/>
            <a:ext cx="3263900" cy="5334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6000" y="2984500"/>
            <a:ext cx="2921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Adobe Photoshop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70400" y="1117600"/>
            <a:ext cx="36195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70400" y="1117600"/>
            <a:ext cx="3619500" cy="3937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70400" y="1492250"/>
            <a:ext cx="36195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0400" y="1117600"/>
            <a:ext cx="3619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400" b="0" i="0">
                <a:solidFill>
                  <a:srgbClr val="FFFFFF"/>
                </a:solidFill>
                <a:latin typeface="Anton"/>
              </a:rPr>
              <a:t>VIDEO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48200" y="1663700"/>
            <a:ext cx="3263900" cy="5334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26000" y="1663700"/>
            <a:ext cx="2921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CapCut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80400" y="1117600"/>
            <a:ext cx="3619500" cy="266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80400" y="1117600"/>
            <a:ext cx="3619500" cy="393700"/>
          </a:xfrm>
          <a:prstGeom prst="rect">
            <a:avLst/>
          </a:prstGeom>
          <a:solidFill>
            <a:srgbClr val="9BE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80400" y="1492250"/>
            <a:ext cx="3619500" cy="25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0400" y="1117600"/>
            <a:ext cx="3619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2400" b="0" i="0">
                <a:solidFill>
                  <a:srgbClr val="000000"/>
                </a:solidFill>
                <a:latin typeface="Anton"/>
              </a:rPr>
              <a:t>WORKFLOW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58200" y="1663700"/>
            <a:ext cx="3263900" cy="5334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36000" y="1663700"/>
            <a:ext cx="2921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Google Workspace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58200" y="2324100"/>
            <a:ext cx="3263900" cy="533400"/>
          </a:xfrm>
          <a:prstGeom prst="roundRect">
            <a:avLst>
              <a:gd name="adj" fmla="val 20000"/>
            </a:avLst>
          </a:prstGeom>
          <a:solidFill>
            <a:srgbClr val="CFEFFF"/>
          </a:solidFill>
          <a:ln w="317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36000" y="2324100"/>
            <a:ext cx="2921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Microsoft Office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0400" y="4038600"/>
            <a:ext cx="7493000" cy="1066800"/>
          </a:xfrm>
          <a:prstGeom prst="roundRect">
            <a:avLst>
              <a:gd name="adj" fmla="val 30000"/>
            </a:avLst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10800000">
            <a:off x="939800" y="5080000"/>
            <a:ext cx="215900" cy="165100"/>
          </a:xfrm>
          <a:prstGeom prst="triangle">
            <a:avLst/>
          </a:prstGeom>
          <a:solidFill>
            <a:srgbClr val="FFE83D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2500" y="5054600"/>
            <a:ext cx="190500" cy="50800"/>
          </a:xfrm>
          <a:prstGeom prst="rect">
            <a:avLst/>
          </a:prstGeom>
          <a:solidFill>
            <a:srgbClr val="FFE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900" y="4152900"/>
            <a:ext cx="7112000" cy="850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Poppins"/>
              </a:rPr>
              <a:t>I'm comfortable learning new digital tools and adapting my workflow depending on the content, platform, and project.</a:t>
            </a:r>
          </a:p>
        </p:txBody>
      </p:sp>
      <p:sp>
        <p:nvSpPr>
          <p:cNvPr id="47" name="16-Point Star 46"/>
          <p:cNvSpPr/>
          <p:nvPr/>
        </p:nvSpPr>
        <p:spPr>
          <a:xfrm rot="720000">
            <a:off x="8178800" y="3771900"/>
            <a:ext cx="1365250" cy="1365250"/>
          </a:xfrm>
          <a:prstGeom prst="star16">
            <a:avLst/>
          </a:prstGeom>
          <a:solidFill>
            <a:srgbClr val="9BE22B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 rot="240000">
            <a:off x="8509000" y="4064000"/>
            <a:ext cx="2730500" cy="158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photo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9BE22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87400"/>
          </a:xfrm>
          <a:prstGeom prst="rect">
            <a:avLst/>
          </a:prstGeom>
          <a:gradFill rotWithShape="1">
            <a:gsLst>
              <a:gs pos="0">
                <a:srgbClr val="FFE83D"/>
              </a:gs>
              <a:gs pos="100000">
                <a:srgbClr val="F5D8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47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700" y="177800"/>
            <a:ext cx="406400" cy="406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1950" y="273050"/>
            <a:ext cx="215900" cy="215900"/>
          </a:xfrm>
          <a:prstGeom prst="ellipse">
            <a:avLst/>
          </a:prstGeom>
          <a:solidFill>
            <a:srgbClr val="FF7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5500" y="88900"/>
            <a:ext cx="6985000" cy="8945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0" i="0">
                <a:solidFill>
                  <a:srgbClr val="000000"/>
                </a:solidFill>
                <a:latin typeface="Anton"/>
              </a:rPr>
              <a:t>let's talk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08000"/>
            <a:ext cx="5715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3A3A3A"/>
                </a:solidFill>
                <a:latin typeface="Space Mono"/>
              </a:rPr>
              <a:t>always open</a:t>
            </a:r>
          </a:p>
        </p:txBody>
      </p:sp>
      <p:sp>
        <p:nvSpPr>
          <p:cNvPr id="9" name="Oval 8"/>
          <p:cNvSpPr/>
          <p:nvPr/>
        </p:nvSpPr>
        <p:spPr>
          <a:xfrm>
            <a:off x="11760200" y="2794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760200" y="38735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60200" y="495300"/>
            <a:ext cx="57150" cy="571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007100"/>
            <a:ext cx="12192000" cy="317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038850"/>
            <a:ext cx="12192000" cy="819150"/>
          </a:xfrm>
          <a:prstGeom prst="rect">
            <a:avLst/>
          </a:prstGeom>
          <a:gradFill rotWithShape="1">
            <a:gsLst>
              <a:gs pos="0">
                <a:srgbClr val="F5D800"/>
              </a:gs>
              <a:gs pos="100000">
                <a:srgbClr val="FFE83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6600" y="6248400"/>
            <a:ext cx="9906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6248400"/>
            <a:ext cx="762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8A8A8A"/>
                </a:solidFill>
                <a:latin typeface="Poppins"/>
              </a:rPr>
              <a:t>type a message...</a:t>
            </a:r>
          </a:p>
        </p:txBody>
      </p:sp>
      <p:sp>
        <p:nvSpPr>
          <p:cNvPr id="16" name="Oval 15"/>
          <p:cNvSpPr/>
          <p:nvPr/>
        </p:nvSpPr>
        <p:spPr>
          <a:xfrm>
            <a:off x="2413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71200" y="6248400"/>
            <a:ext cx="406400" cy="4064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806450"/>
            <a:ext cx="12192000" cy="5200650"/>
          </a:xfrm>
          <a:prstGeom prst="rect">
            <a:avLst/>
          </a:prstGeom>
          <a:solidFill>
            <a:srgbClr val="CF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8500" y="1143000"/>
            <a:ext cx="5715000" cy="75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10800000">
            <a:off x="977900" y="1869440"/>
            <a:ext cx="215900" cy="165100"/>
          </a:xfrm>
          <a:prstGeom prst="triangle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0600" y="1844040"/>
            <a:ext cx="1905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000" y="1257300"/>
            <a:ext cx="5334000" cy="535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Poppins"/>
              </a:rPr>
              <a:t>thanks 4 scrolling!!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110740"/>
            <a:ext cx="6350000" cy="11592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0" i="0">
                <a:solidFill>
                  <a:srgbClr val="000000"/>
                </a:solidFill>
                <a:latin typeface="Anton"/>
              </a:rPr>
              <a:t>LET'S MAKE SOMETHING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270012"/>
            <a:ext cx="6350000" cy="11592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200" b="0" i="0">
                <a:solidFill>
                  <a:srgbClr val="000000"/>
                </a:solidFill>
                <a:latin typeface="Anton"/>
              </a:rPr>
              <a:t>WORTH SHARING.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500" y="4594384"/>
            <a:ext cx="10795000" cy="392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 spc="300">
                <a:solidFill>
                  <a:srgbClr val="000000"/>
                </a:solidFill>
                <a:latin typeface="Space Mono"/>
              </a:rPr>
              <a:t>ZAHRA LEVINA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5037693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Content Production  ·  Creative · Social Media · Visual Communication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3000" y="1270000"/>
            <a:ext cx="4064000" cy="762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58100" y="1460500"/>
            <a:ext cx="368300" cy="368300"/>
          </a:xfrm>
          <a:prstGeom prst="ellipse">
            <a:avLst/>
          </a:prstGeom>
          <a:solidFill>
            <a:srgbClr val="34C759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6900" y="1409700"/>
            <a:ext cx="2921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 spc="200">
                <a:solidFill>
                  <a:srgbClr val="000000"/>
                </a:solidFill>
                <a:latin typeface="Space Mono"/>
              </a:rPr>
              <a:t>WhatsApp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6900" y="1663700"/>
            <a:ext cx="3048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333333"/>
                </a:solidFill>
                <a:latin typeface="Poppins"/>
              </a:rPr>
              <a:t>+62 8xx-xxxx-xxxx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3000" y="2222500"/>
            <a:ext cx="4064000" cy="762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58100" y="2413000"/>
            <a:ext cx="368300" cy="368300"/>
          </a:xfrm>
          <a:prstGeom prst="ellipse">
            <a:avLst/>
          </a:prstGeom>
          <a:solidFill>
            <a:srgbClr val="FF3B30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6900" y="2362200"/>
            <a:ext cx="2921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 spc="200">
                <a:solidFill>
                  <a:srgbClr val="000000"/>
                </a:solidFill>
                <a:latin typeface="Space Mono"/>
              </a:rPr>
              <a:t>Email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6900" y="2616200"/>
            <a:ext cx="3048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333333"/>
                </a:solidFill>
                <a:latin typeface="Poppins"/>
              </a:rPr>
              <a:t>hello@email.com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3000" y="3175000"/>
            <a:ext cx="4064000" cy="762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58100" y="3365500"/>
            <a:ext cx="368300" cy="368300"/>
          </a:xfrm>
          <a:prstGeom prst="ellipse">
            <a:avLst/>
          </a:prstGeom>
          <a:solidFill>
            <a:srgbClr val="2B6C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6900" y="3314700"/>
            <a:ext cx="2921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 spc="200">
                <a:solidFill>
                  <a:srgbClr val="000000"/>
                </a:solidFill>
                <a:latin typeface="Space Mono"/>
              </a:rPr>
              <a:t>LinkedIn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6900" y="3568700"/>
            <a:ext cx="3048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 i="0">
                <a:solidFill>
                  <a:srgbClr val="333333"/>
                </a:solidFill>
                <a:latin typeface="Poppins"/>
              </a:rPr>
              <a:t>linkedin.com/in/username</a:t>
            </a:r>
          </a:p>
        </p:txBody>
      </p:sp>
      <p:sp>
        <p:nvSpPr>
          <p:cNvPr id="39" name="16-Point Star 38"/>
          <p:cNvSpPr/>
          <p:nvPr/>
        </p:nvSpPr>
        <p:spPr>
          <a:xfrm rot="960000">
            <a:off x="6731000" y="4318000"/>
            <a:ext cx="1079500" cy="1079500"/>
          </a:xfrm>
          <a:prstGeom prst="star16">
            <a:avLst/>
          </a:prstGeom>
          <a:solidFill>
            <a:srgbClr val="FF7BC4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1000" y="4318000"/>
            <a:ext cx="1079500" cy="1079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3200" b="0" i="0">
                <a:solidFill>
                  <a:srgbClr val="000000"/>
                </a:solidFill>
                <a:latin typeface="Anton"/>
              </a:rPr>
              <a:t>HI!</a:t>
            </a:r>
          </a:p>
        </p:txBody>
      </p:sp>
      <p:sp>
        <p:nvSpPr>
          <p:cNvPr id="41" name="Rounded Rectangle 40"/>
          <p:cNvSpPr/>
          <p:nvPr/>
        </p:nvSpPr>
        <p:spPr>
          <a:xfrm rot="240000">
            <a:off x="8255000" y="4318000"/>
            <a:ext cx="2540000" cy="1333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>
                <a:solidFill>
                  <a:srgbClr val="7A7A7A"/>
                </a:solidFill>
                <a:latin typeface="Poppins"/>
              </a:rPr>
              <a:t>photo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